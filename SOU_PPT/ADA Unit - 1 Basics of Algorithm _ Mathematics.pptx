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14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9" roundtripDataSignature="AMtx7mjLo2GE6lSrNUAZME7TBQa3i3Vz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240FD3D-1575-4A9A-A4AE-B4AFB4EB64D3}">
  <a:tblStyle styleId="{2240FD3D-1575-4A9A-A4AE-B4AFB4EB64D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48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customschemas.google.com/relationships/presentationmetadata" Target="meta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presProps" Target="presProp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5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notesMaster" Target="notesMasters/notesMaster1.xml"/><Relationship Id="rId15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7972377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67cb0a875b_1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267cb0a875b_1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267cb0a875b_1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67cb0a875b_1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267cb0a875b_1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267cb0a875b_1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67cb0a875b_1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267cb0a875b_1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g267cb0a875b_1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67cb0a875b_1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267cb0a875b_1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g267cb0a875b_1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67cb0a875b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67cb0a875b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67cb0a875b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67cb0a875b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67cb0a875b_1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267cb0a875b_1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67cb0a875b_1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g267cb0a875b_1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g267cb0a875b_1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67cb0a875b_1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g267cb0a875b_1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267cb0a875b_1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67cb0a875b_1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267cb0a875b_1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267cb0a875b_1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67cb0a875b_1_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67cb0a875b_1_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267cb0a875b_1_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67cbe2f8b4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267cbe2f8b4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g267cbe2f8b4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67cbe2f8b4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267cbe2f8b4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267cbe2f8b4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67cbe2f8b4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267cbe2f8b4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267cbe2f8b4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67cbe2f8b4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g267cbe2f8b4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g267cbe2f8b4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67cbe2f8b4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267cbe2f8b4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g267cbe2f8b4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67cbe2f8b4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g267cbe2f8b4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g267cbe2f8b4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67cbe2f8b4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267cbe2f8b4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g267cbe2f8b4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67cbe2f8b4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67cbe2f8b4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g267cbe2f8b4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67cb0a875b_1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g267cb0a875b_1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g267cb0a875b_1_1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67cbe2f8b4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267cbe2f8b4_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g267cbe2f8b4_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67cbe2f8b4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267cbe2f8b4_0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g267cbe2f8b4_0_1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67cbe2f8b4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g267cbe2f8b4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g267cbe2f8b4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67cb0a875b_1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g267cb0a875b_1_1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g267cb0a875b_1_1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67cb0a875b_1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g267cb0a875b_1_1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g267cb0a875b_1_1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67cb0a875b_1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267cb0a875b_1_1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267cb0a875b_1_1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67cb0a875b_1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267cb0a875b_1_1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g267cb0a875b_1_1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67cb0a875b_1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67cb0a875b_1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267cb0a875b_1_1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67cb0a875b_1_1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g267cb0a875b_1_1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67cb0a875b_1_1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I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67cb0a875b_1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267cb0a875b_1_1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g267cb0a875b_1_1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0" name="Google Shape;37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 name="Google Shape;44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6" name="Google Shape;45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0" name="Google Shape;470;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8" name="Google Shape;47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8" name="Google Shape;50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6" name="Google Shape;51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26e03725c7d_0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g26e03725c7d_0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g26e03725c7d_0_1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26e03725c7d_0_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8" name="Google Shape;538;g26e03725c7d_0_1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9" name="Google Shape;539;g26e03725c7d_0_1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26e03725c7d_0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g26e03725c7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g26e03725c7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6e03725c7d_0_1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4" name="Google Shape;554;g26e03725c7d_0_1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5" name="Google Shape;555;g26e03725c7d_0_1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2681517d28c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g2681517d28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g2681517d28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2681517d28c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8" name="Google Shape;578;g2681517d28c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9" name="Google Shape;579;g2681517d28c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2681517d28c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g2681517d28c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8" name="Google Shape;588;g2681517d28c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95</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681517d28c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g2681517d28c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g2681517d28c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2681517d28c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2681517d28c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5" name="Google Shape;605;g2681517d28c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681517d28c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g2681517d28c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3" name="Google Shape;613;g2681517d28c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2681517d28c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0" name="Google Shape;630;g2681517d28c_0_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1" name="Google Shape;631;g2681517d28c_0_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99</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2681517d28c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8" name="Google Shape;638;g2681517d28c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9" name="Google Shape;639;g2681517d28c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100</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2681517d28c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g2681517d28c_0_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7" name="Google Shape;647;g2681517d28c_0_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101</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2681517d28c_0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5" name="Google Shape;655;g2681517d28c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2681517d28c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102</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681517d28c_0_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 name="Google Shape;663;g2681517d28c_0_1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4" name="Google Shape;664;g2681517d28c_0_1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103</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681517d28c_0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g2681517d28c_0_1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2" name="Google Shape;672;g2681517d28c_0_1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104</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2681517d28c_1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g2681517d28c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g2681517d28c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105</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2681517d28c_1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7" name="Google Shape;687;g2681517d28c_1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8" name="Google Shape;688;g2681517d28c_1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106</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81517d28c_1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81517d28c_1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81517d28c_1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107</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681517d28c_1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g2681517d28c_1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g2681517d28c_1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108</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81517d28c_1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81517d28c_1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81517d28c_1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109</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681517d28c_1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681517d28c_1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681517d28c_1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110</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2681517d28c_1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4" name="Google Shape;734;g2681517d28c_1_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g2681517d28c_1_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111</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681517d28c_1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681517d28c_1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681517d28c_1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112</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6da551f36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26da551f36c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g26da551f36c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113</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6da551f36c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6da551f36c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6da551f36c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114</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da551f36c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da551f36c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da551f36c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115</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6da551f36c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26da551f36c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26da551f36c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116</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6da551f36c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6da551f36c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6da551f36c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117</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6da551f36c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6da551f36c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6da551f36c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118</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6da551f36c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6da551f36c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6da551f36c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119</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da551f36c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6da551f36c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6da551f36c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120</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6da551f36c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6da551f36c_0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6da551f36c_0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121</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6da551f36c_0_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6da551f36c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6da551f36c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122</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6dd2ae4e9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6dd2ae4e9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6dd2ae4e9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123</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6e03725c7d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6e03725c7d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6e03725c7d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124</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6e03725c7d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6e03725c7d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6e03725c7d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125</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6e03725c7d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6e03725c7d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6e03725c7d_0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126</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6e03725c7d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6e03725c7d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6e03725c7d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127</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e03725c7d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e03725c7d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e03725c7d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128</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6e03725c7d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6e03725c7d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6e03725c7d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129</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e03725c7d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e03725c7d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e03725c7d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130</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6e03725c7d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6e03725c7d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6e03725c7d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131</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e03725c7d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e03725c7d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e03725c7d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132</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6e03725c7d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6e03725c7d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6e03725c7d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133</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6e03725c7d_0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6e03725c7d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6e03725c7d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134</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6e03725c7d_0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6e03725c7d_0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6e03725c7d_0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135</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6e03725c7d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6e03725c7d_0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6e03725c7d_0_1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136</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6e03725c7d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6e03725c7d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6e03725c7d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137</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6e03725c7d_0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6e03725c7d_0_1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6e03725c7d_0_1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138</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6e03725c7d_0_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6e03725c7d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6e03725c7d_0_1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139</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6e03725c7d_0_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6e03725c7d_0_1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6e03725c7d_0_1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140</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6e03725c7d_0_1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6e03725c7d_0_1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6e03725c7d_0_1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141</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6e03725c7d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6e03725c7d_0_1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6e03725c7d_0_1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142</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6e03725c7d_0_1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6e03725c7d_0_1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6e03725c7d_0_1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143</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6e03725c7d_0_1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6e03725c7d_0_1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6e03725c7d_0_1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144</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6e03725c7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6e03725c7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6e03725c7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8" name="Google Shape;18;p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21" name="Google Shape;21;p9"/>
          <p:cNvPicPr preferRelativeResize="0"/>
          <p:nvPr/>
        </p:nvPicPr>
        <p:blipFill rotWithShape="1">
          <a:blip r:embed="rId2">
            <a:alphaModFix/>
          </a:blip>
          <a:srcRect/>
          <a:stretch/>
        </p:blipFill>
        <p:spPr>
          <a:xfrm>
            <a:off x="10226037" y="0"/>
            <a:ext cx="1965963" cy="5689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1" name="Google Shape;31;p10"/>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0"/>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34" name="Google Shape;34;p10"/>
          <p:cNvPicPr preferRelativeResize="0"/>
          <p:nvPr/>
        </p:nvPicPr>
        <p:blipFill rotWithShape="1">
          <a:blip r:embed="rId2">
            <a:alphaModFix/>
          </a:blip>
          <a:srcRect/>
          <a:stretch/>
        </p:blipFill>
        <p:spPr>
          <a:xfrm>
            <a:off x="10162288" y="0"/>
            <a:ext cx="1997850" cy="5782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1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1"/>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8" name="Google Shape;38;p11"/>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9" name="Google Shape;39;p11"/>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1"/>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1"/>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42" name="Google Shape;42;p11"/>
          <p:cNvPicPr preferRelativeResize="0"/>
          <p:nvPr/>
        </p:nvPicPr>
        <p:blipFill rotWithShape="1">
          <a:blip r:embed="rId2">
            <a:alphaModFix/>
          </a:blip>
          <a:srcRect/>
          <a:stretch/>
        </p:blipFill>
        <p:spPr>
          <a:xfrm>
            <a:off x="10091217" y="0"/>
            <a:ext cx="2066929" cy="59821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12"/>
          <p:cNvSpPr txBox="1">
            <a:spLocks noGrp="1"/>
          </p:cNvSpPr>
          <p:nvPr>
            <p:ph type="body" idx="1"/>
          </p:nvPr>
        </p:nvSpPr>
        <p:spPr>
          <a:xfrm>
            <a:off x="158343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5" name="Google Shape;45;p12"/>
          <p:cNvSpPr txBox="1">
            <a:spLocks noGrp="1"/>
          </p:cNvSpPr>
          <p:nvPr>
            <p:ph type="body" idx="2"/>
          </p:nvPr>
        </p:nvSpPr>
        <p:spPr>
          <a:xfrm>
            <a:off x="1583436" y="3143250"/>
            <a:ext cx="4270248"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6" name="Google Shape;46;p12"/>
          <p:cNvSpPr txBox="1">
            <a:spLocks noGrp="1"/>
          </p:cNvSpPr>
          <p:nvPr>
            <p:ph type="body" idx="3"/>
          </p:nvPr>
        </p:nvSpPr>
        <p:spPr>
          <a:xfrm>
            <a:off x="6338316" y="3143250"/>
            <a:ext cx="4253484"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30200" algn="l">
              <a:lnSpc>
                <a:spcPct val="100000"/>
              </a:lnSpc>
              <a:spcBef>
                <a:spcPts val="1000"/>
              </a:spcBef>
              <a:spcAft>
                <a:spcPts val="0"/>
              </a:spcAft>
              <a:buSzPts val="16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7" name="Google Shape;47;p12"/>
          <p:cNvSpPr txBox="1">
            <a:spLocks noGrp="1"/>
          </p:cNvSpPr>
          <p:nvPr>
            <p:ph type="body" idx="4"/>
          </p:nvPr>
        </p:nvSpPr>
        <p:spPr>
          <a:xfrm>
            <a:off x="633831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8" name="Google Shape;48;p1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
        <p:nvSpPr>
          <p:cNvPr id="51" name="Google Shape;51;p1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2" name="Google Shape;52;p12"/>
          <p:cNvPicPr preferRelativeResize="0"/>
          <p:nvPr/>
        </p:nvPicPr>
        <p:blipFill rotWithShape="1">
          <a:blip r:embed="rId2">
            <a:alphaModFix/>
          </a:blip>
          <a:srcRect/>
          <a:stretch/>
        </p:blipFill>
        <p:spPr>
          <a:xfrm>
            <a:off x="10022907" y="1"/>
            <a:ext cx="2137230" cy="6185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13"/>
          <p:cNvSpPr/>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3"/>
          <p:cNvSpPr txBox="1">
            <a:spLocks noGrp="1"/>
          </p:cNvSpPr>
          <p:nvPr>
            <p:ph type="title"/>
          </p:nvPr>
        </p:nvSpPr>
        <p:spPr>
          <a:xfrm>
            <a:off x="804672" y="2243828"/>
            <a:ext cx="4486656" cy="1141497"/>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lvl1pPr marL="457200" lvl="0" indent="-349250" algn="l">
              <a:lnSpc>
                <a:spcPct val="100000"/>
              </a:lnSpc>
              <a:spcBef>
                <a:spcPts val="1000"/>
              </a:spcBef>
              <a:spcAft>
                <a:spcPts val="0"/>
              </a:spcAft>
              <a:buSzPts val="1900"/>
              <a:buChar char="•"/>
              <a:defRPr sz="1900">
                <a:solidFill>
                  <a:schemeClr val="dk1"/>
                </a:solidFill>
              </a:defRPr>
            </a:lvl1pPr>
            <a:lvl2pPr marL="914400" lvl="1" indent="-330200" algn="l">
              <a:lnSpc>
                <a:spcPct val="100000"/>
              </a:lnSpc>
              <a:spcBef>
                <a:spcPts val="1000"/>
              </a:spcBef>
              <a:spcAft>
                <a:spcPts val="0"/>
              </a:spcAft>
              <a:buSzPts val="1600"/>
              <a:buChar char="•"/>
              <a:defRPr sz="1600">
                <a:solidFill>
                  <a:schemeClr val="dk1"/>
                </a:solidFill>
              </a:defRPr>
            </a:lvl2pPr>
            <a:lvl3pPr marL="1371600" lvl="2" indent="-330200" algn="l">
              <a:lnSpc>
                <a:spcPct val="100000"/>
              </a:lnSpc>
              <a:spcBef>
                <a:spcPts val="1000"/>
              </a:spcBef>
              <a:spcAft>
                <a:spcPts val="0"/>
              </a:spcAft>
              <a:buSzPts val="1600"/>
              <a:buChar char="•"/>
              <a:defRPr sz="1600">
                <a:solidFill>
                  <a:schemeClr val="dk1"/>
                </a:solidFill>
              </a:defRPr>
            </a:lvl3pPr>
            <a:lvl4pPr marL="1828800" lvl="3" indent="-330200" algn="l">
              <a:lnSpc>
                <a:spcPct val="100000"/>
              </a:lnSpc>
              <a:spcBef>
                <a:spcPts val="1000"/>
              </a:spcBef>
              <a:spcAft>
                <a:spcPts val="0"/>
              </a:spcAft>
              <a:buSzPts val="1600"/>
              <a:buChar char="•"/>
              <a:defRPr sz="1600">
                <a:solidFill>
                  <a:schemeClr val="dk1"/>
                </a:solidFill>
              </a:defRPr>
            </a:lvl4pPr>
            <a:lvl5pPr marL="2286000" lvl="4" indent="-330200" algn="l">
              <a:lnSpc>
                <a:spcPct val="100000"/>
              </a:lnSpc>
              <a:spcBef>
                <a:spcPts val="1000"/>
              </a:spcBef>
              <a:spcAft>
                <a:spcPts val="0"/>
              </a:spcAft>
              <a:buSzPts val="1600"/>
              <a:buChar char="•"/>
              <a:defRPr sz="1600">
                <a:solidFill>
                  <a:schemeClr val="dk1"/>
                </a:solidFill>
              </a:defRPr>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57" name="Google Shape;57;p13"/>
          <p:cNvSpPr txBox="1">
            <a:spLocks noGrp="1"/>
          </p:cNvSpPr>
          <p:nvPr>
            <p:ph type="body" idx="2"/>
          </p:nvPr>
        </p:nvSpPr>
        <p:spPr>
          <a:xfrm>
            <a:off x="1115568" y="3549918"/>
            <a:ext cx="3794760" cy="2194036"/>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58" name="Google Shape;58;p13"/>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3"/>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61" name="Google Shape;61;p13"/>
          <p:cNvPicPr preferRelativeResize="0"/>
          <p:nvPr/>
        </p:nvPicPr>
        <p:blipFill rotWithShape="1">
          <a:blip r:embed="rId2">
            <a:alphaModFix/>
          </a:blip>
          <a:srcRect/>
          <a:stretch/>
        </p:blipFill>
        <p:spPr>
          <a:xfrm>
            <a:off x="10020764" y="0"/>
            <a:ext cx="2139373" cy="61918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62"/>
        <p:cNvGrpSpPr/>
        <p:nvPr/>
      </p:nvGrpSpPr>
      <p:grpSpPr>
        <a:xfrm>
          <a:off x="0" y="0"/>
          <a:ext cx="0" cy="0"/>
          <a:chOff x="0" y="0"/>
          <a:chExt cx="0" cy="0"/>
        </a:xfrm>
      </p:grpSpPr>
      <p:sp>
        <p:nvSpPr>
          <p:cNvPr id="63" name="Google Shape;63;p8"/>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8"/>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65" name="Google Shape;65;p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pic>
        <p:nvPicPr>
          <p:cNvPr id="68" name="Google Shape;68;p8"/>
          <p:cNvPicPr preferRelativeResize="0"/>
          <p:nvPr/>
        </p:nvPicPr>
        <p:blipFill rotWithShape="1">
          <a:blip r:embed="rId2">
            <a:alphaModFix/>
          </a:blip>
          <a:srcRect/>
          <a:stretch/>
        </p:blipFill>
        <p:spPr>
          <a:xfrm>
            <a:off x="10226037" y="0"/>
            <a:ext cx="1965963" cy="56899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body" idx="1"/>
          </p:nvPr>
        </p:nvSpPr>
        <p:spPr>
          <a:xfrm>
            <a:off x="2695194" y="4352465"/>
            <a:ext cx="6801612" cy="126508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100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2000"/>
              <a:buNone/>
              <a:defRPr sz="2000">
                <a:solidFill>
                  <a:schemeClr val="lt1"/>
                </a:solidFill>
              </a:defRPr>
            </a:lvl2pPr>
            <a:lvl3pPr marL="1371600" lvl="2" indent="-228600" algn="l">
              <a:lnSpc>
                <a:spcPct val="100000"/>
              </a:lnSpc>
              <a:spcBef>
                <a:spcPts val="1000"/>
              </a:spcBef>
              <a:spcAft>
                <a:spcPts val="0"/>
              </a:spcAft>
              <a:buSzPts val="1800"/>
              <a:buNone/>
              <a:defRPr sz="1800">
                <a:solidFill>
                  <a:schemeClr val="lt1"/>
                </a:solidFill>
              </a:defRPr>
            </a:lvl3pPr>
            <a:lvl4pPr marL="1828800" lvl="3" indent="-228600" algn="l">
              <a:lnSpc>
                <a:spcPct val="100000"/>
              </a:lnSpc>
              <a:spcBef>
                <a:spcPts val="1000"/>
              </a:spcBef>
              <a:spcAft>
                <a:spcPts val="0"/>
              </a:spcAft>
              <a:buSzPts val="1600"/>
              <a:buNone/>
              <a:defRPr sz="1600">
                <a:solidFill>
                  <a:schemeClr val="lt1"/>
                </a:solidFill>
              </a:defRPr>
            </a:lvl4pPr>
            <a:lvl5pPr marL="2286000" lvl="4" indent="-228600" algn="l">
              <a:lnSpc>
                <a:spcPct val="100000"/>
              </a:lnSpc>
              <a:spcBef>
                <a:spcPts val="1000"/>
              </a:spcBef>
              <a:spcAft>
                <a:spcPts val="0"/>
              </a:spcAft>
              <a:buSzPts val="1600"/>
              <a:buNone/>
              <a:defRPr sz="1600">
                <a:solidFill>
                  <a:schemeClr val="lt1"/>
                </a:solidFill>
              </a:defRPr>
            </a:lvl5pPr>
            <a:lvl6pPr marL="2743200" lvl="5" indent="-228600" algn="l">
              <a:lnSpc>
                <a:spcPct val="100000"/>
              </a:lnSpc>
              <a:spcBef>
                <a:spcPts val="1000"/>
              </a:spcBef>
              <a:spcAft>
                <a:spcPts val="0"/>
              </a:spcAft>
              <a:buSzPts val="1600"/>
              <a:buNone/>
              <a:defRPr sz="1600">
                <a:solidFill>
                  <a:schemeClr val="lt1"/>
                </a:solidFill>
              </a:defRPr>
            </a:lvl6pPr>
            <a:lvl7pPr marL="3200400" lvl="6" indent="-228600" algn="l">
              <a:lnSpc>
                <a:spcPct val="100000"/>
              </a:lnSpc>
              <a:spcBef>
                <a:spcPts val="1000"/>
              </a:spcBef>
              <a:spcAft>
                <a:spcPts val="0"/>
              </a:spcAft>
              <a:buSzPts val="1600"/>
              <a:buNone/>
              <a:defRPr sz="1600">
                <a:solidFill>
                  <a:schemeClr val="lt1"/>
                </a:solidFill>
              </a:defRPr>
            </a:lvl7pPr>
            <a:lvl8pPr marL="3657600" lvl="7" indent="-228600" algn="l">
              <a:lnSpc>
                <a:spcPct val="100000"/>
              </a:lnSpc>
              <a:spcBef>
                <a:spcPts val="1000"/>
              </a:spcBef>
              <a:spcAft>
                <a:spcPts val="0"/>
              </a:spcAft>
              <a:buSzPts val="1600"/>
              <a:buNone/>
              <a:defRPr sz="1600">
                <a:solidFill>
                  <a:schemeClr val="lt1"/>
                </a:solidFill>
              </a:defRPr>
            </a:lvl8pPr>
            <a:lvl9pPr marL="4114800" lvl="8" indent="-228600" algn="l">
              <a:lnSpc>
                <a:spcPct val="100000"/>
              </a:lnSpc>
              <a:spcBef>
                <a:spcPts val="1000"/>
              </a:spcBef>
              <a:spcAft>
                <a:spcPts val="0"/>
              </a:spcAft>
              <a:buSzPts val="1600"/>
              <a:buNone/>
              <a:defRPr sz="1600">
                <a:solidFill>
                  <a:schemeClr val="lt1"/>
                </a:solidFill>
              </a:defRPr>
            </a:lvl9pPr>
          </a:lstStyle>
          <a:p>
            <a:endParaRPr/>
          </a:p>
        </p:txBody>
      </p:sp>
      <p:sp>
        <p:nvSpPr>
          <p:cNvPr id="72" name="Google Shape;72;p1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7"/>
          <p:cNvSpPr/>
          <p:nvPr/>
        </p:nvSpPr>
        <p:spPr>
          <a:xfrm>
            <a:off x="0" y="0"/>
            <a:ext cx="6095999"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7"/>
          <p:cNvSpPr txBox="1">
            <a:spLocks noGrp="1"/>
          </p:cNvSpPr>
          <p:nvPr>
            <p:ph type="title"/>
          </p:nvPr>
        </p:nvSpPr>
        <p:spPr>
          <a:xfrm>
            <a:off x="808523" y="2243828"/>
            <a:ext cx="4494998" cy="113464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7"/>
          <p:cNvSpPr>
            <a:spLocks noGrp="1"/>
          </p:cNvSpPr>
          <p:nvPr>
            <p:ph type="pic" idx="2"/>
          </p:nvPr>
        </p:nvSpPr>
        <p:spPr>
          <a:xfrm>
            <a:off x="6095999" y="0"/>
            <a:ext cx="6102097" cy="6858000"/>
          </a:xfrm>
          <a:prstGeom prst="rect">
            <a:avLst/>
          </a:prstGeom>
          <a:solidFill>
            <a:srgbClr val="BFBFBF"/>
          </a:solidFill>
          <a:ln>
            <a:noFill/>
          </a:ln>
        </p:spPr>
      </p:sp>
      <p:sp>
        <p:nvSpPr>
          <p:cNvPr id="88" name="Google Shape;88;p17"/>
          <p:cNvSpPr txBox="1">
            <a:spLocks noGrp="1"/>
          </p:cNvSpPr>
          <p:nvPr>
            <p:ph type="body" idx="1"/>
          </p:nvPr>
        </p:nvSpPr>
        <p:spPr>
          <a:xfrm>
            <a:off x="1115568" y="3549918"/>
            <a:ext cx="3794760" cy="219403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89" name="Google Shape;89;p1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8"/>
          <p:cNvSpPr txBox="1">
            <a:spLocks noGrp="1"/>
          </p:cNvSpPr>
          <p:nvPr>
            <p:ph type="body" idx="1"/>
          </p:nvPr>
        </p:nvSpPr>
        <p:spPr>
          <a:xfrm rot="5400000">
            <a:off x="4545009" y="324172"/>
            <a:ext cx="3101983" cy="77297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5" name="Google Shape;95;p1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rot="5400000">
            <a:off x="6810676" y="2779696"/>
            <a:ext cx="4983480" cy="1298608"/>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9"/>
          <p:cNvSpPr txBox="1">
            <a:spLocks noGrp="1"/>
          </p:cNvSpPr>
          <p:nvPr>
            <p:ph type="body" idx="1"/>
          </p:nvPr>
        </p:nvSpPr>
        <p:spPr>
          <a:xfrm rot="5400000">
            <a:off x="2838641" y="329756"/>
            <a:ext cx="4983480" cy="619848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01" name="Google Shape;101;p1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Bookman Old Style"/>
              <a:buNone/>
              <a:defRPr sz="2800" b="0" i="0" u="none" strike="noStrike" cap="none">
                <a:solidFill>
                  <a:srgbClr val="262626"/>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FEFEFE"/>
                </a:solidFill>
                <a:latin typeface="Bookman Old Style"/>
                <a:ea typeface="Bookman Old Style"/>
                <a:cs typeface="Bookman Old Style"/>
                <a:sym typeface="Bookman Old Style"/>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Bookman Old Style"/>
                <a:ea typeface="Bookman Old Style"/>
                <a:cs typeface="Bookman Old Style"/>
                <a:sym typeface="Bookman Old Style"/>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Bookman Old Style"/>
                <a:ea typeface="Bookman Old Style"/>
                <a:cs typeface="Bookman Old Style"/>
                <a:sym typeface="Bookman Old Style"/>
              </a:defRPr>
            </a:lvl9pPr>
          </a:lstStyle>
          <a:p>
            <a:endParaRPr/>
          </a:p>
        </p:txBody>
      </p:sp>
      <p:sp>
        <p:nvSpPr>
          <p:cNvPr id="12" name="Google Shape;12;p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9pPr>
          </a:lstStyle>
          <a:p>
            <a:endParaRPr/>
          </a:p>
        </p:txBody>
      </p:sp>
      <p:sp>
        <p:nvSpPr>
          <p:cNvPr id="13" name="Google Shape;13;p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Bookman Old Style"/>
                <a:ea typeface="Bookman Old Style"/>
                <a:cs typeface="Bookman Old Style"/>
                <a:sym typeface="Bookman Old Style"/>
              </a:defRPr>
            </a:lvl9pPr>
          </a:lstStyle>
          <a:p>
            <a:endParaRPr/>
          </a:p>
        </p:txBody>
      </p:sp>
      <p:sp>
        <p:nvSpPr>
          <p:cNvPr id="14" name="Google Shape;14;p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Bookman Old Style"/>
              <a:buNone/>
              <a:defRPr sz="2800" b="0" i="0" u="none" strike="noStrike" cap="none">
                <a:solidFill>
                  <a:srgbClr val="262626"/>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6"/>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Bookman Old Style"/>
                <a:ea typeface="Bookman Old Style"/>
                <a:cs typeface="Bookman Old Style"/>
                <a:sym typeface="Bookman Old Style"/>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Bookman Old Style"/>
                <a:ea typeface="Bookman Old Style"/>
                <a:cs typeface="Bookman Old Style"/>
                <a:sym typeface="Bookman Old Style"/>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25" name="Google Shape;25;p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dk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26" name="Google Shape;26;p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dk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27" name="Google Shape;27;p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lvl1pPr marL="0" marR="0" lvl="0"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1pPr>
            <a:lvl2pPr marL="0" marR="0" lvl="1"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2pPr>
            <a:lvl3pPr marL="0" marR="0" lvl="2"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3pPr>
            <a:lvl4pPr marL="0" marR="0" lvl="3"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4pPr>
            <a:lvl5pPr marL="0" marR="0" lvl="4"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5pPr>
            <a:lvl6pPr marL="0" marR="0" lvl="5"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6pPr>
            <a:lvl7pPr marL="0" marR="0" lvl="6"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7pPr>
            <a:lvl8pPr marL="0" marR="0" lvl="7"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8pPr>
            <a:lvl9pPr marL="0" marR="0" lvl="8" indent="0" algn="ctr" rtl="0">
              <a:lnSpc>
                <a:spcPct val="100000"/>
              </a:lnSpc>
              <a:spcBef>
                <a:spcPts val="0"/>
              </a:spcBef>
              <a:spcAft>
                <a:spcPts val="0"/>
              </a:spcAft>
              <a:buClr>
                <a:srgbClr val="000000"/>
              </a:buClr>
              <a:buSzPts val="1100"/>
              <a:buFont typeface="Arial"/>
              <a:buNone/>
              <a:defRPr sz="1100" b="0" i="0" u="none" strike="noStrike" cap="none">
                <a:solidFill>
                  <a:srgbClr val="FFFFFF"/>
                </a:solidFill>
                <a:latin typeface="Bookman Old Style"/>
                <a:ea typeface="Bookman Old Style"/>
                <a:cs typeface="Bookman Old Style"/>
                <a:sym typeface="Bookman Old Style"/>
              </a:defRPr>
            </a:lvl9pPr>
          </a:lstStyle>
          <a:p>
            <a:pPr marL="0" lvl="0" indent="0" algn="ct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8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5.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6.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10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0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8.xml"/><Relationship Id="rId1" Type="http://schemas.openxmlformats.org/officeDocument/2006/relationships/slideLayout" Target="../slideLayouts/slideLayout3.xml"/><Relationship Id="rId4" Type="http://schemas.openxmlformats.org/officeDocument/2006/relationships/image" Target="../media/image55.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1.xml"/><Relationship Id="rId1" Type="http://schemas.openxmlformats.org/officeDocument/2006/relationships/slideLayout" Target="../slideLayouts/slideLayout8.xml"/><Relationship Id="rId4" Type="http://schemas.openxmlformats.org/officeDocument/2006/relationships/image" Target="../media/image57.png"/></Relationships>
</file>

<file path=ppt/slides/_rels/slide1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2.xml"/><Relationship Id="rId1" Type="http://schemas.openxmlformats.org/officeDocument/2006/relationships/slideLayout" Target="../slideLayouts/slideLayout3.xml"/><Relationship Id="rId5" Type="http://schemas.openxmlformats.org/officeDocument/2006/relationships/image" Target="../media/image60.png"/><Relationship Id="rId4" Type="http://schemas.openxmlformats.org/officeDocument/2006/relationships/image" Target="../media/image59.png"/></Relationships>
</file>

<file path=ppt/slides/_rels/slide1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3.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1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4.xml"/><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1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5.xml"/><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1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6.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1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7.xml"/><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1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8.xml"/><Relationship Id="rId1" Type="http://schemas.openxmlformats.org/officeDocument/2006/relationships/slideLayout" Target="../slideLayouts/slideLayout3.xml"/><Relationship Id="rId4" Type="http://schemas.openxmlformats.org/officeDocument/2006/relationships/image" Target="../media/image72.png"/></Relationships>
</file>

<file path=ppt/slides/_rels/slide11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9.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6.xml"/><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7.xm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8.xml"/><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9.xm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30.xml"/><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1.xml"/><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32.xm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33.xm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34.xml"/><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35.xm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37.xm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38.xm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39.xml"/><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40.xm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41.xml"/><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42.xml"/><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43.xml"/><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44.xm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8" Type="http://schemas.openxmlformats.org/officeDocument/2006/relationships/hyperlink" Target="https://www.geeksforgeeks.org/merge-sort/" TargetMode="External"/><Relationship Id="rId3" Type="http://schemas.openxmlformats.org/officeDocument/2006/relationships/hyperlink" Target="https://www.geeksforgeeks.org/selection-sort/" TargetMode="External"/><Relationship Id="rId7" Type="http://schemas.openxmlformats.org/officeDocument/2006/relationships/hyperlink" Target="https://www.geeksforgeeks.org/quick-sort/" TargetMode="External"/><Relationship Id="rId12" Type="http://schemas.openxmlformats.org/officeDocument/2006/relationships/hyperlink" Target="https://www.geeksforgeeks.org/shellsort/" TargetMode="External"/><Relationship Id="rId2" Type="http://schemas.openxmlformats.org/officeDocument/2006/relationships/notesSlide" Target="../notesSlides/notesSlide145.xml"/><Relationship Id="rId1" Type="http://schemas.openxmlformats.org/officeDocument/2006/relationships/slideLayout" Target="../slideLayouts/slideLayout2.xml"/><Relationship Id="rId6" Type="http://schemas.openxmlformats.org/officeDocument/2006/relationships/hyperlink" Target="https://www.geeksforgeeks.org/heap-sort/" TargetMode="External"/><Relationship Id="rId11" Type="http://schemas.openxmlformats.org/officeDocument/2006/relationships/hyperlink" Target="https://www.geeksforgeeks.org/counting-sort/" TargetMode="External"/><Relationship Id="rId5" Type="http://schemas.openxmlformats.org/officeDocument/2006/relationships/hyperlink" Target="https://www.geeksforgeeks.org/insertion-sort/" TargetMode="External"/><Relationship Id="rId10" Type="http://schemas.openxmlformats.org/officeDocument/2006/relationships/hyperlink" Target="https://www.geeksforgeeks.org/radix-sort/" TargetMode="External"/><Relationship Id="rId4" Type="http://schemas.openxmlformats.org/officeDocument/2006/relationships/hyperlink" Target="https://www.geeksforgeeks.org/bubble-sort/" TargetMode="External"/><Relationship Id="rId9" Type="http://schemas.openxmlformats.org/officeDocument/2006/relationships/hyperlink" Target="https://www.geeksforgeeks.org/bucket-sort-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
          <p:cNvSpPr txBox="1">
            <a:spLocks noGrp="1"/>
          </p:cNvSpPr>
          <p:nvPr>
            <p:ph type="ctrTitle"/>
          </p:nvPr>
        </p:nvSpPr>
        <p:spPr>
          <a:xfrm>
            <a:off x="1600200" y="2386750"/>
            <a:ext cx="8991600" cy="213960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fontScale="90000"/>
          </a:bodyPr>
          <a:lstStyle/>
          <a:p>
            <a:pPr marL="0" lvl="0" indent="0" algn="ctr" rtl="0">
              <a:lnSpc>
                <a:spcPct val="90000"/>
              </a:lnSpc>
              <a:spcBef>
                <a:spcPts val="0"/>
              </a:spcBef>
              <a:spcAft>
                <a:spcPts val="0"/>
              </a:spcAft>
              <a:buClr>
                <a:srgbClr val="262626"/>
              </a:buClr>
              <a:buSzPct val="100000"/>
              <a:buFont typeface="Bookman Old Style"/>
              <a:buNone/>
            </a:pPr>
            <a:r>
              <a:rPr lang="en-IN" dirty="0"/>
              <a:t>1010043316</a:t>
            </a:r>
            <a:endParaRPr dirty="0"/>
          </a:p>
          <a:p>
            <a:pPr marL="0" lvl="0" indent="0" algn="ctr" rtl="0">
              <a:lnSpc>
                <a:spcPct val="90000"/>
              </a:lnSpc>
              <a:spcBef>
                <a:spcPts val="0"/>
              </a:spcBef>
              <a:spcAft>
                <a:spcPts val="0"/>
              </a:spcAft>
              <a:buClr>
                <a:srgbClr val="262626"/>
              </a:buClr>
              <a:buSzPct val="100000"/>
              <a:buFont typeface="Bookman Old Style"/>
              <a:buNone/>
            </a:pPr>
            <a:r>
              <a:rPr lang="en-IN" dirty="0"/>
              <a:t>Analysis and Design of Algorithms</a:t>
            </a:r>
            <a:endParaRPr dirty="0"/>
          </a:p>
          <a:p>
            <a:pPr lvl="0">
              <a:buSzPct val="100000"/>
            </a:pPr>
            <a:r>
              <a:rPr lang="en-IN" dirty="0"/>
              <a:t>Unit 1: Basics of </a:t>
            </a:r>
            <a:r>
              <a:rPr lang="en-IN" dirty="0" smtClean="0"/>
              <a:t>Algorithms</a:t>
            </a:r>
            <a:r>
              <a:rPr lang="en-IN" dirty="0"/>
              <a:t>, Mathematics </a:t>
            </a:r>
            <a:r>
              <a:rPr lang="en-IN" dirty="0" smtClean="0"/>
              <a:t>and Analysis of Algorithm</a:t>
            </a:r>
            <a:endParaRPr dirty="0"/>
          </a:p>
        </p:txBody>
      </p:sp>
      <p:sp>
        <p:nvSpPr>
          <p:cNvPr id="109" name="Google Shape;109;p1"/>
          <p:cNvSpPr txBox="1"/>
          <p:nvPr/>
        </p:nvSpPr>
        <p:spPr>
          <a:xfrm>
            <a:off x="4459800" y="5016150"/>
            <a:ext cx="3272400" cy="97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IN" sz="2000" dirty="0">
                <a:solidFill>
                  <a:srgbClr val="FEFEFE"/>
                </a:solidFill>
                <a:latin typeface="Bookman Old Style"/>
                <a:ea typeface="Bookman Old Style"/>
                <a:cs typeface="Bookman Old Style"/>
                <a:sym typeface="Bookman Old Style"/>
              </a:rPr>
              <a:t>SEMESTER: </a:t>
            </a:r>
            <a:r>
              <a:rPr lang="en-IN" sz="2000" dirty="0" smtClean="0">
                <a:solidFill>
                  <a:srgbClr val="FEFEFE"/>
                </a:solidFill>
                <a:latin typeface="Bookman Old Style"/>
                <a:ea typeface="Bookman Old Style"/>
                <a:cs typeface="Bookman Old Style"/>
                <a:sym typeface="Bookman Old Style"/>
              </a:rPr>
              <a:t>5</a:t>
            </a:r>
            <a:endParaRPr sz="2000" dirty="0">
              <a:solidFill>
                <a:srgbClr val="FEFEFE"/>
              </a:solidFill>
              <a:latin typeface="Bookman Old Style"/>
              <a:ea typeface="Bookman Old Style"/>
              <a:cs typeface="Bookman Old Style"/>
              <a:sym typeface="Bookman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IN"/>
              <a:t>TOPICS </a:t>
            </a:r>
            <a:endParaRPr/>
          </a:p>
        </p:txBody>
      </p:sp>
      <p:sp>
        <p:nvSpPr>
          <p:cNvPr id="115" name="Google Shape;115;p2"/>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IN"/>
              <a:t>What is an algorithm?, </a:t>
            </a:r>
            <a:endParaRPr/>
          </a:p>
          <a:p>
            <a:pPr marL="228600" lvl="0" indent="-228600" algn="l" rtl="0">
              <a:lnSpc>
                <a:spcPct val="100000"/>
              </a:lnSpc>
              <a:spcBef>
                <a:spcPts val="0"/>
              </a:spcBef>
              <a:spcAft>
                <a:spcPts val="0"/>
              </a:spcAft>
              <a:buSzPts val="1800"/>
              <a:buChar char="•"/>
            </a:pPr>
            <a:r>
              <a:rPr lang="en-IN"/>
              <a:t>Properties of Algorithm, Time and Space Complexity, </a:t>
            </a:r>
            <a:endParaRPr/>
          </a:p>
          <a:p>
            <a:pPr marL="228600" lvl="0" indent="-228600" algn="l" rtl="0">
              <a:lnSpc>
                <a:spcPct val="100000"/>
              </a:lnSpc>
              <a:spcBef>
                <a:spcPts val="0"/>
              </a:spcBef>
              <a:spcAft>
                <a:spcPts val="0"/>
              </a:spcAft>
              <a:buSzPts val="1800"/>
              <a:buChar char="•"/>
            </a:pPr>
            <a:r>
              <a:rPr lang="en-IN"/>
              <a:t>detailed analysis of algorithm,</a:t>
            </a:r>
            <a:endParaRPr/>
          </a:p>
          <a:p>
            <a:pPr marL="228600" lvl="0" indent="-228600" algn="l" rtl="0">
              <a:lnSpc>
                <a:spcPct val="100000"/>
              </a:lnSpc>
              <a:spcBef>
                <a:spcPts val="0"/>
              </a:spcBef>
              <a:spcAft>
                <a:spcPts val="0"/>
              </a:spcAft>
              <a:buSzPts val="1800"/>
              <a:buChar char="•"/>
            </a:pPr>
            <a:r>
              <a:rPr lang="en-IN"/>
              <a:t>Mathematics for Algorithmic : Sets, Functions and Relations,</a:t>
            </a:r>
            <a:endParaRPr/>
          </a:p>
          <a:p>
            <a:pPr marL="228600" lvl="0" indent="-228600" algn="l" rtl="0">
              <a:lnSpc>
                <a:spcPct val="100000"/>
              </a:lnSpc>
              <a:spcBef>
                <a:spcPts val="0"/>
              </a:spcBef>
              <a:spcAft>
                <a:spcPts val="0"/>
              </a:spcAft>
              <a:buSzPts val="1800"/>
              <a:buChar char="•"/>
            </a:pPr>
            <a:r>
              <a:rPr lang="en-IN"/>
              <a:t>Vectors and Matrices, </a:t>
            </a:r>
            <a:endParaRPr/>
          </a:p>
          <a:p>
            <a:pPr marL="228600" lvl="0" indent="-228600" algn="l" rtl="0">
              <a:lnSpc>
                <a:spcPct val="100000"/>
              </a:lnSpc>
              <a:spcBef>
                <a:spcPts val="0"/>
              </a:spcBef>
              <a:spcAft>
                <a:spcPts val="0"/>
              </a:spcAft>
              <a:buSzPts val="1800"/>
              <a:buChar char="•"/>
            </a:pPr>
            <a:r>
              <a:rPr lang="en-IN"/>
              <a:t>Linear Inequalities and Linear Equations.</a:t>
            </a:r>
            <a:endParaRPr/>
          </a:p>
        </p:txBody>
      </p:sp>
      <p:sp>
        <p:nvSpPr>
          <p:cNvPr id="116" name="Google Shape;116;p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267cb0a875b_1_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What is an algorithm?</a:t>
            </a:r>
            <a:endParaRPr/>
          </a:p>
        </p:txBody>
      </p:sp>
      <p:sp>
        <p:nvSpPr>
          <p:cNvPr id="123" name="Google Shape;123;g267cb0a875b_1_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IN"/>
              <a:t>Algorithm: It is the finite sequence of operations/instructions which transform the given input to correct output.</a:t>
            </a:r>
            <a:endParaRPr/>
          </a:p>
          <a:p>
            <a:pPr marL="0" lvl="0" indent="0" algn="l" rtl="0">
              <a:lnSpc>
                <a:spcPct val="100000"/>
              </a:lnSpc>
              <a:spcBef>
                <a:spcPts val="1000"/>
              </a:spcBef>
              <a:spcAft>
                <a:spcPts val="0"/>
              </a:spcAft>
              <a:buSzPts val="1800"/>
              <a:buNone/>
            </a:pPr>
            <a:endParaRPr/>
          </a:p>
          <a:p>
            <a:pPr marL="0" lvl="0" indent="0" algn="l" rtl="0">
              <a:lnSpc>
                <a:spcPct val="100000"/>
              </a:lnSpc>
              <a:spcBef>
                <a:spcPts val="1000"/>
              </a:spcBef>
              <a:spcAft>
                <a:spcPts val="0"/>
              </a:spcAft>
              <a:buSzPts val="1800"/>
              <a:buNone/>
            </a:pPr>
            <a:r>
              <a:rPr lang="en-IN"/>
              <a:t> Algorithms must be</a:t>
            </a:r>
            <a:endParaRPr/>
          </a:p>
          <a:p>
            <a:pPr marL="457200" lvl="0" indent="-342900" algn="l" rtl="0">
              <a:lnSpc>
                <a:spcPct val="100000"/>
              </a:lnSpc>
              <a:spcBef>
                <a:spcPts val="1000"/>
              </a:spcBef>
              <a:spcAft>
                <a:spcPts val="0"/>
              </a:spcAft>
              <a:buSzPts val="1800"/>
              <a:buChar char="•"/>
            </a:pPr>
            <a:r>
              <a:rPr lang="en-IN"/>
              <a:t>Finite – must eventually terminate.</a:t>
            </a:r>
            <a:endParaRPr/>
          </a:p>
          <a:p>
            <a:pPr marL="457200" marR="0" lvl="0" indent="-342900" algn="l" rtl="0">
              <a:lnSpc>
                <a:spcPct val="100000"/>
              </a:lnSpc>
              <a:spcBef>
                <a:spcPts val="0"/>
              </a:spcBef>
              <a:spcAft>
                <a:spcPts val="0"/>
              </a:spcAft>
              <a:buSzPts val="1800"/>
              <a:buChar char="•"/>
            </a:pPr>
            <a:r>
              <a:rPr lang="en-IN"/>
              <a:t>Complete – always gives a solution when there is one.</a:t>
            </a:r>
            <a:endParaRPr/>
          </a:p>
          <a:p>
            <a:pPr marL="457200" marR="0" lvl="0" indent="-342900" algn="l" rtl="0">
              <a:lnSpc>
                <a:spcPct val="100000"/>
              </a:lnSpc>
              <a:spcBef>
                <a:spcPts val="0"/>
              </a:spcBef>
              <a:spcAft>
                <a:spcPts val="0"/>
              </a:spcAft>
              <a:buSzPts val="1800"/>
              <a:buChar char="•"/>
            </a:pPr>
            <a:r>
              <a:rPr lang="en-IN"/>
              <a:t>Correct (sound) – always gives a “correct” solution.</a:t>
            </a:r>
            <a:endParaRPr/>
          </a:p>
          <a:p>
            <a:pPr marL="0" lvl="0" indent="0" algn="l" rtl="0">
              <a:lnSpc>
                <a:spcPct val="100000"/>
              </a:lnSpc>
              <a:spcBef>
                <a:spcPts val="1000"/>
              </a:spcBef>
              <a:spcAft>
                <a:spcPts val="0"/>
              </a:spcAft>
              <a:buSzPts val="1800"/>
              <a:buNone/>
            </a:pPr>
            <a:endParaRPr/>
          </a:p>
        </p:txBody>
      </p:sp>
      <p:sp>
        <p:nvSpPr>
          <p:cNvPr id="124" name="Google Shape;124;g267cb0a875b_1_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267cb0a875b_1_1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Properties of algorithms</a:t>
            </a:r>
            <a:endParaRPr/>
          </a:p>
        </p:txBody>
      </p:sp>
      <p:sp>
        <p:nvSpPr>
          <p:cNvPr id="131" name="Google Shape;131;g267cb0a875b_1_1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457200" marR="0" lvl="0" indent="-342900" algn="l" rtl="0">
              <a:lnSpc>
                <a:spcPct val="100000"/>
              </a:lnSpc>
              <a:spcBef>
                <a:spcPts val="1000"/>
              </a:spcBef>
              <a:spcAft>
                <a:spcPts val="0"/>
              </a:spcAft>
              <a:buSzPts val="1800"/>
              <a:buChar char="•"/>
            </a:pPr>
            <a:r>
              <a:rPr lang="en-IN"/>
              <a:t>Input from a specified set,</a:t>
            </a:r>
            <a:endParaRPr/>
          </a:p>
          <a:p>
            <a:pPr marL="457200" marR="0" lvl="0" indent="-342900" algn="l" rtl="0">
              <a:lnSpc>
                <a:spcPct val="100000"/>
              </a:lnSpc>
              <a:spcBef>
                <a:spcPts val="0"/>
              </a:spcBef>
              <a:spcAft>
                <a:spcPts val="0"/>
              </a:spcAft>
              <a:buSzPts val="1800"/>
              <a:buChar char="•"/>
            </a:pPr>
            <a:r>
              <a:rPr lang="en-IN"/>
              <a:t>Output from a specified set (solution),</a:t>
            </a:r>
            <a:endParaRPr/>
          </a:p>
          <a:p>
            <a:pPr marL="457200" marR="0" lvl="0" indent="-342900" algn="l" rtl="0">
              <a:lnSpc>
                <a:spcPct val="100000"/>
              </a:lnSpc>
              <a:spcBef>
                <a:spcPts val="0"/>
              </a:spcBef>
              <a:spcAft>
                <a:spcPts val="0"/>
              </a:spcAft>
              <a:buSzPts val="1800"/>
              <a:buChar char="•"/>
            </a:pPr>
            <a:r>
              <a:rPr lang="en-IN"/>
              <a:t>Definiteness of every step in the computation,</a:t>
            </a:r>
            <a:endParaRPr/>
          </a:p>
          <a:p>
            <a:pPr marL="457200" marR="0" lvl="0" indent="-342900" algn="l" rtl="0">
              <a:lnSpc>
                <a:spcPct val="100000"/>
              </a:lnSpc>
              <a:spcBef>
                <a:spcPts val="0"/>
              </a:spcBef>
              <a:spcAft>
                <a:spcPts val="0"/>
              </a:spcAft>
              <a:buSzPts val="1800"/>
              <a:buChar char="•"/>
            </a:pPr>
            <a:r>
              <a:rPr lang="en-IN"/>
              <a:t>Correctness of output for every possible input,</a:t>
            </a:r>
            <a:endParaRPr/>
          </a:p>
          <a:p>
            <a:pPr marL="457200" marR="0" lvl="0" indent="-342900" algn="l" rtl="0">
              <a:lnSpc>
                <a:spcPct val="100000"/>
              </a:lnSpc>
              <a:spcBef>
                <a:spcPts val="0"/>
              </a:spcBef>
              <a:spcAft>
                <a:spcPts val="0"/>
              </a:spcAft>
              <a:buSzPts val="1800"/>
              <a:buChar char="•"/>
            </a:pPr>
            <a:r>
              <a:rPr lang="en-IN"/>
              <a:t>Finiteness of the number of calculation steps,</a:t>
            </a:r>
            <a:endParaRPr/>
          </a:p>
          <a:p>
            <a:pPr marL="457200" marR="0" lvl="0" indent="-342900" algn="l" rtl="0">
              <a:lnSpc>
                <a:spcPct val="100000"/>
              </a:lnSpc>
              <a:spcBef>
                <a:spcPts val="0"/>
              </a:spcBef>
              <a:spcAft>
                <a:spcPts val="0"/>
              </a:spcAft>
              <a:buSzPts val="1800"/>
              <a:buChar char="•"/>
            </a:pPr>
            <a:r>
              <a:rPr lang="en-IN"/>
              <a:t>Effectiveness of each calculation step and</a:t>
            </a:r>
            <a:endParaRPr/>
          </a:p>
          <a:p>
            <a:pPr marL="457200" lvl="0" indent="-342900" algn="l" rtl="0">
              <a:lnSpc>
                <a:spcPct val="100000"/>
              </a:lnSpc>
              <a:spcBef>
                <a:spcPts val="0"/>
              </a:spcBef>
              <a:spcAft>
                <a:spcPts val="0"/>
              </a:spcAft>
              <a:buSzPts val="1800"/>
              <a:buChar char="•"/>
            </a:pPr>
            <a:r>
              <a:rPr lang="en-IN"/>
              <a:t>Generality for a class of problems.</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SzPts val="1800"/>
              <a:buNone/>
            </a:pPr>
            <a:endParaRPr/>
          </a:p>
        </p:txBody>
      </p:sp>
      <p:sp>
        <p:nvSpPr>
          <p:cNvPr id="132" name="Google Shape;132;g267cb0a875b_1_1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267cb0a875b_1_2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Problems &amp; Instance</a:t>
            </a:r>
            <a:endParaRPr/>
          </a:p>
        </p:txBody>
      </p:sp>
      <p:sp>
        <p:nvSpPr>
          <p:cNvPr id="139" name="Google Shape;139;g267cb0a875b_1_21"/>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1000"/>
              </a:spcBef>
              <a:spcAft>
                <a:spcPts val="0"/>
              </a:spcAft>
              <a:buClr>
                <a:schemeClr val="dk1"/>
              </a:buClr>
              <a:buSzPct val="61109"/>
              <a:buFont typeface="Arial"/>
              <a:buNone/>
            </a:pPr>
            <a:r>
              <a:rPr lang="en-IN"/>
              <a:t>Problem: Multiply two positive integers</a:t>
            </a:r>
            <a:endParaRPr/>
          </a:p>
          <a:p>
            <a:pPr marL="0" lvl="0" indent="0" algn="l" rtl="0">
              <a:lnSpc>
                <a:spcPct val="100000"/>
              </a:lnSpc>
              <a:spcBef>
                <a:spcPts val="1000"/>
              </a:spcBef>
              <a:spcAft>
                <a:spcPts val="0"/>
              </a:spcAft>
              <a:buClr>
                <a:schemeClr val="dk1"/>
              </a:buClr>
              <a:buSzPct val="61109"/>
              <a:buFont typeface="Arial"/>
              <a:buNone/>
            </a:pPr>
            <a:r>
              <a:rPr lang="en-IN"/>
              <a:t>Instance: </a:t>
            </a:r>
            <a:endParaRPr/>
          </a:p>
          <a:p>
            <a:pPr marL="0" lvl="0" indent="457200" algn="l" rtl="0">
              <a:lnSpc>
                <a:spcPct val="100000"/>
              </a:lnSpc>
              <a:spcBef>
                <a:spcPts val="1000"/>
              </a:spcBef>
              <a:spcAft>
                <a:spcPts val="0"/>
              </a:spcAft>
              <a:buClr>
                <a:schemeClr val="dk1"/>
              </a:buClr>
              <a:buSzPct val="61109"/>
              <a:buFont typeface="Arial"/>
              <a:buNone/>
            </a:pPr>
            <a:r>
              <a:rPr lang="en-IN"/>
              <a:t>(10,2) is proper instance for above problem</a:t>
            </a:r>
            <a:endParaRPr/>
          </a:p>
          <a:p>
            <a:pPr marL="0" lvl="0" indent="457200" algn="l" rtl="0">
              <a:lnSpc>
                <a:spcPct val="100000"/>
              </a:lnSpc>
              <a:spcBef>
                <a:spcPts val="1000"/>
              </a:spcBef>
              <a:spcAft>
                <a:spcPts val="0"/>
              </a:spcAft>
              <a:buClr>
                <a:schemeClr val="dk1"/>
              </a:buClr>
              <a:buSzPct val="61109"/>
              <a:buFont typeface="Arial"/>
              <a:buNone/>
            </a:pPr>
            <a:r>
              <a:rPr lang="en-IN"/>
              <a:t>(-5,2) is not proper instance</a:t>
            </a:r>
            <a:endParaRPr/>
          </a:p>
          <a:p>
            <a:pPr marL="0" lvl="0" indent="457200" algn="l" rtl="0">
              <a:lnSpc>
                <a:spcPct val="100000"/>
              </a:lnSpc>
              <a:spcBef>
                <a:spcPts val="1000"/>
              </a:spcBef>
              <a:spcAft>
                <a:spcPts val="0"/>
              </a:spcAft>
              <a:buClr>
                <a:schemeClr val="dk1"/>
              </a:buClr>
              <a:buSzPct val="61109"/>
              <a:buFont typeface="Arial"/>
              <a:buNone/>
            </a:pPr>
            <a:r>
              <a:rPr lang="en-IN"/>
              <a:t>(10,2.5) is again not proper instance</a:t>
            </a:r>
            <a:endParaRPr/>
          </a:p>
          <a:p>
            <a:pPr marL="0" lvl="0" indent="0" algn="l" rtl="0">
              <a:lnSpc>
                <a:spcPct val="100000"/>
              </a:lnSpc>
              <a:spcBef>
                <a:spcPts val="1000"/>
              </a:spcBef>
              <a:spcAft>
                <a:spcPts val="0"/>
              </a:spcAft>
              <a:buClr>
                <a:schemeClr val="dk1"/>
              </a:buClr>
              <a:buSzPct val="61109"/>
              <a:buFont typeface="Arial"/>
              <a:buNone/>
            </a:pPr>
            <a:endParaRPr/>
          </a:p>
          <a:p>
            <a:pPr marL="0" lvl="0" indent="0" algn="l" rtl="0">
              <a:lnSpc>
                <a:spcPct val="100000"/>
              </a:lnSpc>
              <a:spcBef>
                <a:spcPts val="1000"/>
              </a:spcBef>
              <a:spcAft>
                <a:spcPts val="0"/>
              </a:spcAft>
              <a:buClr>
                <a:schemeClr val="dk1"/>
              </a:buClr>
              <a:buSzPct val="61109"/>
              <a:buFont typeface="Arial"/>
              <a:buNone/>
            </a:pPr>
            <a:r>
              <a:rPr lang="en-IN"/>
              <a:t>Algorithm must work correctly on every instance it claims to solve</a:t>
            </a:r>
            <a:endParaRPr/>
          </a:p>
          <a:p>
            <a:pPr marL="0" lvl="0" indent="0" algn="l" rtl="0">
              <a:lnSpc>
                <a:spcPct val="100000"/>
              </a:lnSpc>
              <a:spcBef>
                <a:spcPts val="1000"/>
              </a:spcBef>
              <a:spcAft>
                <a:spcPts val="0"/>
              </a:spcAft>
              <a:buClr>
                <a:schemeClr val="dk1"/>
              </a:buClr>
              <a:buSzPct val="61109"/>
              <a:buFont typeface="Arial"/>
              <a:buNone/>
            </a:pPr>
            <a:r>
              <a:rPr lang="en-IN"/>
              <a:t>How to show that it works incorrect?</a:t>
            </a:r>
            <a:endParaRPr/>
          </a:p>
          <a:p>
            <a:pPr marL="0" lvl="0" indent="457200" algn="l" rtl="0">
              <a:lnSpc>
                <a:spcPct val="100000"/>
              </a:lnSpc>
              <a:spcBef>
                <a:spcPts val="1000"/>
              </a:spcBef>
              <a:spcAft>
                <a:spcPts val="0"/>
              </a:spcAft>
              <a:buClr>
                <a:schemeClr val="dk1"/>
              </a:buClr>
              <a:buSzPct val="61109"/>
              <a:buFont typeface="Arial"/>
              <a:buNone/>
            </a:pPr>
            <a:r>
              <a:rPr lang="en-IN"/>
              <a:t>Find any one instance for which it doesn’t work correctly</a:t>
            </a:r>
            <a:endParaRPr/>
          </a:p>
          <a:p>
            <a:pPr marL="0" lvl="0" indent="0" algn="l" rtl="0">
              <a:lnSpc>
                <a:spcPct val="100000"/>
              </a:lnSpc>
              <a:spcBef>
                <a:spcPts val="1000"/>
              </a:spcBef>
              <a:spcAft>
                <a:spcPts val="0"/>
              </a:spcAft>
              <a:buClr>
                <a:schemeClr val="dk1"/>
              </a:buClr>
              <a:buSzPct val="61109"/>
              <a:buFont typeface="Arial"/>
              <a:buNone/>
            </a:pPr>
            <a:endParaRPr/>
          </a:p>
          <a:p>
            <a:pPr marL="0" lvl="0" indent="0" algn="l" rtl="0">
              <a:lnSpc>
                <a:spcPct val="100000"/>
              </a:lnSpc>
              <a:spcBef>
                <a:spcPts val="1000"/>
              </a:spcBef>
              <a:spcAft>
                <a:spcPts val="0"/>
              </a:spcAft>
              <a:buSzPct val="142857"/>
              <a:buNone/>
            </a:pPr>
            <a:endParaRPr/>
          </a:p>
        </p:txBody>
      </p:sp>
      <p:sp>
        <p:nvSpPr>
          <p:cNvPr id="140" name="Google Shape;140;g267cb0a875b_1_2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267cb0a875b_1_3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Efficiency of Algorithms</a:t>
            </a:r>
            <a:endParaRPr/>
          </a:p>
        </p:txBody>
      </p:sp>
      <p:sp>
        <p:nvSpPr>
          <p:cNvPr id="147" name="Google Shape;147;g267cb0a875b_1_30"/>
          <p:cNvSpPr txBox="1">
            <a:spLocks noGrp="1"/>
          </p:cNvSpPr>
          <p:nvPr>
            <p:ph type="body" idx="1"/>
          </p:nvPr>
        </p:nvSpPr>
        <p:spPr>
          <a:xfrm>
            <a:off x="2231125" y="2638051"/>
            <a:ext cx="7729800" cy="37323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00000"/>
              </a:lnSpc>
              <a:spcBef>
                <a:spcPts val="1000"/>
              </a:spcBef>
              <a:spcAft>
                <a:spcPts val="0"/>
              </a:spcAft>
              <a:buClr>
                <a:schemeClr val="dk1"/>
              </a:buClr>
              <a:buSzPct val="61109"/>
              <a:buFont typeface="Arial"/>
              <a:buNone/>
            </a:pPr>
            <a:r>
              <a:rPr lang="en-IN"/>
              <a:t>Which algorithm needs to be chosen when more than one algorithm is available?</a:t>
            </a:r>
            <a:endParaRPr/>
          </a:p>
          <a:p>
            <a:pPr marL="0" lvl="0" indent="0" algn="l" rtl="0">
              <a:lnSpc>
                <a:spcPct val="100000"/>
              </a:lnSpc>
              <a:spcBef>
                <a:spcPts val="1000"/>
              </a:spcBef>
              <a:spcAft>
                <a:spcPts val="0"/>
              </a:spcAft>
              <a:buClr>
                <a:schemeClr val="dk1"/>
              </a:buClr>
              <a:buSzPct val="61109"/>
              <a:buFont typeface="Arial"/>
              <a:buNone/>
            </a:pPr>
            <a:r>
              <a:rPr lang="en-IN"/>
              <a:t>Three Approaches:</a:t>
            </a:r>
            <a:endParaRPr/>
          </a:p>
          <a:p>
            <a:pPr marL="0" lvl="0" indent="0" algn="l" rtl="0">
              <a:lnSpc>
                <a:spcPct val="100000"/>
              </a:lnSpc>
              <a:spcBef>
                <a:spcPts val="1000"/>
              </a:spcBef>
              <a:spcAft>
                <a:spcPts val="0"/>
              </a:spcAft>
              <a:buClr>
                <a:schemeClr val="dk1"/>
              </a:buClr>
              <a:buSzPct val="61109"/>
              <a:buFont typeface="Arial"/>
              <a:buNone/>
            </a:pPr>
            <a:r>
              <a:rPr lang="en-IN"/>
              <a:t>Empirical (Posteriori) </a:t>
            </a:r>
            <a:endParaRPr/>
          </a:p>
          <a:p>
            <a:pPr marL="0" lvl="0" indent="0" algn="l" rtl="0">
              <a:lnSpc>
                <a:spcPct val="100000"/>
              </a:lnSpc>
              <a:spcBef>
                <a:spcPts val="1000"/>
              </a:spcBef>
              <a:spcAft>
                <a:spcPts val="0"/>
              </a:spcAft>
              <a:buClr>
                <a:schemeClr val="dk1"/>
              </a:buClr>
              <a:buSzPct val="61109"/>
              <a:buFont typeface="Arial"/>
              <a:buNone/>
            </a:pPr>
            <a:r>
              <a:rPr lang="en-IN"/>
              <a:t>	programming all the techniques and trying them of different instances.</a:t>
            </a:r>
            <a:endParaRPr/>
          </a:p>
          <a:p>
            <a:pPr marL="0" lvl="0" indent="0" algn="l" rtl="0">
              <a:lnSpc>
                <a:spcPct val="100000"/>
              </a:lnSpc>
              <a:spcBef>
                <a:spcPts val="1000"/>
              </a:spcBef>
              <a:spcAft>
                <a:spcPts val="0"/>
              </a:spcAft>
              <a:buClr>
                <a:schemeClr val="dk1"/>
              </a:buClr>
              <a:buSzPct val="61109"/>
              <a:buFont typeface="Arial"/>
              <a:buNone/>
            </a:pPr>
            <a:r>
              <a:rPr lang="en-IN"/>
              <a:t>Theoretical (Priori):</a:t>
            </a:r>
            <a:endParaRPr/>
          </a:p>
          <a:p>
            <a:pPr marL="0" lvl="0" indent="0" algn="l" rtl="0">
              <a:lnSpc>
                <a:spcPct val="100000"/>
              </a:lnSpc>
              <a:spcBef>
                <a:spcPts val="1000"/>
              </a:spcBef>
              <a:spcAft>
                <a:spcPts val="0"/>
              </a:spcAft>
              <a:buClr>
                <a:schemeClr val="dk1"/>
              </a:buClr>
              <a:buSzPct val="61109"/>
              <a:buFont typeface="Arial"/>
              <a:buNone/>
            </a:pPr>
            <a:r>
              <a:rPr lang="en-IN"/>
              <a:t>	determining mathematically the quantity of resources needed as a function of the size of instance.</a:t>
            </a:r>
            <a:endParaRPr/>
          </a:p>
          <a:p>
            <a:pPr marL="0" lvl="0" indent="0" algn="l" rtl="0">
              <a:lnSpc>
                <a:spcPct val="100000"/>
              </a:lnSpc>
              <a:spcBef>
                <a:spcPts val="1000"/>
              </a:spcBef>
              <a:spcAft>
                <a:spcPts val="0"/>
              </a:spcAft>
              <a:buClr>
                <a:schemeClr val="dk1"/>
              </a:buClr>
              <a:buSzPct val="61109"/>
              <a:buFont typeface="Arial"/>
              <a:buNone/>
            </a:pPr>
            <a:r>
              <a:rPr lang="en-IN"/>
              <a:t>	Resources: computing time, storage space.	</a:t>
            </a:r>
            <a:endParaRPr/>
          </a:p>
          <a:p>
            <a:pPr marL="0" lvl="0" indent="0" algn="l" rtl="0">
              <a:lnSpc>
                <a:spcPct val="100000"/>
              </a:lnSpc>
              <a:spcBef>
                <a:spcPts val="1000"/>
              </a:spcBef>
              <a:spcAft>
                <a:spcPts val="0"/>
              </a:spcAft>
              <a:buClr>
                <a:schemeClr val="dk1"/>
              </a:buClr>
              <a:buSzPct val="61109"/>
              <a:buFont typeface="Arial"/>
              <a:buNone/>
            </a:pPr>
            <a:r>
              <a:rPr lang="en-IN"/>
              <a:t>Hybrid approach:</a:t>
            </a:r>
            <a:endParaRPr/>
          </a:p>
          <a:p>
            <a:pPr marL="0" lvl="0" indent="0" algn="l" rtl="0">
              <a:lnSpc>
                <a:spcPct val="100000"/>
              </a:lnSpc>
              <a:spcBef>
                <a:spcPts val="1000"/>
              </a:spcBef>
              <a:spcAft>
                <a:spcPts val="0"/>
              </a:spcAft>
              <a:buClr>
                <a:schemeClr val="dk1"/>
              </a:buClr>
              <a:buSzPct val="61109"/>
              <a:buFont typeface="Arial"/>
              <a:buNone/>
            </a:pPr>
            <a:r>
              <a:rPr lang="en-IN"/>
              <a:t>	Algo’s efficiency is determined theoretically and required numerical parameters are determined empirically.</a:t>
            </a:r>
            <a:endParaRPr/>
          </a:p>
          <a:p>
            <a:pPr marL="0" lvl="0" indent="0" algn="l" rtl="0">
              <a:lnSpc>
                <a:spcPct val="100000"/>
              </a:lnSpc>
              <a:spcBef>
                <a:spcPts val="1000"/>
              </a:spcBef>
              <a:spcAft>
                <a:spcPts val="0"/>
              </a:spcAft>
              <a:buClr>
                <a:schemeClr val="dk1"/>
              </a:buClr>
              <a:buSzPct val="61109"/>
              <a:buFont typeface="Arial"/>
              <a:buNone/>
            </a:pPr>
            <a:endParaRPr/>
          </a:p>
          <a:p>
            <a:pPr marL="0" lvl="0" indent="0" algn="l" rtl="0">
              <a:lnSpc>
                <a:spcPct val="100000"/>
              </a:lnSpc>
              <a:spcBef>
                <a:spcPts val="1000"/>
              </a:spcBef>
              <a:spcAft>
                <a:spcPts val="0"/>
              </a:spcAft>
              <a:buSzPct val="129031"/>
              <a:buNone/>
            </a:pPr>
            <a:endParaRPr/>
          </a:p>
        </p:txBody>
      </p:sp>
      <p:sp>
        <p:nvSpPr>
          <p:cNvPr id="148" name="Google Shape;148;g267cb0a875b_1_3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67cb0a875b_1_3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 Empirical Approach</a:t>
            </a:r>
            <a:endParaRPr/>
          </a:p>
        </p:txBody>
      </p:sp>
      <p:sp>
        <p:nvSpPr>
          <p:cNvPr id="155" name="Google Shape;155;g267cb0a875b_1_39"/>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IN"/>
              <a:t>The algorithm has to be implemented, which may take a long time and could be very difficult.</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Clr>
                <a:schemeClr val="dk1"/>
              </a:buClr>
              <a:buSzPts val="1100"/>
              <a:buFont typeface="Arial"/>
              <a:buNone/>
            </a:pPr>
            <a:r>
              <a:rPr lang="en-IN"/>
              <a:t>Results may not be indicative for the running time on other inputs that are not included in the experiments. </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Clr>
                <a:schemeClr val="dk1"/>
              </a:buClr>
              <a:buSzPts val="1100"/>
              <a:buFont typeface="Arial"/>
              <a:buNone/>
            </a:pPr>
            <a:r>
              <a:rPr lang="en-IN"/>
              <a:t>In order to compare two algorithms, the same hardware and software must be used.</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SzPts val="1800"/>
              <a:buNone/>
            </a:pPr>
            <a:endParaRPr/>
          </a:p>
        </p:txBody>
      </p:sp>
      <p:sp>
        <p:nvSpPr>
          <p:cNvPr id="156" name="Google Shape;156;g267cb0a875b_1_3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67cb0a875b_1_4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Theoretical Approach</a:t>
            </a:r>
            <a:endParaRPr/>
          </a:p>
        </p:txBody>
      </p:sp>
      <p:sp>
        <p:nvSpPr>
          <p:cNvPr id="163" name="Google Shape;163;g267cb0a875b_1_4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IN"/>
              <a:t>Uses a high-level description of the algorithm instead of an implementation</a:t>
            </a:r>
            <a:endParaRPr/>
          </a:p>
          <a:p>
            <a:pPr marL="0" lvl="0" indent="0" algn="l" rtl="0">
              <a:lnSpc>
                <a:spcPct val="100000"/>
              </a:lnSpc>
              <a:spcBef>
                <a:spcPts val="1000"/>
              </a:spcBef>
              <a:spcAft>
                <a:spcPts val="0"/>
              </a:spcAft>
              <a:buClr>
                <a:schemeClr val="dk1"/>
              </a:buClr>
              <a:buSzPts val="1100"/>
              <a:buFont typeface="Arial"/>
              <a:buNone/>
            </a:pPr>
            <a:r>
              <a:rPr lang="en-IN"/>
              <a:t>Characterizes running time as a function of the input size, n.</a:t>
            </a:r>
            <a:endParaRPr/>
          </a:p>
          <a:p>
            <a:pPr marL="0" lvl="0" indent="0" algn="l" rtl="0">
              <a:lnSpc>
                <a:spcPct val="100000"/>
              </a:lnSpc>
              <a:spcBef>
                <a:spcPts val="1000"/>
              </a:spcBef>
              <a:spcAft>
                <a:spcPts val="0"/>
              </a:spcAft>
              <a:buClr>
                <a:schemeClr val="dk1"/>
              </a:buClr>
              <a:buSzPts val="1100"/>
              <a:buFont typeface="Arial"/>
              <a:buNone/>
            </a:pPr>
            <a:r>
              <a:rPr lang="en-IN"/>
              <a:t>Takes into account all possible inputs</a:t>
            </a:r>
            <a:endParaRPr/>
          </a:p>
          <a:p>
            <a:pPr marL="0" lvl="0" indent="0" algn="l" rtl="0">
              <a:lnSpc>
                <a:spcPct val="100000"/>
              </a:lnSpc>
              <a:spcBef>
                <a:spcPts val="1000"/>
              </a:spcBef>
              <a:spcAft>
                <a:spcPts val="0"/>
              </a:spcAft>
              <a:buClr>
                <a:schemeClr val="dk1"/>
              </a:buClr>
              <a:buSzPts val="1100"/>
              <a:buFont typeface="Arial"/>
              <a:buNone/>
            </a:pPr>
            <a:r>
              <a:rPr lang="en-IN"/>
              <a:t>Allows us to evaluate the speed of an algorithm independent of the hardware/software environment</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SzPts val="1800"/>
              <a:buNone/>
            </a:pPr>
            <a:endParaRPr/>
          </a:p>
        </p:txBody>
      </p:sp>
      <p:sp>
        <p:nvSpPr>
          <p:cNvPr id="164" name="Google Shape;164;g267cb0a875b_1_4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267cb0a875b_1_57"/>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Principle of Invariance</a:t>
            </a:r>
            <a:endParaRPr/>
          </a:p>
        </p:txBody>
      </p:sp>
      <p:sp>
        <p:nvSpPr>
          <p:cNvPr id="171" name="Google Shape;171;g267cb0a875b_1_57"/>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00000"/>
              </a:lnSpc>
              <a:spcBef>
                <a:spcPts val="1000"/>
              </a:spcBef>
              <a:spcAft>
                <a:spcPts val="0"/>
              </a:spcAft>
              <a:buClr>
                <a:schemeClr val="dk1"/>
              </a:buClr>
              <a:buSzPct val="61109"/>
              <a:buFont typeface="Arial"/>
              <a:buNone/>
            </a:pPr>
            <a:r>
              <a:rPr lang="en-IN"/>
              <a:t>What is the unit for storage space measurement?</a:t>
            </a:r>
            <a:endParaRPr/>
          </a:p>
          <a:p>
            <a:pPr marL="0" lvl="0" indent="0" algn="l" rtl="0">
              <a:lnSpc>
                <a:spcPct val="100000"/>
              </a:lnSpc>
              <a:spcBef>
                <a:spcPts val="1000"/>
              </a:spcBef>
              <a:spcAft>
                <a:spcPts val="0"/>
              </a:spcAft>
              <a:buClr>
                <a:schemeClr val="dk1"/>
              </a:buClr>
              <a:buSzPct val="61109"/>
              <a:buFont typeface="Arial"/>
              <a:buNone/>
            </a:pPr>
            <a:r>
              <a:rPr lang="en-IN"/>
              <a:t>What is the unit for time measurement?</a:t>
            </a:r>
            <a:endParaRPr/>
          </a:p>
          <a:p>
            <a:pPr marL="0" lvl="0" indent="0" algn="l" rtl="0">
              <a:lnSpc>
                <a:spcPct val="100000"/>
              </a:lnSpc>
              <a:spcBef>
                <a:spcPts val="1000"/>
              </a:spcBef>
              <a:spcAft>
                <a:spcPts val="0"/>
              </a:spcAft>
              <a:buClr>
                <a:schemeClr val="dk1"/>
              </a:buClr>
              <a:buSzPct val="61109"/>
              <a:buFont typeface="Arial"/>
              <a:buNone/>
            </a:pPr>
            <a:r>
              <a:rPr lang="en-IN"/>
              <a:t>Principle of Invariance: Two different implementations of the same algorithms will not differ in efficiency by more than some multiplicative constant.</a:t>
            </a:r>
            <a:endParaRPr/>
          </a:p>
          <a:p>
            <a:pPr marL="0" lvl="0" indent="0" algn="l" rtl="0">
              <a:lnSpc>
                <a:spcPct val="100000"/>
              </a:lnSpc>
              <a:spcBef>
                <a:spcPts val="1000"/>
              </a:spcBef>
              <a:spcAft>
                <a:spcPts val="0"/>
              </a:spcAft>
              <a:buClr>
                <a:schemeClr val="dk1"/>
              </a:buClr>
              <a:buSzPct val="61109"/>
              <a:buFont typeface="Arial"/>
              <a:buNone/>
            </a:pPr>
            <a:r>
              <a:rPr lang="en-IN"/>
              <a:t>Example: t1(n) and t2(n) are the time for any algorithm for different implementations, then there exist “c” &amp; “d” such that ..</a:t>
            </a:r>
            <a:endParaRPr/>
          </a:p>
          <a:p>
            <a:pPr marL="0" lvl="0" indent="0" algn="l" rtl="0">
              <a:lnSpc>
                <a:spcPct val="100000"/>
              </a:lnSpc>
              <a:spcBef>
                <a:spcPts val="1000"/>
              </a:spcBef>
              <a:spcAft>
                <a:spcPts val="0"/>
              </a:spcAft>
              <a:buClr>
                <a:schemeClr val="dk1"/>
              </a:buClr>
              <a:buSzPct val="61109"/>
              <a:buFont typeface="Arial"/>
              <a:buNone/>
            </a:pPr>
            <a:r>
              <a:rPr lang="en-IN"/>
              <a:t>	t1(n) &lt;= c * t2(n)</a:t>
            </a:r>
            <a:endParaRPr/>
          </a:p>
          <a:p>
            <a:pPr marL="0" lvl="0" indent="0" algn="l" rtl="0">
              <a:lnSpc>
                <a:spcPct val="100000"/>
              </a:lnSpc>
              <a:spcBef>
                <a:spcPts val="1000"/>
              </a:spcBef>
              <a:spcAft>
                <a:spcPts val="0"/>
              </a:spcAft>
              <a:buClr>
                <a:schemeClr val="dk1"/>
              </a:buClr>
              <a:buSzPct val="61109"/>
              <a:buFont typeface="Arial"/>
              <a:buNone/>
            </a:pPr>
            <a:r>
              <a:rPr lang="en-IN"/>
              <a:t>	t2(n) &lt;= d* t1(n)</a:t>
            </a:r>
            <a:endParaRPr/>
          </a:p>
          <a:p>
            <a:pPr marL="0" lvl="0" indent="0" algn="l" rtl="0">
              <a:lnSpc>
                <a:spcPct val="100000"/>
              </a:lnSpc>
              <a:spcBef>
                <a:spcPts val="1000"/>
              </a:spcBef>
              <a:spcAft>
                <a:spcPts val="0"/>
              </a:spcAft>
              <a:buSzPct val="108107"/>
              <a:buNone/>
            </a:pPr>
            <a:r>
              <a:rPr lang="en-IN"/>
              <a:t>Means, the running time of either implementation is bounded by a constant multiple of the running time of the other.</a:t>
            </a:r>
            <a:endParaRPr/>
          </a:p>
        </p:txBody>
      </p:sp>
      <p:sp>
        <p:nvSpPr>
          <p:cNvPr id="172" name="Google Shape;172;g267cb0a875b_1_57"/>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267cb0a875b_1_66"/>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Common time complexities</a:t>
            </a:r>
            <a:endParaRPr/>
          </a:p>
        </p:txBody>
      </p:sp>
      <p:sp>
        <p:nvSpPr>
          <p:cNvPr id="179" name="Google Shape;179;g267cb0a875b_1_66"/>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IN"/>
              <a:t>O(1)		constant time</a:t>
            </a:r>
            <a:endParaRPr/>
          </a:p>
          <a:p>
            <a:pPr marL="0" lvl="0" indent="0" algn="l" rtl="0">
              <a:lnSpc>
                <a:spcPct val="100000"/>
              </a:lnSpc>
              <a:spcBef>
                <a:spcPts val="1000"/>
              </a:spcBef>
              <a:spcAft>
                <a:spcPts val="0"/>
              </a:spcAft>
              <a:buClr>
                <a:schemeClr val="dk1"/>
              </a:buClr>
              <a:buSzPts val="1100"/>
              <a:buFont typeface="Arial"/>
              <a:buNone/>
            </a:pPr>
            <a:r>
              <a:rPr lang="en-IN"/>
              <a:t>O(log n)		log time</a:t>
            </a:r>
            <a:endParaRPr/>
          </a:p>
          <a:p>
            <a:pPr marL="0" lvl="0" indent="0" algn="l" rtl="0">
              <a:lnSpc>
                <a:spcPct val="100000"/>
              </a:lnSpc>
              <a:spcBef>
                <a:spcPts val="1000"/>
              </a:spcBef>
              <a:spcAft>
                <a:spcPts val="0"/>
              </a:spcAft>
              <a:buClr>
                <a:schemeClr val="dk1"/>
              </a:buClr>
              <a:buSzPts val="1100"/>
              <a:buFont typeface="Arial"/>
              <a:buNone/>
            </a:pPr>
            <a:r>
              <a:rPr lang="en-IN"/>
              <a:t>O(n)		linear time</a:t>
            </a:r>
            <a:endParaRPr/>
          </a:p>
          <a:p>
            <a:pPr marL="0" lvl="0" indent="0" algn="l" rtl="0">
              <a:lnSpc>
                <a:spcPct val="100000"/>
              </a:lnSpc>
              <a:spcBef>
                <a:spcPts val="1000"/>
              </a:spcBef>
              <a:spcAft>
                <a:spcPts val="0"/>
              </a:spcAft>
              <a:buClr>
                <a:schemeClr val="dk1"/>
              </a:buClr>
              <a:buSzPts val="1100"/>
              <a:buFont typeface="Arial"/>
              <a:buNone/>
            </a:pPr>
            <a:r>
              <a:rPr lang="en-IN"/>
              <a:t>O(n log n)	log linear time</a:t>
            </a:r>
            <a:endParaRPr/>
          </a:p>
          <a:p>
            <a:pPr marL="0" lvl="0" indent="0" algn="l" rtl="0">
              <a:lnSpc>
                <a:spcPct val="100000"/>
              </a:lnSpc>
              <a:spcBef>
                <a:spcPts val="1000"/>
              </a:spcBef>
              <a:spcAft>
                <a:spcPts val="0"/>
              </a:spcAft>
              <a:buClr>
                <a:schemeClr val="dk1"/>
              </a:buClr>
              <a:buSzPts val="1100"/>
              <a:buFont typeface="Arial"/>
              <a:buNone/>
            </a:pPr>
            <a:r>
              <a:rPr lang="en-IN"/>
              <a:t>O(n2)		quadratic time</a:t>
            </a:r>
            <a:endParaRPr/>
          </a:p>
          <a:p>
            <a:pPr marL="0" lvl="0" indent="0" algn="l" rtl="0">
              <a:lnSpc>
                <a:spcPct val="100000"/>
              </a:lnSpc>
              <a:spcBef>
                <a:spcPts val="1000"/>
              </a:spcBef>
              <a:spcAft>
                <a:spcPts val="0"/>
              </a:spcAft>
              <a:buClr>
                <a:schemeClr val="dk1"/>
              </a:buClr>
              <a:buSzPts val="1100"/>
              <a:buFont typeface="Arial"/>
              <a:buNone/>
            </a:pPr>
            <a:r>
              <a:rPr lang="en-IN"/>
              <a:t>O(n3)		cubic time</a:t>
            </a:r>
            <a:endParaRPr/>
          </a:p>
          <a:p>
            <a:pPr marL="0" lvl="0" indent="0" algn="l" rtl="0">
              <a:lnSpc>
                <a:spcPct val="100000"/>
              </a:lnSpc>
              <a:spcBef>
                <a:spcPts val="1000"/>
              </a:spcBef>
              <a:spcAft>
                <a:spcPts val="0"/>
              </a:spcAft>
              <a:buClr>
                <a:schemeClr val="dk1"/>
              </a:buClr>
              <a:buSzPts val="1100"/>
              <a:buFont typeface="Arial"/>
              <a:buNone/>
            </a:pPr>
            <a:r>
              <a:rPr lang="en-IN"/>
              <a:t>O(2n)		exponential time</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SzPts val="1800"/>
              <a:buNone/>
            </a:pPr>
            <a:endParaRPr/>
          </a:p>
        </p:txBody>
      </p:sp>
      <p:sp>
        <p:nvSpPr>
          <p:cNvPr id="180" name="Google Shape;180;g267cb0a875b_1_66"/>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10</a:t>
            </a:fld>
            <a:endParaRPr/>
          </a:p>
        </p:txBody>
      </p:sp>
      <p:cxnSp>
        <p:nvCxnSpPr>
          <p:cNvPr id="181" name="Google Shape;181;g267cb0a875b_1_66"/>
          <p:cNvCxnSpPr/>
          <p:nvPr/>
        </p:nvCxnSpPr>
        <p:spPr>
          <a:xfrm flipH="1">
            <a:off x="7528538" y="2984100"/>
            <a:ext cx="10500" cy="2409900"/>
          </a:xfrm>
          <a:prstGeom prst="straightConnector1">
            <a:avLst/>
          </a:prstGeom>
          <a:noFill/>
          <a:ln w="38100" cap="flat" cmpd="sng">
            <a:solidFill>
              <a:srgbClr val="000000"/>
            </a:solidFill>
            <a:prstDash val="solid"/>
            <a:round/>
            <a:headEnd type="triangle" w="lg" len="lg"/>
            <a:tailEnd type="triangle" w="lg" len="lg"/>
          </a:ln>
        </p:spPr>
      </p:cxnSp>
      <p:sp>
        <p:nvSpPr>
          <p:cNvPr id="182" name="Google Shape;182;g267cb0a875b_1_66"/>
          <p:cNvSpPr txBox="1"/>
          <p:nvPr/>
        </p:nvSpPr>
        <p:spPr>
          <a:xfrm>
            <a:off x="7261850" y="2636525"/>
            <a:ext cx="4968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Bookman Old Style"/>
                <a:ea typeface="Bookman Old Style"/>
                <a:cs typeface="Bookman Old Style"/>
                <a:sym typeface="Bookman Old Style"/>
              </a:rPr>
              <a:t>Best</a:t>
            </a:r>
            <a:endParaRPr sz="1400" b="0" i="0" u="none" strike="noStrike" cap="none">
              <a:solidFill>
                <a:srgbClr val="000000"/>
              </a:solidFill>
              <a:latin typeface="Bookman Old Style"/>
              <a:ea typeface="Bookman Old Style"/>
              <a:cs typeface="Bookman Old Style"/>
              <a:sym typeface="Bookman Old Style"/>
            </a:endParaRPr>
          </a:p>
        </p:txBody>
      </p:sp>
      <p:sp>
        <p:nvSpPr>
          <p:cNvPr id="183" name="Google Shape;183;g267cb0a875b_1_66"/>
          <p:cNvSpPr txBox="1"/>
          <p:nvPr/>
        </p:nvSpPr>
        <p:spPr>
          <a:xfrm>
            <a:off x="7261850" y="5303550"/>
            <a:ext cx="4968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Bookman Old Style"/>
                <a:ea typeface="Bookman Old Style"/>
                <a:cs typeface="Bookman Old Style"/>
                <a:sym typeface="Bookman Old Style"/>
              </a:rPr>
              <a:t>Worse</a:t>
            </a:r>
            <a:endParaRPr sz="1400" b="0" i="0" u="none" strike="noStrike" cap="none">
              <a:solidFill>
                <a:srgbClr val="000000"/>
              </a:solidFill>
              <a:latin typeface="Bookman Old Style"/>
              <a:ea typeface="Bookman Old Style"/>
              <a:cs typeface="Bookman Old Style"/>
              <a:sym typeface="Bookman Old Styl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267cb0a875b_1_7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The Growth Rate of the Six  Popular  functions</a:t>
            </a:r>
            <a:endParaRPr/>
          </a:p>
        </p:txBody>
      </p:sp>
      <p:sp>
        <p:nvSpPr>
          <p:cNvPr id="190" name="Google Shape;190;g267cb0a875b_1_7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sp>
        <p:nvSpPr>
          <p:cNvPr id="191" name="Google Shape;191;g267cb0a875b_1_7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11</a:t>
            </a:fld>
            <a:endParaRPr/>
          </a:p>
        </p:txBody>
      </p:sp>
      <p:graphicFrame>
        <p:nvGraphicFramePr>
          <p:cNvPr id="192" name="Google Shape;192;g267cb0a875b_1_78"/>
          <p:cNvGraphicFramePr/>
          <p:nvPr/>
        </p:nvGraphicFramePr>
        <p:xfrm>
          <a:off x="2024438" y="2420047"/>
          <a:ext cx="8143150" cy="4049130"/>
        </p:xfrm>
        <a:graphic>
          <a:graphicData uri="http://schemas.openxmlformats.org/drawingml/2006/table">
            <a:tbl>
              <a:tblPr>
                <a:noFill/>
                <a:tableStyleId>{2240FD3D-1575-4A9A-A4AE-B4AFB4EB64D3}</a:tableStyleId>
              </a:tblPr>
              <a:tblGrid>
                <a:gridCol w="965950"/>
                <a:gridCol w="759100"/>
                <a:gridCol w="827550"/>
                <a:gridCol w="1174400"/>
                <a:gridCol w="1379750"/>
                <a:gridCol w="1518200"/>
                <a:gridCol w="1518200"/>
              </a:tblGrid>
              <a:tr h="737850">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0" u="none" strike="noStrike" cap="none">
                          <a:solidFill>
                            <a:srgbClr val="000000"/>
                          </a:solidFill>
                          <a:latin typeface="Times New Roman"/>
                          <a:ea typeface="Times New Roman"/>
                          <a:cs typeface="Times New Roman"/>
                          <a:sym typeface="Times New Roman"/>
                        </a:rPr>
                        <a:t>   </a:t>
                      </a:r>
                      <a:r>
                        <a:rPr lang="en-IN" sz="2000" b="0" i="1" u="none" strike="noStrike" cap="none">
                          <a:solidFill>
                            <a:srgbClr val="000000"/>
                          </a:solidFill>
                          <a:latin typeface="Times New Roman"/>
                          <a:ea typeface="Times New Roman"/>
                          <a:cs typeface="Times New Roman"/>
                          <a:sym typeface="Times New Roman"/>
                        </a:rPr>
                        <a:t>n</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0" u="none" strike="noStrike" cap="none">
                          <a:solidFill>
                            <a:srgbClr val="000000"/>
                          </a:solidFill>
                          <a:latin typeface="Times New Roman"/>
                          <a:ea typeface="Times New Roman"/>
                          <a:cs typeface="Times New Roman"/>
                          <a:sym typeface="Times New Roman"/>
                        </a:rPr>
                        <a:t>log</a:t>
                      </a:r>
                      <a:r>
                        <a:rPr lang="en-IN" sz="2000" b="0" i="1" u="none" strike="noStrike" cap="none">
                          <a:solidFill>
                            <a:srgbClr val="000000"/>
                          </a:solidFill>
                          <a:latin typeface="Times New Roman"/>
                          <a:ea typeface="Times New Roman"/>
                          <a:cs typeface="Times New Roman"/>
                          <a:sym typeface="Times New Roman"/>
                        </a:rPr>
                        <a:t>n</a:t>
                      </a:r>
                      <a:endParaRPr sz="2000" b="0" i="1" u="none" strike="noStrike" cap="none">
                        <a:solidFill>
                          <a:srgbClr val="000000"/>
                        </a:solidFill>
                        <a:latin typeface="Times New Roman"/>
                        <a:ea typeface="Times New Roman"/>
                        <a:cs typeface="Times New Roman"/>
                        <a:sym typeface="Times New Roman"/>
                      </a:endParaRPr>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1" u="none" strike="noStrike" cap="none">
                          <a:solidFill>
                            <a:srgbClr val="000000"/>
                          </a:solidFill>
                          <a:latin typeface="Times New Roman"/>
                          <a:ea typeface="Times New Roman"/>
                          <a:cs typeface="Times New Roman"/>
                          <a:sym typeface="Times New Roman"/>
                        </a:rPr>
                        <a:t>n</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1" u="none" strike="noStrike" cap="none">
                          <a:solidFill>
                            <a:srgbClr val="000000"/>
                          </a:solidFill>
                          <a:latin typeface="Times New Roman"/>
                          <a:ea typeface="Times New Roman"/>
                          <a:cs typeface="Times New Roman"/>
                          <a:sym typeface="Times New Roman"/>
                        </a:rPr>
                        <a:t>n</a:t>
                      </a:r>
                      <a:r>
                        <a:rPr lang="en-IN" sz="2000" b="0" i="0" u="none" strike="noStrike" cap="none">
                          <a:solidFill>
                            <a:srgbClr val="000000"/>
                          </a:solidFill>
                          <a:latin typeface="Times New Roman"/>
                          <a:ea typeface="Times New Roman"/>
                          <a:cs typeface="Times New Roman"/>
                          <a:sym typeface="Times New Roman"/>
                        </a:rPr>
                        <a:t>log</a:t>
                      </a:r>
                      <a:r>
                        <a:rPr lang="en-IN" sz="2000" b="0" i="1" u="none" strike="noStrike" cap="none">
                          <a:solidFill>
                            <a:srgbClr val="000000"/>
                          </a:solidFill>
                          <a:latin typeface="Times New Roman"/>
                          <a:ea typeface="Times New Roman"/>
                          <a:cs typeface="Times New Roman"/>
                          <a:sym typeface="Times New Roman"/>
                        </a:rPr>
                        <a:t>n</a:t>
                      </a:r>
                      <a:endParaRPr sz="2000" b="0" i="1" u="none" strike="noStrike" cap="none">
                        <a:solidFill>
                          <a:srgbClr val="000000"/>
                        </a:solidFill>
                        <a:latin typeface="Times New Roman"/>
                        <a:ea typeface="Times New Roman"/>
                        <a:cs typeface="Times New Roman"/>
                        <a:sym typeface="Times New Roman"/>
                      </a:endParaRPr>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1" u="none" strike="noStrike" cap="none">
                          <a:solidFill>
                            <a:srgbClr val="000000"/>
                          </a:solidFill>
                          <a:latin typeface="Times New Roman"/>
                          <a:ea typeface="Times New Roman"/>
                          <a:cs typeface="Times New Roman"/>
                          <a:sym typeface="Times New Roman"/>
                        </a:rPr>
                        <a:t>n</a:t>
                      </a:r>
                      <a:r>
                        <a:rPr lang="en-IN" sz="2000" b="0" i="0" u="none" strike="noStrike" cap="none" baseline="30000">
                          <a:solidFill>
                            <a:srgbClr val="000000"/>
                          </a:solidFill>
                          <a:latin typeface="Times New Roman"/>
                          <a:ea typeface="Times New Roman"/>
                          <a:cs typeface="Times New Roman"/>
                          <a:sym typeface="Times New Roman"/>
                        </a:rPr>
                        <a:t>2</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1" u="none" strike="noStrike" cap="none">
                          <a:solidFill>
                            <a:srgbClr val="000000"/>
                          </a:solidFill>
                          <a:latin typeface="Times New Roman"/>
                          <a:ea typeface="Times New Roman"/>
                          <a:cs typeface="Times New Roman"/>
                          <a:sym typeface="Times New Roman"/>
                        </a:rPr>
                        <a:t>n</a:t>
                      </a:r>
                      <a:r>
                        <a:rPr lang="en-IN" sz="2000" b="0" i="0" u="none" strike="noStrike" cap="none" baseline="30000">
                          <a:solidFill>
                            <a:srgbClr val="000000"/>
                          </a:solidFill>
                          <a:latin typeface="Times New Roman"/>
                          <a:ea typeface="Times New Roman"/>
                          <a:cs typeface="Times New Roman"/>
                          <a:sym typeface="Times New Roman"/>
                        </a:rPr>
                        <a:t>3</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2200"/>
                        <a:buFont typeface="Noto Sans Symbols"/>
                        <a:buNone/>
                      </a:pPr>
                      <a:r>
                        <a:rPr lang="en-IN" sz="2000" b="0" i="0" u="none" strike="noStrike" cap="none">
                          <a:solidFill>
                            <a:srgbClr val="000000"/>
                          </a:solidFill>
                          <a:latin typeface="Times New Roman"/>
                          <a:ea typeface="Times New Roman"/>
                          <a:cs typeface="Times New Roman"/>
                          <a:sym typeface="Times New Roman"/>
                        </a:rPr>
                        <a:t>2</a:t>
                      </a:r>
                      <a:r>
                        <a:rPr lang="en-IN" sz="2000" b="0" i="1" u="none" strike="noStrike" cap="none" baseline="30000">
                          <a:solidFill>
                            <a:srgbClr val="000000"/>
                          </a:solidFill>
                          <a:latin typeface="Times New Roman"/>
                          <a:ea typeface="Times New Roman"/>
                          <a:cs typeface="Times New Roman"/>
                          <a:sym typeface="Times New Roman"/>
                        </a:rPr>
                        <a:t>n</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8</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3</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512</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256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256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4,096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65,536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32</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5</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32</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160</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1,024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32,768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4,294,967,296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64</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384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4,094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262,144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1.84 * 10</a:t>
                      </a:r>
                      <a:r>
                        <a:rPr lang="en-IN" sz="1800" b="0" i="0" u="none" strike="noStrike" cap="none" baseline="30000">
                          <a:solidFill>
                            <a:srgbClr val="000000"/>
                          </a:solidFill>
                          <a:latin typeface="Times New Roman"/>
                          <a:ea typeface="Times New Roman"/>
                          <a:cs typeface="Times New Roman"/>
                          <a:sym typeface="Times New Roman"/>
                        </a:rPr>
                        <a:t>19</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128</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7</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128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896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16,384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2,097,152</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3.40 * 10</a:t>
                      </a:r>
                      <a:r>
                        <a:rPr lang="en-IN" sz="1800" b="0" i="0" u="none" strike="noStrike" cap="none" baseline="30000">
                          <a:solidFill>
                            <a:srgbClr val="000000"/>
                          </a:solidFill>
                          <a:latin typeface="Times New Roman"/>
                          <a:ea typeface="Times New Roman"/>
                          <a:cs typeface="Times New Roman"/>
                          <a:sym typeface="Times New Roman"/>
                        </a:rPr>
                        <a:t>38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256</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8</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256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2,048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65,536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16,777,216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1.15 * 10</a:t>
                      </a:r>
                      <a:r>
                        <a:rPr lang="en-IN" sz="1800" b="0" i="0" u="none" strike="noStrike" cap="none" baseline="30000">
                          <a:solidFill>
                            <a:srgbClr val="000000"/>
                          </a:solidFill>
                          <a:latin typeface="Times New Roman"/>
                          <a:ea typeface="Times New Roman"/>
                          <a:cs typeface="Times New Roman"/>
                          <a:sym typeface="Times New Roman"/>
                        </a:rPr>
                        <a:t>77</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512</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9</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512</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4,608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262,144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134,217,728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1.34 * 10</a:t>
                      </a:r>
                      <a:r>
                        <a:rPr lang="en-IN" sz="1800" b="0" i="0" u="none" strike="noStrike" cap="none" baseline="30000">
                          <a:solidFill>
                            <a:srgbClr val="000000"/>
                          </a:solidFill>
                          <a:latin typeface="Times New Roman"/>
                          <a:ea typeface="Times New Roman"/>
                          <a:cs typeface="Times New Roman"/>
                          <a:sym typeface="Times New Roman"/>
                        </a:rPr>
                        <a:t>154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52275">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1024</a:t>
                      </a:r>
                      <a:endParaRPr sz="1400" u="none" strike="noStrike" cap="none"/>
                    </a:p>
                  </a:txBody>
                  <a:tcPr marL="90000" marR="90000" marT="46800" marB="46800" anchor="ctr" anchorCtr="1">
                    <a:lnL w="2857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a:t>
                      </a:r>
                      <a:endParaRPr sz="1400" u="none" strike="noStrike" cap="none"/>
                    </a:p>
                  </a:txBody>
                  <a:tcPr marL="90000" marR="90000" marT="46800" marB="46800" anchor="ctr" anchorCtr="1">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1,024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10,240</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1,048,576</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1,073,741,824</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FF"/>
                        </a:buClr>
                        <a:buSzPts val="1980"/>
                        <a:buFont typeface="Noto Sans Symbols"/>
                        <a:buNone/>
                      </a:pPr>
                      <a:r>
                        <a:rPr lang="en-IN" sz="1800" b="0" i="0" u="none" strike="noStrike" cap="none">
                          <a:solidFill>
                            <a:srgbClr val="000000"/>
                          </a:solidFill>
                          <a:latin typeface="Times New Roman"/>
                          <a:ea typeface="Times New Roman"/>
                          <a:cs typeface="Times New Roman"/>
                          <a:sym typeface="Times New Roman"/>
                        </a:rPr>
                        <a:t>1.79 * 10</a:t>
                      </a:r>
                      <a:r>
                        <a:rPr lang="en-IN" sz="1800" b="0" i="0" u="none" strike="noStrike" cap="none" baseline="30000">
                          <a:solidFill>
                            <a:srgbClr val="000000"/>
                          </a:solidFill>
                          <a:latin typeface="Times New Roman"/>
                          <a:ea typeface="Times New Roman"/>
                          <a:cs typeface="Times New Roman"/>
                          <a:sym typeface="Times New Roman"/>
                        </a:rPr>
                        <a:t>308</a:t>
                      </a:r>
                      <a:endParaRPr sz="1400" u="none" strike="noStrike" cap="none"/>
                    </a:p>
                  </a:txBody>
                  <a:tcPr marL="90000" marR="90000" marT="46800" marB="46800" anchor="ctr" anchorCtr="1">
                    <a:lnL w="9525" cap="flat" cmpd="sng">
                      <a:solidFill>
                        <a:srgbClr val="000000">
                          <a:alpha val="0"/>
                        </a:srgbClr>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267cb0a875b_1_8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Average, Best and Worst Case</a:t>
            </a:r>
            <a:endParaRPr/>
          </a:p>
        </p:txBody>
      </p:sp>
      <p:sp>
        <p:nvSpPr>
          <p:cNvPr id="199" name="Google Shape;199;g267cb0a875b_1_8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00000"/>
              </a:lnSpc>
              <a:spcBef>
                <a:spcPts val="1000"/>
              </a:spcBef>
              <a:spcAft>
                <a:spcPts val="0"/>
              </a:spcAft>
              <a:buClr>
                <a:schemeClr val="dk1"/>
              </a:buClr>
              <a:buSzPct val="61109"/>
              <a:buFont typeface="Arial"/>
              <a:buNone/>
            </a:pPr>
            <a:r>
              <a:rPr lang="en-IN"/>
              <a:t>Usually we would like to find the average time to perform an algorithm</a:t>
            </a:r>
            <a:endParaRPr/>
          </a:p>
          <a:p>
            <a:pPr marL="0" lvl="0" indent="0" algn="l" rtl="0">
              <a:lnSpc>
                <a:spcPct val="100000"/>
              </a:lnSpc>
              <a:spcBef>
                <a:spcPts val="1000"/>
              </a:spcBef>
              <a:spcAft>
                <a:spcPts val="0"/>
              </a:spcAft>
              <a:buClr>
                <a:schemeClr val="dk1"/>
              </a:buClr>
              <a:buSzPct val="61109"/>
              <a:buFont typeface="Arial"/>
              <a:buNone/>
            </a:pPr>
            <a:r>
              <a:rPr lang="en-IN"/>
              <a:t>However, Sometimes the “average” isn’t well defined</a:t>
            </a:r>
            <a:endParaRPr/>
          </a:p>
          <a:p>
            <a:pPr marL="0" lvl="0" indent="457200" algn="l" rtl="0">
              <a:lnSpc>
                <a:spcPct val="100000"/>
              </a:lnSpc>
              <a:spcBef>
                <a:spcPts val="1000"/>
              </a:spcBef>
              <a:spcAft>
                <a:spcPts val="0"/>
              </a:spcAft>
              <a:buClr>
                <a:schemeClr val="dk1"/>
              </a:buClr>
              <a:buSzPct val="61109"/>
              <a:buFont typeface="Arial"/>
              <a:buNone/>
            </a:pPr>
            <a:r>
              <a:rPr lang="en-IN"/>
              <a:t>Example: Sorting an “average” array</a:t>
            </a:r>
            <a:endParaRPr/>
          </a:p>
          <a:p>
            <a:pPr marL="457200" lvl="0" indent="457200" algn="l" rtl="0">
              <a:lnSpc>
                <a:spcPct val="100000"/>
              </a:lnSpc>
              <a:spcBef>
                <a:spcPts val="1000"/>
              </a:spcBef>
              <a:spcAft>
                <a:spcPts val="0"/>
              </a:spcAft>
              <a:buClr>
                <a:schemeClr val="dk1"/>
              </a:buClr>
              <a:buSzPct val="61109"/>
              <a:buFont typeface="Arial"/>
              <a:buNone/>
            </a:pPr>
            <a:r>
              <a:rPr lang="en-IN"/>
              <a:t>Time typically depends on how out of order the array is</a:t>
            </a:r>
            <a:endParaRPr/>
          </a:p>
          <a:p>
            <a:pPr marL="0" lvl="0" indent="0" algn="l" rtl="0">
              <a:lnSpc>
                <a:spcPct val="100000"/>
              </a:lnSpc>
              <a:spcBef>
                <a:spcPts val="1000"/>
              </a:spcBef>
              <a:spcAft>
                <a:spcPts val="0"/>
              </a:spcAft>
              <a:buClr>
                <a:schemeClr val="dk1"/>
              </a:buClr>
              <a:buSzPct val="61109"/>
              <a:buFont typeface="Arial"/>
              <a:buNone/>
            </a:pPr>
            <a:r>
              <a:rPr lang="en-IN"/>
              <a:t>Sometimes finding the average is too difficult</a:t>
            </a:r>
            <a:endParaRPr/>
          </a:p>
          <a:p>
            <a:pPr marL="0" lvl="0" indent="0" algn="l" rtl="0">
              <a:lnSpc>
                <a:spcPct val="100000"/>
              </a:lnSpc>
              <a:spcBef>
                <a:spcPts val="1000"/>
              </a:spcBef>
              <a:spcAft>
                <a:spcPts val="0"/>
              </a:spcAft>
              <a:buClr>
                <a:schemeClr val="dk1"/>
              </a:buClr>
              <a:buSzPct val="61109"/>
              <a:buFont typeface="Arial"/>
              <a:buNone/>
            </a:pPr>
            <a:r>
              <a:rPr lang="en-IN"/>
              <a:t>Often we have to be satisfied with finding the worst (longest) time required</a:t>
            </a:r>
            <a:endParaRPr/>
          </a:p>
          <a:p>
            <a:pPr marL="0" lvl="0" indent="457200" algn="l" rtl="0">
              <a:lnSpc>
                <a:spcPct val="100000"/>
              </a:lnSpc>
              <a:spcBef>
                <a:spcPts val="1000"/>
              </a:spcBef>
              <a:spcAft>
                <a:spcPts val="0"/>
              </a:spcAft>
              <a:buClr>
                <a:schemeClr val="dk1"/>
              </a:buClr>
              <a:buSzPct val="61109"/>
              <a:buFont typeface="Arial"/>
              <a:buNone/>
            </a:pPr>
            <a:r>
              <a:rPr lang="en-IN"/>
              <a:t>Sometimes this is even what we want (say, for time-critical operations)</a:t>
            </a:r>
            <a:endParaRPr/>
          </a:p>
          <a:p>
            <a:pPr marL="0" lvl="0" indent="0" algn="l" rtl="0">
              <a:lnSpc>
                <a:spcPct val="100000"/>
              </a:lnSpc>
              <a:spcBef>
                <a:spcPts val="1000"/>
              </a:spcBef>
              <a:spcAft>
                <a:spcPts val="0"/>
              </a:spcAft>
              <a:buSzPct val="108107"/>
              <a:buNone/>
            </a:pPr>
            <a:r>
              <a:rPr lang="en-IN"/>
              <a:t>The best (fastest) case is seldom of interest</a:t>
            </a:r>
            <a:endParaRPr/>
          </a:p>
        </p:txBody>
      </p:sp>
      <p:sp>
        <p:nvSpPr>
          <p:cNvPr id="200" name="Google Shape;200;g267cb0a875b_1_8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267cbe2f8b4_0_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Set</a:t>
            </a:r>
            <a:endParaRPr/>
          </a:p>
        </p:txBody>
      </p:sp>
      <p:sp>
        <p:nvSpPr>
          <p:cNvPr id="207" name="Google Shape;207;g267cbe2f8b4_0_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00000"/>
              </a:lnSpc>
              <a:spcBef>
                <a:spcPts val="1000"/>
              </a:spcBef>
              <a:spcAft>
                <a:spcPts val="0"/>
              </a:spcAft>
              <a:buSzPct val="117647"/>
              <a:buNone/>
            </a:pPr>
            <a:r>
              <a:rPr lang="en-IN" b="1"/>
              <a:t>Set</a:t>
            </a:r>
            <a:r>
              <a:rPr lang="en-IN"/>
              <a:t> is a collection of well-defined objects or elements.</a:t>
            </a:r>
            <a:endParaRPr/>
          </a:p>
          <a:p>
            <a:pPr marL="0" lvl="0" indent="0" algn="l" rtl="0">
              <a:lnSpc>
                <a:spcPct val="100000"/>
              </a:lnSpc>
              <a:spcBef>
                <a:spcPts val="1000"/>
              </a:spcBef>
              <a:spcAft>
                <a:spcPts val="0"/>
              </a:spcAft>
              <a:buSzPct val="117647"/>
              <a:buNone/>
            </a:pPr>
            <a:r>
              <a:rPr lang="en-IN"/>
              <a:t>A </a:t>
            </a:r>
            <a:r>
              <a:rPr lang="en-IN" b="1"/>
              <a:t>set </a:t>
            </a:r>
            <a:r>
              <a:rPr lang="en-IN"/>
              <a:t>is represented by a capital letter symbol and the number of elements in the finite set is represented as the cardinal number of a set in a curly bracket {…}.</a:t>
            </a:r>
            <a:endParaRPr/>
          </a:p>
          <a:p>
            <a:pPr marL="0" lvl="0" indent="0" algn="l" rtl="0">
              <a:lnSpc>
                <a:spcPct val="100000"/>
              </a:lnSpc>
              <a:spcBef>
                <a:spcPts val="1000"/>
              </a:spcBef>
              <a:spcAft>
                <a:spcPts val="0"/>
              </a:spcAft>
              <a:buSzPct val="117647"/>
              <a:buNone/>
            </a:pPr>
            <a:r>
              <a:rPr lang="en-IN"/>
              <a:t>For example, set A is a collection of all the natural numbers, such as </a:t>
            </a:r>
            <a:r>
              <a:rPr lang="en-IN" b="1"/>
              <a:t>A = {1,2,3,4,5,6,7,8,…..∞}</a:t>
            </a:r>
            <a:endParaRPr b="1"/>
          </a:p>
          <a:p>
            <a:pPr marL="0" lvl="0" indent="0" algn="l" rtl="0">
              <a:lnSpc>
                <a:spcPct val="100000"/>
              </a:lnSpc>
              <a:spcBef>
                <a:spcPts val="1000"/>
              </a:spcBef>
              <a:spcAft>
                <a:spcPts val="0"/>
              </a:spcAft>
              <a:buClr>
                <a:schemeClr val="dk1"/>
              </a:buClr>
              <a:buSzPct val="61109"/>
              <a:buFont typeface="Arial"/>
              <a:buNone/>
            </a:pPr>
            <a:r>
              <a:rPr lang="en-IN" b="1"/>
              <a:t>Sets can be represented in three forms:</a:t>
            </a:r>
            <a:endParaRPr b="1"/>
          </a:p>
          <a:p>
            <a:pPr marL="0" lvl="0" indent="0" algn="l" rtl="0">
              <a:lnSpc>
                <a:spcPct val="100000"/>
              </a:lnSpc>
              <a:spcBef>
                <a:spcPts val="1000"/>
              </a:spcBef>
              <a:spcAft>
                <a:spcPts val="0"/>
              </a:spcAft>
              <a:buClr>
                <a:schemeClr val="dk1"/>
              </a:buClr>
              <a:buSzPct val="61109"/>
              <a:buFont typeface="Arial"/>
              <a:buNone/>
            </a:pPr>
            <a:endParaRPr b="1"/>
          </a:p>
          <a:p>
            <a:pPr marL="0" lvl="0" indent="0" algn="l" rtl="0">
              <a:lnSpc>
                <a:spcPct val="100000"/>
              </a:lnSpc>
              <a:spcBef>
                <a:spcPts val="1000"/>
              </a:spcBef>
              <a:spcAft>
                <a:spcPts val="0"/>
              </a:spcAft>
              <a:buClr>
                <a:schemeClr val="dk1"/>
              </a:buClr>
              <a:buSzPct val="61109"/>
              <a:buFont typeface="Arial"/>
              <a:buNone/>
            </a:pPr>
            <a:r>
              <a:rPr lang="en-IN" b="1"/>
              <a:t>Roster Form: </a:t>
            </a:r>
            <a:r>
              <a:rPr lang="en-IN"/>
              <a:t>Example- Set of even numbers less than 8={2,4,6}</a:t>
            </a:r>
            <a:endParaRPr/>
          </a:p>
          <a:p>
            <a:pPr marL="0" lvl="0" indent="0" algn="l" rtl="0">
              <a:lnSpc>
                <a:spcPct val="100000"/>
              </a:lnSpc>
              <a:spcBef>
                <a:spcPts val="1000"/>
              </a:spcBef>
              <a:spcAft>
                <a:spcPts val="0"/>
              </a:spcAft>
              <a:buClr>
                <a:schemeClr val="dk1"/>
              </a:buClr>
              <a:buSzPct val="61109"/>
              <a:buFont typeface="Arial"/>
              <a:buNone/>
            </a:pPr>
            <a:r>
              <a:rPr lang="en-IN" b="1"/>
              <a:t>Statement Form: </a:t>
            </a:r>
            <a:r>
              <a:rPr lang="en-IN"/>
              <a:t>Example-A = {Set of Odd numbers less than 9}</a:t>
            </a:r>
            <a:endParaRPr/>
          </a:p>
          <a:p>
            <a:pPr marL="0" lvl="0" indent="0" algn="l" rtl="0">
              <a:lnSpc>
                <a:spcPct val="100000"/>
              </a:lnSpc>
              <a:spcBef>
                <a:spcPts val="1000"/>
              </a:spcBef>
              <a:spcAft>
                <a:spcPts val="0"/>
              </a:spcAft>
              <a:buSzPct val="117647"/>
              <a:buNone/>
            </a:pPr>
            <a:r>
              <a:rPr lang="en-IN" b="1"/>
              <a:t>Set Builder Form: </a:t>
            </a:r>
            <a:r>
              <a:rPr lang="en-IN"/>
              <a:t>Example: A = {x: x=2n, n ∈ N and 1 ≤ n ≤ 4}</a:t>
            </a:r>
            <a:endParaRPr/>
          </a:p>
        </p:txBody>
      </p:sp>
      <p:sp>
        <p:nvSpPr>
          <p:cNvPr id="208" name="Google Shape;208;g267cbe2f8b4_0_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267cbe2f8b4_0_16"/>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What are the types of Sets?</a:t>
            </a:r>
            <a:endParaRPr/>
          </a:p>
        </p:txBody>
      </p:sp>
      <p:sp>
        <p:nvSpPr>
          <p:cNvPr id="215" name="Google Shape;215;g267cbe2f8b4_0_16"/>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1000"/>
              </a:spcBef>
              <a:spcAft>
                <a:spcPts val="0"/>
              </a:spcAft>
              <a:buClr>
                <a:schemeClr val="dk1"/>
              </a:buClr>
              <a:buSzPct val="61109"/>
              <a:buFont typeface="Arial"/>
              <a:buNone/>
            </a:pPr>
            <a:r>
              <a:rPr lang="en-IN" b="1"/>
              <a:t>Empty Set or Null set</a:t>
            </a:r>
            <a:r>
              <a:rPr lang="en-IN"/>
              <a:t>: It has no element present in it.Example: A = {} is a null set.</a:t>
            </a:r>
            <a:endParaRPr/>
          </a:p>
          <a:p>
            <a:pPr marL="0" lvl="0" indent="0" algn="l" rtl="0">
              <a:lnSpc>
                <a:spcPct val="100000"/>
              </a:lnSpc>
              <a:spcBef>
                <a:spcPts val="1000"/>
              </a:spcBef>
              <a:spcAft>
                <a:spcPts val="0"/>
              </a:spcAft>
              <a:buClr>
                <a:schemeClr val="dk1"/>
              </a:buClr>
              <a:buSzPct val="61109"/>
              <a:buFont typeface="Arial"/>
              <a:buNone/>
            </a:pPr>
            <a:r>
              <a:rPr lang="en-IN" b="1"/>
              <a:t>Finite Set</a:t>
            </a:r>
            <a:r>
              <a:rPr lang="en-IN"/>
              <a:t>: It has a limited number of elements.Example: A = {1,2,3,4}</a:t>
            </a:r>
            <a:endParaRPr/>
          </a:p>
          <a:p>
            <a:pPr marL="0" lvl="0" indent="0" algn="l" rtl="0">
              <a:lnSpc>
                <a:spcPct val="100000"/>
              </a:lnSpc>
              <a:spcBef>
                <a:spcPts val="1000"/>
              </a:spcBef>
              <a:spcAft>
                <a:spcPts val="0"/>
              </a:spcAft>
              <a:buClr>
                <a:schemeClr val="dk1"/>
              </a:buClr>
              <a:buSzPct val="61109"/>
              <a:buFont typeface="Arial"/>
              <a:buNone/>
            </a:pPr>
            <a:r>
              <a:rPr lang="en-IN" b="1"/>
              <a:t>Infinite Set</a:t>
            </a:r>
            <a:r>
              <a:rPr lang="en-IN"/>
              <a:t>: It has an infinite number of elements.Example: A = {x: x is the set of all whole numbers}</a:t>
            </a:r>
            <a:endParaRPr/>
          </a:p>
          <a:p>
            <a:pPr marL="0" lvl="0" indent="0" algn="l" rtl="0">
              <a:lnSpc>
                <a:spcPct val="100000"/>
              </a:lnSpc>
              <a:spcBef>
                <a:spcPts val="1000"/>
              </a:spcBef>
              <a:spcAft>
                <a:spcPts val="0"/>
              </a:spcAft>
              <a:buClr>
                <a:schemeClr val="dk1"/>
              </a:buClr>
              <a:buSzPct val="61109"/>
              <a:buFont typeface="Arial"/>
              <a:buNone/>
            </a:pPr>
            <a:r>
              <a:rPr lang="en-IN" b="1"/>
              <a:t>Equal Set</a:t>
            </a:r>
            <a:r>
              <a:rPr lang="en-IN"/>
              <a:t>: Two sets which have the same members.Example: A = {1,2,5} and B={2,5,1}: Set A = Set B</a:t>
            </a:r>
            <a:endParaRPr/>
          </a:p>
          <a:p>
            <a:pPr marL="0" lvl="0" indent="0" algn="l" rtl="0">
              <a:lnSpc>
                <a:spcPct val="100000"/>
              </a:lnSpc>
              <a:spcBef>
                <a:spcPts val="1000"/>
              </a:spcBef>
              <a:spcAft>
                <a:spcPts val="0"/>
              </a:spcAft>
              <a:buClr>
                <a:schemeClr val="dk1"/>
              </a:buClr>
              <a:buSzPct val="61109"/>
              <a:buFont typeface="Arial"/>
              <a:buNone/>
            </a:pPr>
            <a:r>
              <a:rPr lang="en-IN" b="1"/>
              <a:t>Subsets</a:t>
            </a:r>
            <a:r>
              <a:rPr lang="en-IN"/>
              <a:t>: A set ‘A’ is said to be a subset of B if each element of A is also an element of B.Example: A={1,2}, B={1,2,3,4}, then A ⊆ B</a:t>
            </a:r>
            <a:endParaRPr/>
          </a:p>
          <a:p>
            <a:pPr marL="0" lvl="0" indent="0" algn="l" rtl="0">
              <a:lnSpc>
                <a:spcPct val="100000"/>
              </a:lnSpc>
              <a:spcBef>
                <a:spcPts val="1000"/>
              </a:spcBef>
              <a:spcAft>
                <a:spcPts val="0"/>
              </a:spcAft>
              <a:buClr>
                <a:schemeClr val="dk1"/>
              </a:buClr>
              <a:buSzPct val="61109"/>
              <a:buFont typeface="Arial"/>
              <a:buNone/>
            </a:pPr>
            <a:r>
              <a:rPr lang="en-IN" b="1"/>
              <a:t>Universal Set:</a:t>
            </a:r>
            <a:r>
              <a:rPr lang="en-IN"/>
              <a:t> A set which consists of all elements of other sets present in a Venn diagram.Example: A={1,2}, B={2,3}, The universal set here will be, U = {1, 2,3}</a:t>
            </a:r>
            <a:endParaRPr/>
          </a:p>
          <a:p>
            <a:pPr marL="0" lvl="0" indent="0" algn="l" rtl="0">
              <a:lnSpc>
                <a:spcPct val="100000"/>
              </a:lnSpc>
              <a:spcBef>
                <a:spcPts val="1000"/>
              </a:spcBef>
              <a:spcAft>
                <a:spcPts val="0"/>
              </a:spcAft>
              <a:buSzPct val="129031"/>
              <a:buNone/>
            </a:pPr>
            <a:endParaRPr/>
          </a:p>
        </p:txBody>
      </p:sp>
      <p:sp>
        <p:nvSpPr>
          <p:cNvPr id="216" name="Google Shape;216;g267cbe2f8b4_0_16"/>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267cbe2f8b4_0_4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What are the types of Sets?</a:t>
            </a:r>
            <a:endParaRPr/>
          </a:p>
        </p:txBody>
      </p:sp>
      <p:sp>
        <p:nvSpPr>
          <p:cNvPr id="223" name="Google Shape;223;g267cbe2f8b4_0_43"/>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00000"/>
              </a:lnSpc>
              <a:spcBef>
                <a:spcPts val="1000"/>
              </a:spcBef>
              <a:spcAft>
                <a:spcPts val="0"/>
              </a:spcAft>
              <a:buSzPct val="108107"/>
              <a:buNone/>
            </a:pPr>
            <a:r>
              <a:rPr lang="en-IN" b="1"/>
              <a:t>Singleton Set : </a:t>
            </a:r>
            <a:r>
              <a:rPr lang="en-IN"/>
              <a:t>Singleton Sets are those sets that have only 1 element present in them. Set A= {1} is a singleton set as it has only one element, that is, 1.</a:t>
            </a:r>
            <a:endParaRPr/>
          </a:p>
          <a:p>
            <a:pPr marL="0" lvl="0" indent="0" algn="just" rtl="0">
              <a:lnSpc>
                <a:spcPct val="100000"/>
              </a:lnSpc>
              <a:spcBef>
                <a:spcPts val="1000"/>
              </a:spcBef>
              <a:spcAft>
                <a:spcPts val="0"/>
              </a:spcAft>
              <a:buSzPct val="108107"/>
              <a:buNone/>
            </a:pPr>
            <a:r>
              <a:rPr lang="en-IN" b="1"/>
              <a:t>Equivalent Set </a:t>
            </a:r>
            <a:r>
              <a:rPr lang="en-IN"/>
              <a:t>: Equivalent Sets are those which have the same number of elements present in them. It is important to note that the elements may be different in both sets but the number of elements present is equal. Set A= {2, 3, 5, 7, 11} Set B = {p, q, r, s, t}</a:t>
            </a:r>
            <a:endParaRPr/>
          </a:p>
          <a:p>
            <a:pPr marL="0" lvl="0" indent="0" algn="just" rtl="0">
              <a:lnSpc>
                <a:spcPct val="100000"/>
              </a:lnSpc>
              <a:spcBef>
                <a:spcPts val="1000"/>
              </a:spcBef>
              <a:spcAft>
                <a:spcPts val="0"/>
              </a:spcAft>
              <a:buSzPct val="108107"/>
              <a:buNone/>
            </a:pPr>
            <a:r>
              <a:rPr lang="en-IN"/>
              <a:t>Set A and Set B both have 5 elements hence, both are equivalent sets.</a:t>
            </a:r>
            <a:endParaRPr/>
          </a:p>
          <a:p>
            <a:pPr marL="0" lvl="0" indent="0" algn="just" rtl="0">
              <a:lnSpc>
                <a:spcPct val="100000"/>
              </a:lnSpc>
              <a:spcBef>
                <a:spcPts val="1000"/>
              </a:spcBef>
              <a:spcAft>
                <a:spcPts val="0"/>
              </a:spcAft>
              <a:buSzPct val="108107"/>
              <a:buNone/>
            </a:pPr>
            <a:r>
              <a:rPr lang="en-IN" b="1"/>
              <a:t>Disjoint Sets : </a:t>
            </a:r>
            <a:r>
              <a:rPr lang="en-IN"/>
              <a:t>For any two sets A and B which do have no common elements are called Disjoint Sets. The intersection of the Disjoint set is ϕ, now for set A and set B A∩B =  ϕ. </a:t>
            </a:r>
            <a:endParaRPr/>
          </a:p>
          <a:p>
            <a:pPr marL="0" lvl="0" indent="0" algn="l" rtl="0">
              <a:lnSpc>
                <a:spcPct val="100000"/>
              </a:lnSpc>
              <a:spcBef>
                <a:spcPts val="1000"/>
              </a:spcBef>
              <a:spcAft>
                <a:spcPts val="0"/>
              </a:spcAft>
              <a:buSzPct val="108107"/>
              <a:buNone/>
            </a:pPr>
            <a:endParaRPr/>
          </a:p>
        </p:txBody>
      </p:sp>
      <p:sp>
        <p:nvSpPr>
          <p:cNvPr id="224" name="Google Shape;224;g267cbe2f8b4_0_4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267cbe2f8b4_0_2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Formulas For Sets</a:t>
            </a:r>
            <a:endParaRPr/>
          </a:p>
        </p:txBody>
      </p:sp>
      <p:sp>
        <p:nvSpPr>
          <p:cNvPr id="231" name="Google Shape;231;g267cbe2f8b4_0_2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sp>
        <p:nvSpPr>
          <p:cNvPr id="232" name="Google Shape;232;g267cbe2f8b4_0_2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16</a:t>
            </a:fld>
            <a:endParaRPr/>
          </a:p>
        </p:txBody>
      </p:sp>
      <p:pic>
        <p:nvPicPr>
          <p:cNvPr id="233" name="Google Shape;233;g267cbe2f8b4_0_25"/>
          <p:cNvPicPr preferRelativeResize="0"/>
          <p:nvPr/>
        </p:nvPicPr>
        <p:blipFill rotWithShape="1">
          <a:blip r:embed="rId3">
            <a:alphaModFix/>
          </a:blip>
          <a:srcRect/>
          <a:stretch/>
        </p:blipFill>
        <p:spPr>
          <a:xfrm>
            <a:off x="2233625" y="2442388"/>
            <a:ext cx="7724775" cy="3133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267cbe2f8b4_0_34"/>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Power set</a:t>
            </a:r>
            <a:endParaRPr/>
          </a:p>
        </p:txBody>
      </p:sp>
      <p:sp>
        <p:nvSpPr>
          <p:cNvPr id="240" name="Google Shape;240;g267cbe2f8b4_0_34"/>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IN"/>
              <a:t>The </a:t>
            </a:r>
            <a:r>
              <a:rPr lang="en-IN" b="1"/>
              <a:t>power set</a:t>
            </a:r>
            <a:r>
              <a:rPr lang="en-IN"/>
              <a:t> of a set A is defined as the set of all subsets of the Set A including the Set itself and the null or empty set.</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Clr>
                <a:schemeClr val="dk1"/>
              </a:buClr>
              <a:buSzPts val="1100"/>
              <a:buFont typeface="Arial"/>
              <a:buNone/>
            </a:pPr>
            <a:r>
              <a:rPr lang="en-IN"/>
              <a:t>For Example: A = {1, 3, 5}</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Clr>
                <a:schemeClr val="dk1"/>
              </a:buClr>
              <a:buSzPts val="1100"/>
              <a:buFont typeface="Arial"/>
              <a:buNone/>
            </a:pPr>
            <a:r>
              <a:rPr lang="en-IN"/>
              <a:t>Power set of A, P(A) = {{}, {1}, {3}, {5}, {1,3}, {3,5}, {1,5}, {1,3,5}}</a:t>
            </a:r>
            <a:endParaRPr/>
          </a:p>
          <a:p>
            <a:pPr marL="0" lvl="0" indent="0" algn="l" rtl="0">
              <a:lnSpc>
                <a:spcPct val="100000"/>
              </a:lnSpc>
              <a:spcBef>
                <a:spcPts val="1000"/>
              </a:spcBef>
              <a:spcAft>
                <a:spcPts val="0"/>
              </a:spcAft>
              <a:buSzPts val="1800"/>
              <a:buNone/>
            </a:pPr>
            <a:endParaRPr/>
          </a:p>
        </p:txBody>
      </p:sp>
      <p:sp>
        <p:nvSpPr>
          <p:cNvPr id="241" name="Google Shape;241;g267cbe2f8b4_0_3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267cbe2f8b4_0_5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Cartesian product of Sets</a:t>
            </a:r>
            <a:endParaRPr/>
          </a:p>
        </p:txBody>
      </p:sp>
      <p:sp>
        <p:nvSpPr>
          <p:cNvPr id="248" name="Google Shape;248;g267cbe2f8b4_0_59"/>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00000"/>
              </a:lnSpc>
              <a:spcBef>
                <a:spcPts val="1000"/>
              </a:spcBef>
              <a:spcAft>
                <a:spcPts val="0"/>
              </a:spcAft>
              <a:buClr>
                <a:schemeClr val="dk1"/>
              </a:buClr>
              <a:buSzPts val="1100"/>
              <a:buFont typeface="Arial"/>
              <a:buNone/>
            </a:pPr>
            <a:r>
              <a:rPr lang="en-IN"/>
              <a:t>Cartesian product of Sets</a:t>
            </a:r>
            <a:endParaRPr/>
          </a:p>
          <a:p>
            <a:pPr marL="0" lvl="0" indent="0" algn="just" rtl="0">
              <a:lnSpc>
                <a:spcPct val="100000"/>
              </a:lnSpc>
              <a:spcBef>
                <a:spcPts val="1000"/>
              </a:spcBef>
              <a:spcAft>
                <a:spcPts val="0"/>
              </a:spcAft>
              <a:buClr>
                <a:schemeClr val="dk1"/>
              </a:buClr>
              <a:buSzPts val="1100"/>
              <a:buFont typeface="Arial"/>
              <a:buNone/>
            </a:pPr>
            <a:r>
              <a:rPr lang="en-IN"/>
              <a:t>Let’s assume A and B to be two non-empty sets, the sets of all ordered pairs (x, y) where x∈A and y∈B is called a Cartesian product of the sets.</a:t>
            </a:r>
            <a:endParaRPr/>
          </a:p>
          <a:p>
            <a:pPr marL="0" lvl="0" indent="0" algn="just" rtl="0">
              <a:lnSpc>
                <a:spcPct val="100000"/>
              </a:lnSpc>
              <a:spcBef>
                <a:spcPts val="1000"/>
              </a:spcBef>
              <a:spcAft>
                <a:spcPts val="0"/>
              </a:spcAft>
              <a:buSzPts val="1800"/>
              <a:buNone/>
            </a:pPr>
            <a:r>
              <a:rPr lang="en-IN"/>
              <a:t>A × B = {x, y | x∈A and y∈B}</a:t>
            </a:r>
            <a:endParaRPr/>
          </a:p>
          <a:p>
            <a:pPr marL="0" lvl="0" indent="0" algn="just" rtl="0">
              <a:lnSpc>
                <a:spcPct val="100000"/>
              </a:lnSpc>
              <a:spcBef>
                <a:spcPts val="1000"/>
              </a:spcBef>
              <a:spcAft>
                <a:spcPts val="0"/>
              </a:spcAft>
              <a:buClr>
                <a:schemeClr val="dk1"/>
              </a:buClr>
              <a:buSzPts val="1100"/>
              <a:buFont typeface="Arial"/>
              <a:buNone/>
            </a:pPr>
            <a:endParaRPr/>
          </a:p>
          <a:p>
            <a:pPr marL="0" lvl="0" indent="0" algn="just" rtl="0">
              <a:lnSpc>
                <a:spcPct val="100000"/>
              </a:lnSpc>
              <a:spcBef>
                <a:spcPts val="1000"/>
              </a:spcBef>
              <a:spcAft>
                <a:spcPts val="0"/>
              </a:spcAft>
              <a:buSzPts val="1800"/>
              <a:buNone/>
            </a:pPr>
            <a:r>
              <a:rPr lang="en-IN" b="1"/>
              <a:t>Ordered Pair : </a:t>
            </a:r>
            <a:r>
              <a:rPr lang="en-IN"/>
              <a:t>An ordered pair is a pair of objects where one element is assigned first, and the other element is assigned second, denoted by (a,b). Here ‘a’ is called the first component, and ‘b’ is called the second component of the ordered set.</a:t>
            </a:r>
            <a:endParaRPr/>
          </a:p>
        </p:txBody>
      </p:sp>
      <p:sp>
        <p:nvSpPr>
          <p:cNvPr id="249" name="Google Shape;249;g267cbe2f8b4_0_5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267cbe2f8b4_0_7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Properties of Cartesian Product</a:t>
            </a:r>
            <a:endParaRPr/>
          </a:p>
        </p:txBody>
      </p:sp>
      <p:sp>
        <p:nvSpPr>
          <p:cNvPr id="256" name="Google Shape;256;g267cbe2f8b4_0_70"/>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IN"/>
              <a:t>The Cartesian Product is non-commutative: A × B ≠ B × A</a:t>
            </a:r>
            <a:endParaRPr/>
          </a:p>
          <a:p>
            <a:pPr marL="0" lvl="0" indent="0" algn="l" rtl="0">
              <a:lnSpc>
                <a:spcPct val="100000"/>
              </a:lnSpc>
              <a:spcBef>
                <a:spcPts val="1000"/>
              </a:spcBef>
              <a:spcAft>
                <a:spcPts val="0"/>
              </a:spcAft>
              <a:buSzPts val="1800"/>
              <a:buNone/>
            </a:pPr>
            <a:r>
              <a:rPr lang="en-IN"/>
              <a:t>The cardinality of the Cartesian Product is defined as the number of elements in A × B and is equal to the product of cardinality of both sets: |A × B| = |A| * |B|</a:t>
            </a:r>
            <a:endParaRPr/>
          </a:p>
          <a:p>
            <a:pPr marL="0" lvl="0" indent="0" algn="l" rtl="0">
              <a:lnSpc>
                <a:spcPct val="100000"/>
              </a:lnSpc>
              <a:spcBef>
                <a:spcPts val="1000"/>
              </a:spcBef>
              <a:spcAft>
                <a:spcPts val="0"/>
              </a:spcAft>
              <a:buSzPts val="1800"/>
              <a:buNone/>
            </a:pPr>
            <a:r>
              <a:rPr lang="en-IN"/>
              <a:t>A × B = {∅}, if either A = {∅} or B = {∅}</a:t>
            </a:r>
            <a:endParaRPr/>
          </a:p>
        </p:txBody>
      </p:sp>
      <p:sp>
        <p:nvSpPr>
          <p:cNvPr id="257" name="Google Shape;257;g267cbe2f8b4_0_7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67cbe2f8b4_0_8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Relation</a:t>
            </a:r>
            <a:endParaRPr/>
          </a:p>
        </p:txBody>
      </p:sp>
      <p:sp>
        <p:nvSpPr>
          <p:cNvPr id="264" name="Google Shape;264;g267cbe2f8b4_0_81"/>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IN"/>
              <a:t>A relation from set A to set B is a subset of the cartesian product set A x B. The subset is made up by describing a relationship between the first element and the second element of elements in A x B. </a:t>
            </a:r>
            <a:endParaRPr/>
          </a:p>
          <a:p>
            <a:pPr marL="0" lvl="0" indent="0" algn="l" rtl="0">
              <a:lnSpc>
                <a:spcPct val="100000"/>
              </a:lnSpc>
              <a:spcBef>
                <a:spcPts val="1000"/>
              </a:spcBef>
              <a:spcAft>
                <a:spcPts val="0"/>
              </a:spcAft>
              <a:buSzPts val="1800"/>
              <a:buNone/>
            </a:pPr>
            <a:r>
              <a:rPr lang="en-IN"/>
              <a:t>Example: R = {(1,1), (2, 4), (3,9)} </a:t>
            </a:r>
            <a:endParaRPr/>
          </a:p>
          <a:p>
            <a:pPr marL="0" lvl="0" indent="0" algn="l" rtl="0">
              <a:lnSpc>
                <a:spcPct val="100000"/>
              </a:lnSpc>
              <a:spcBef>
                <a:spcPts val="1000"/>
              </a:spcBef>
              <a:spcAft>
                <a:spcPts val="0"/>
              </a:spcAft>
              <a:buSzPts val="1800"/>
              <a:buNone/>
            </a:pPr>
            <a:r>
              <a:rPr lang="en-IN"/>
              <a:t>Domain {1,2,5}</a:t>
            </a:r>
            <a:endParaRPr/>
          </a:p>
          <a:p>
            <a:pPr marL="0" lvl="0" indent="0" algn="l" rtl="0">
              <a:lnSpc>
                <a:spcPct val="100000"/>
              </a:lnSpc>
              <a:spcBef>
                <a:spcPts val="1000"/>
              </a:spcBef>
              <a:spcAft>
                <a:spcPts val="0"/>
              </a:spcAft>
              <a:buSzPts val="1800"/>
              <a:buNone/>
            </a:pPr>
            <a:r>
              <a:rPr lang="en-IN"/>
              <a:t>Range : {1,4,9}</a:t>
            </a:r>
            <a:endParaRPr/>
          </a:p>
        </p:txBody>
      </p:sp>
      <p:sp>
        <p:nvSpPr>
          <p:cNvPr id="265" name="Google Shape;265;g267cbe2f8b4_0_8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20</a:t>
            </a:fld>
            <a:endParaRPr/>
          </a:p>
        </p:txBody>
      </p:sp>
      <p:pic>
        <p:nvPicPr>
          <p:cNvPr id="266" name="Google Shape;266;g267cbe2f8b4_0_81"/>
          <p:cNvPicPr preferRelativeResize="0"/>
          <p:nvPr/>
        </p:nvPicPr>
        <p:blipFill rotWithShape="1">
          <a:blip r:embed="rId3">
            <a:alphaModFix/>
          </a:blip>
          <a:srcRect/>
          <a:stretch/>
        </p:blipFill>
        <p:spPr>
          <a:xfrm>
            <a:off x="6886575" y="3671888"/>
            <a:ext cx="3448050" cy="2333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267cb0a875b_1_10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Domain , Range &amp; Codomain</a:t>
            </a:r>
            <a:endParaRPr/>
          </a:p>
        </p:txBody>
      </p:sp>
      <p:sp>
        <p:nvSpPr>
          <p:cNvPr id="273" name="Google Shape;273;g267cb0a875b_1_105"/>
          <p:cNvSpPr txBox="1">
            <a:spLocks noGrp="1"/>
          </p:cNvSpPr>
          <p:nvPr>
            <p:ph type="body" idx="1"/>
          </p:nvPr>
        </p:nvSpPr>
        <p:spPr>
          <a:xfrm>
            <a:off x="1581900" y="2638050"/>
            <a:ext cx="5470500" cy="3732300"/>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100000"/>
              </a:lnSpc>
              <a:spcBef>
                <a:spcPts val="1000"/>
              </a:spcBef>
              <a:spcAft>
                <a:spcPts val="0"/>
              </a:spcAft>
              <a:buSzPct val="142857"/>
              <a:buNone/>
            </a:pPr>
            <a:r>
              <a:rPr lang="en-IN"/>
              <a:t>Domain of any Relation is the set of input values of the relation. For example, if we take two sets A and B, and define a relation R: {(a,b): a ∈ A, b ∈ B} then the set of values of A is called the domain of the function.</a:t>
            </a:r>
            <a:endParaRPr/>
          </a:p>
          <a:p>
            <a:pPr marL="0" lvl="0" indent="0" algn="just" rtl="0">
              <a:lnSpc>
                <a:spcPct val="100000"/>
              </a:lnSpc>
              <a:spcBef>
                <a:spcPts val="1000"/>
              </a:spcBef>
              <a:spcAft>
                <a:spcPts val="0"/>
              </a:spcAft>
              <a:buSzPct val="142857"/>
              <a:buNone/>
            </a:pPr>
            <a:r>
              <a:rPr lang="en-IN"/>
              <a:t>Range of any Relation is the set of output values of the relation. For example, if we take two sets A and B, and define a relation R: {(a,b): a ∈ A, b ∈ B} then the set of values of B is called the domain of the function.</a:t>
            </a:r>
            <a:endParaRPr/>
          </a:p>
          <a:p>
            <a:pPr marL="0" lvl="0" indent="0" algn="just" rtl="0">
              <a:lnSpc>
                <a:spcPct val="100000"/>
              </a:lnSpc>
              <a:spcBef>
                <a:spcPts val="1000"/>
              </a:spcBef>
              <a:spcAft>
                <a:spcPts val="0"/>
              </a:spcAft>
              <a:buSzPct val="142857"/>
              <a:buNone/>
            </a:pPr>
            <a:r>
              <a:rPr lang="en-IN"/>
              <a:t>We define the codomain of the relation R as the set B of the cartesian product A×B on which the relation is defined. Now it is clear that the range of the function is the proper subset of Codomain.</a:t>
            </a:r>
            <a:endParaRPr/>
          </a:p>
          <a:p>
            <a:pPr marL="0" lvl="0" indent="0" algn="just" rtl="0">
              <a:lnSpc>
                <a:spcPct val="100000"/>
              </a:lnSpc>
              <a:spcBef>
                <a:spcPts val="1000"/>
              </a:spcBef>
              <a:spcAft>
                <a:spcPts val="0"/>
              </a:spcAft>
              <a:buClr>
                <a:schemeClr val="dk1"/>
              </a:buClr>
              <a:buSzPct val="61109"/>
              <a:buFont typeface="Arial"/>
              <a:buNone/>
            </a:pPr>
            <a:r>
              <a:rPr lang="en-IN"/>
              <a:t>R = {(9,11), (10,12), (11,13)} </a:t>
            </a:r>
            <a:endParaRPr/>
          </a:p>
          <a:p>
            <a:pPr marL="0" lvl="0" indent="0" algn="just" rtl="0">
              <a:lnSpc>
                <a:spcPct val="100000"/>
              </a:lnSpc>
              <a:spcBef>
                <a:spcPts val="1000"/>
              </a:spcBef>
              <a:spcAft>
                <a:spcPts val="0"/>
              </a:spcAft>
              <a:buClr>
                <a:schemeClr val="dk1"/>
              </a:buClr>
              <a:buSzPct val="61109"/>
              <a:buFont typeface="Arial"/>
              <a:buNone/>
            </a:pPr>
            <a:r>
              <a:rPr lang="en-IN"/>
              <a:t>Thus,</a:t>
            </a:r>
            <a:endParaRPr/>
          </a:p>
          <a:p>
            <a:pPr marL="0" lvl="0" indent="0" algn="just" rtl="0">
              <a:lnSpc>
                <a:spcPct val="100000"/>
              </a:lnSpc>
              <a:spcBef>
                <a:spcPts val="1000"/>
              </a:spcBef>
              <a:spcAft>
                <a:spcPts val="0"/>
              </a:spcAft>
              <a:buClr>
                <a:schemeClr val="dk1"/>
              </a:buClr>
              <a:buSzPct val="61109"/>
              <a:buFont typeface="Arial"/>
              <a:buNone/>
            </a:pPr>
            <a:r>
              <a:rPr lang="en-IN"/>
              <a:t>Domain of R is (9, 10, 11) </a:t>
            </a:r>
            <a:endParaRPr/>
          </a:p>
          <a:p>
            <a:pPr marL="0" lvl="0" indent="0" algn="just" rtl="0">
              <a:lnSpc>
                <a:spcPct val="100000"/>
              </a:lnSpc>
              <a:spcBef>
                <a:spcPts val="1000"/>
              </a:spcBef>
              <a:spcAft>
                <a:spcPts val="0"/>
              </a:spcAft>
              <a:buClr>
                <a:schemeClr val="dk1"/>
              </a:buClr>
              <a:buSzPct val="61109"/>
              <a:buFont typeface="Arial"/>
              <a:buNone/>
            </a:pPr>
            <a:r>
              <a:rPr lang="en-IN"/>
              <a:t>Range of R is (11, 12, 13)</a:t>
            </a:r>
            <a:endParaRPr/>
          </a:p>
          <a:p>
            <a:pPr marL="0" lvl="0" indent="0" algn="just" rtl="0">
              <a:lnSpc>
                <a:spcPct val="100000"/>
              </a:lnSpc>
              <a:spcBef>
                <a:spcPts val="1000"/>
              </a:spcBef>
              <a:spcAft>
                <a:spcPts val="0"/>
              </a:spcAft>
              <a:buSzPct val="142857"/>
              <a:buNone/>
            </a:pPr>
            <a:r>
              <a:rPr lang="en-IN"/>
              <a:t>Codomain is (4, 5, 6, 9,10,11,12,13, 17)</a:t>
            </a:r>
            <a:endParaRPr/>
          </a:p>
        </p:txBody>
      </p:sp>
      <p:sp>
        <p:nvSpPr>
          <p:cNvPr id="274" name="Google Shape;274;g267cb0a875b_1_10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21</a:t>
            </a:fld>
            <a:endParaRPr/>
          </a:p>
        </p:txBody>
      </p:sp>
      <p:sp>
        <p:nvSpPr>
          <p:cNvPr id="275" name="Google Shape;275;g267cb0a875b_1_105"/>
          <p:cNvSpPr txBox="1">
            <a:spLocks noGrp="1"/>
          </p:cNvSpPr>
          <p:nvPr>
            <p:ph type="body" idx="2"/>
          </p:nvPr>
        </p:nvSpPr>
        <p:spPr>
          <a:xfrm>
            <a:off x="6338315" y="2638044"/>
            <a:ext cx="42702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pic>
        <p:nvPicPr>
          <p:cNvPr id="276" name="Google Shape;276;g267cb0a875b_1_105"/>
          <p:cNvPicPr preferRelativeResize="0"/>
          <p:nvPr/>
        </p:nvPicPr>
        <p:blipFill rotWithShape="1">
          <a:blip r:embed="rId3">
            <a:alphaModFix/>
          </a:blip>
          <a:srcRect/>
          <a:stretch/>
        </p:blipFill>
        <p:spPr>
          <a:xfrm>
            <a:off x="7264500" y="2638050"/>
            <a:ext cx="3344026" cy="2398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67cbe2f8b4_0_96"/>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Types of Relation</a:t>
            </a:r>
            <a:endParaRPr/>
          </a:p>
        </p:txBody>
      </p:sp>
      <p:sp>
        <p:nvSpPr>
          <p:cNvPr id="283" name="Google Shape;283;g267cbe2f8b4_0_96"/>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77500" lnSpcReduction="20000"/>
          </a:bodyPr>
          <a:lstStyle/>
          <a:p>
            <a:pPr marL="0" lvl="0" indent="0" algn="just" rtl="0">
              <a:lnSpc>
                <a:spcPct val="100000"/>
              </a:lnSpc>
              <a:spcBef>
                <a:spcPts val="1000"/>
              </a:spcBef>
              <a:spcAft>
                <a:spcPts val="0"/>
              </a:spcAft>
              <a:buClr>
                <a:schemeClr val="dk1"/>
              </a:buClr>
              <a:buSzPct val="61109"/>
              <a:buFont typeface="Arial"/>
              <a:buNone/>
            </a:pPr>
            <a:r>
              <a:rPr lang="en-IN" b="1"/>
              <a:t>Empty Relation</a:t>
            </a:r>
            <a:r>
              <a:rPr lang="en-IN"/>
              <a:t>- There is no relation between any elements of a set.</a:t>
            </a:r>
            <a:endParaRPr/>
          </a:p>
          <a:p>
            <a:pPr marL="0" lvl="0" indent="0" algn="just" rtl="0">
              <a:lnSpc>
                <a:spcPct val="100000"/>
              </a:lnSpc>
              <a:spcBef>
                <a:spcPts val="1000"/>
              </a:spcBef>
              <a:spcAft>
                <a:spcPts val="0"/>
              </a:spcAft>
              <a:buClr>
                <a:schemeClr val="dk1"/>
              </a:buClr>
              <a:buSzPct val="61109"/>
              <a:buFont typeface="Arial"/>
              <a:buNone/>
            </a:pPr>
            <a:r>
              <a:rPr lang="en-IN" b="1"/>
              <a:t>Universal Relation</a:t>
            </a:r>
            <a:r>
              <a:rPr lang="en-IN"/>
              <a:t>- Every element of the set is related to each other.</a:t>
            </a:r>
            <a:endParaRPr/>
          </a:p>
          <a:p>
            <a:pPr marL="0" lvl="0" indent="0" algn="just" rtl="0">
              <a:lnSpc>
                <a:spcPct val="100000"/>
              </a:lnSpc>
              <a:spcBef>
                <a:spcPts val="1000"/>
              </a:spcBef>
              <a:spcAft>
                <a:spcPts val="0"/>
              </a:spcAft>
              <a:buClr>
                <a:schemeClr val="dk1"/>
              </a:buClr>
              <a:buSzPct val="61109"/>
              <a:buFont typeface="Arial"/>
              <a:buNone/>
            </a:pPr>
            <a:r>
              <a:rPr lang="en-IN" b="1"/>
              <a:t>Identity Relation</a:t>
            </a:r>
            <a:r>
              <a:rPr lang="en-IN"/>
              <a:t>- In an identity relation, every element of a set is related to itself only.</a:t>
            </a:r>
            <a:endParaRPr/>
          </a:p>
          <a:p>
            <a:pPr marL="0" lvl="0" indent="0" algn="just" rtl="0">
              <a:lnSpc>
                <a:spcPct val="100000"/>
              </a:lnSpc>
              <a:spcBef>
                <a:spcPts val="1000"/>
              </a:spcBef>
              <a:spcAft>
                <a:spcPts val="0"/>
              </a:spcAft>
              <a:buClr>
                <a:schemeClr val="dk1"/>
              </a:buClr>
              <a:buSzPct val="61109"/>
              <a:buFont typeface="Arial"/>
              <a:buNone/>
            </a:pPr>
            <a:r>
              <a:rPr lang="en-IN" b="1"/>
              <a:t>Inverse Relation</a:t>
            </a:r>
            <a:r>
              <a:rPr lang="en-IN"/>
              <a:t>- Inverse relation is seen when a set has elements that are inverse pairs of another set.</a:t>
            </a:r>
            <a:endParaRPr/>
          </a:p>
          <a:p>
            <a:pPr marL="0" lvl="0" indent="0" algn="just" rtl="0">
              <a:lnSpc>
                <a:spcPct val="100000"/>
              </a:lnSpc>
              <a:spcBef>
                <a:spcPts val="1000"/>
              </a:spcBef>
              <a:spcAft>
                <a:spcPts val="0"/>
              </a:spcAft>
              <a:buClr>
                <a:schemeClr val="dk1"/>
              </a:buClr>
              <a:buSzPct val="61109"/>
              <a:buFont typeface="Arial"/>
              <a:buNone/>
            </a:pPr>
            <a:r>
              <a:rPr lang="en-IN" b="1"/>
              <a:t>Reflexive Relation</a:t>
            </a:r>
            <a:r>
              <a:rPr lang="en-IN"/>
              <a:t>- In a reflexive relation, every element maps to itself.</a:t>
            </a:r>
            <a:endParaRPr/>
          </a:p>
          <a:p>
            <a:pPr marL="0" lvl="0" indent="0" algn="just" rtl="0">
              <a:lnSpc>
                <a:spcPct val="100000"/>
              </a:lnSpc>
              <a:spcBef>
                <a:spcPts val="1000"/>
              </a:spcBef>
              <a:spcAft>
                <a:spcPts val="0"/>
              </a:spcAft>
              <a:buClr>
                <a:schemeClr val="dk1"/>
              </a:buClr>
              <a:buSzPct val="61109"/>
              <a:buFont typeface="Arial"/>
              <a:buNone/>
            </a:pPr>
            <a:r>
              <a:rPr lang="en-IN" b="1"/>
              <a:t>Symmetric Relation</a:t>
            </a:r>
            <a:r>
              <a:rPr lang="en-IN"/>
              <a:t>- In asymmetric relation, if a=b is true then b=a is also true.</a:t>
            </a:r>
            <a:endParaRPr/>
          </a:p>
          <a:p>
            <a:pPr marL="0" lvl="0" indent="0" algn="just" rtl="0">
              <a:lnSpc>
                <a:spcPct val="100000"/>
              </a:lnSpc>
              <a:spcBef>
                <a:spcPts val="1000"/>
              </a:spcBef>
              <a:spcAft>
                <a:spcPts val="0"/>
              </a:spcAft>
              <a:buClr>
                <a:schemeClr val="dk1"/>
              </a:buClr>
              <a:buSzPct val="61109"/>
              <a:buFont typeface="Arial"/>
              <a:buNone/>
            </a:pPr>
            <a:r>
              <a:rPr lang="en-IN" b="1"/>
              <a:t>Transitive Relation</a:t>
            </a:r>
            <a:r>
              <a:rPr lang="en-IN"/>
              <a:t>- For transitive relation, if (x, y) ∈ R, (y, z) ∈ R, then (x, z) ∈ R.</a:t>
            </a:r>
            <a:endParaRPr/>
          </a:p>
          <a:p>
            <a:pPr marL="0" lvl="0" indent="0" algn="just" rtl="0">
              <a:lnSpc>
                <a:spcPct val="100000"/>
              </a:lnSpc>
              <a:spcBef>
                <a:spcPts val="1000"/>
              </a:spcBef>
              <a:spcAft>
                <a:spcPts val="0"/>
              </a:spcAft>
              <a:buSzPct val="129031"/>
              <a:buNone/>
            </a:pPr>
            <a:r>
              <a:rPr lang="en-IN" b="1"/>
              <a:t>Equivalence Relation</a:t>
            </a:r>
            <a:r>
              <a:rPr lang="en-IN"/>
              <a:t>- A relation that is symmetric, transitive, and reflexive at the same time.</a:t>
            </a:r>
            <a:endParaRPr/>
          </a:p>
        </p:txBody>
      </p:sp>
      <p:sp>
        <p:nvSpPr>
          <p:cNvPr id="284" name="Google Shape;284;g267cbe2f8b4_0_96"/>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267cbe2f8b4_0_10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Function</a:t>
            </a:r>
            <a:endParaRPr/>
          </a:p>
        </p:txBody>
      </p:sp>
      <p:sp>
        <p:nvSpPr>
          <p:cNvPr id="291" name="Google Shape;291;g267cbe2f8b4_0_10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IN"/>
              <a:t>A function is a special kind of relation. It is a relation in which each domain value maps only to one range value. It is denoted by ƒ:X⇒Y</a:t>
            </a:r>
            <a:endParaRPr/>
          </a:p>
          <a:p>
            <a:pPr marL="0" lvl="0" indent="0" algn="just" rtl="0">
              <a:lnSpc>
                <a:spcPct val="100000"/>
              </a:lnSpc>
              <a:spcBef>
                <a:spcPts val="1000"/>
              </a:spcBef>
              <a:spcAft>
                <a:spcPts val="0"/>
              </a:spcAft>
              <a:buSzPts val="1800"/>
              <a:buNone/>
            </a:pPr>
            <a:r>
              <a:rPr lang="en-IN"/>
              <a:t>What this means that it is a function from X to Y. It takes input from set X and gives the unique value from set Y as output. “X” is called the domain of the function while “Y” is called the co-domain. </a:t>
            </a:r>
            <a:endParaRPr/>
          </a:p>
        </p:txBody>
      </p:sp>
      <p:sp>
        <p:nvSpPr>
          <p:cNvPr id="292" name="Google Shape;292;g267cbe2f8b4_0_10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267cbe2f8b4_0_11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Types of Function</a:t>
            </a:r>
            <a:endParaRPr/>
          </a:p>
        </p:txBody>
      </p:sp>
      <p:sp>
        <p:nvSpPr>
          <p:cNvPr id="299" name="Google Shape;299;g267cbe2f8b4_0_11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IN" b="1"/>
              <a:t>Identity function</a:t>
            </a:r>
            <a:r>
              <a:rPr lang="en-IN"/>
              <a:t>: The function defined by y = f (x) = x for each x ∈ R.</a:t>
            </a:r>
            <a:endParaRPr/>
          </a:p>
          <a:p>
            <a:pPr marL="0" lvl="0" indent="0" algn="l" rtl="0">
              <a:lnSpc>
                <a:spcPct val="100000"/>
              </a:lnSpc>
              <a:spcBef>
                <a:spcPts val="1000"/>
              </a:spcBef>
              <a:spcAft>
                <a:spcPts val="0"/>
              </a:spcAft>
              <a:buClr>
                <a:schemeClr val="dk1"/>
              </a:buClr>
              <a:buSzPts val="1100"/>
              <a:buFont typeface="Arial"/>
              <a:buNone/>
            </a:pPr>
            <a:r>
              <a:rPr lang="en-IN" b="1"/>
              <a:t>Constant function</a:t>
            </a:r>
            <a:r>
              <a:rPr lang="en-IN"/>
              <a:t>: The function defined by y = f(x) = C, x ∈ R.</a:t>
            </a:r>
            <a:endParaRPr/>
          </a:p>
          <a:p>
            <a:pPr marL="0" lvl="0" indent="0" algn="l" rtl="0">
              <a:lnSpc>
                <a:spcPct val="100000"/>
              </a:lnSpc>
              <a:spcBef>
                <a:spcPts val="1000"/>
              </a:spcBef>
              <a:spcAft>
                <a:spcPts val="0"/>
              </a:spcAft>
              <a:buClr>
                <a:schemeClr val="dk1"/>
              </a:buClr>
              <a:buSzPts val="1100"/>
              <a:buFont typeface="Arial"/>
              <a:buNone/>
            </a:pPr>
            <a:r>
              <a:rPr lang="en-IN" b="1"/>
              <a:t>Polynomial function</a:t>
            </a:r>
            <a:r>
              <a:rPr lang="en-IN"/>
              <a:t>: f(x) = anxn   + an-1xn-1  + ….. + a0</a:t>
            </a:r>
            <a:endParaRPr/>
          </a:p>
          <a:p>
            <a:pPr marL="0" lvl="0" indent="0" algn="l" rtl="0">
              <a:lnSpc>
                <a:spcPct val="100000"/>
              </a:lnSpc>
              <a:spcBef>
                <a:spcPts val="1000"/>
              </a:spcBef>
              <a:spcAft>
                <a:spcPts val="0"/>
              </a:spcAft>
              <a:buClr>
                <a:schemeClr val="dk1"/>
              </a:buClr>
              <a:buSzPts val="1100"/>
              <a:buFont typeface="Arial"/>
              <a:buNone/>
            </a:pPr>
            <a:r>
              <a:rPr lang="en-IN" b="1"/>
              <a:t>Rational function</a:t>
            </a:r>
            <a:r>
              <a:rPr lang="en-IN"/>
              <a:t>: These are function of the form p(x)/q(x).</a:t>
            </a:r>
            <a:endParaRPr/>
          </a:p>
          <a:p>
            <a:pPr marL="0" lvl="0" indent="0" algn="l" rtl="0">
              <a:lnSpc>
                <a:spcPct val="100000"/>
              </a:lnSpc>
              <a:spcBef>
                <a:spcPts val="1000"/>
              </a:spcBef>
              <a:spcAft>
                <a:spcPts val="0"/>
              </a:spcAft>
              <a:buSzPts val="1800"/>
              <a:buNone/>
            </a:pPr>
            <a:endParaRPr/>
          </a:p>
        </p:txBody>
      </p:sp>
      <p:sp>
        <p:nvSpPr>
          <p:cNvPr id="300" name="Google Shape;300;g267cbe2f8b4_0_11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267cb0a875b_1_11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VECTORS</a:t>
            </a:r>
            <a:endParaRPr/>
          </a:p>
        </p:txBody>
      </p:sp>
      <p:sp>
        <p:nvSpPr>
          <p:cNvPr id="307" name="Google Shape;307;g267cb0a875b_1_119"/>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00000"/>
              </a:lnSpc>
              <a:spcBef>
                <a:spcPts val="1000"/>
              </a:spcBef>
              <a:spcAft>
                <a:spcPts val="0"/>
              </a:spcAft>
              <a:buSzPct val="108107"/>
              <a:buNone/>
            </a:pPr>
            <a:r>
              <a:rPr lang="en-IN"/>
              <a:t>A k-dimensional vector y is an ordered collection of k real numbers y1, y2, . . . , yk , and is written as y = (y1, y2, . . . , yk ). The numbers y j (j = 1, 2, . . . , k) are called the components of the vector y.</a:t>
            </a:r>
            <a:endParaRPr/>
          </a:p>
          <a:p>
            <a:pPr marL="0" lvl="0" indent="457200" algn="just" rtl="0">
              <a:lnSpc>
                <a:spcPct val="100000"/>
              </a:lnSpc>
              <a:spcBef>
                <a:spcPts val="1000"/>
              </a:spcBef>
              <a:spcAft>
                <a:spcPts val="0"/>
              </a:spcAft>
              <a:buSzPct val="108107"/>
              <a:buNone/>
            </a:pPr>
            <a:r>
              <a:rPr lang="en-IN"/>
              <a:t>Ex: (1, −3, 0, 5) is a four-dimensional vector. Its first component is 1, its second component is −3, and its third and fourth components are 0 and 5, respectively.</a:t>
            </a:r>
            <a:endParaRPr/>
          </a:p>
          <a:p>
            <a:pPr marL="0" lvl="0" indent="0" algn="just" rtl="0">
              <a:lnSpc>
                <a:spcPct val="100000"/>
              </a:lnSpc>
              <a:spcBef>
                <a:spcPts val="1000"/>
              </a:spcBef>
              <a:spcAft>
                <a:spcPts val="0"/>
              </a:spcAft>
              <a:buSzPct val="108107"/>
              <a:buNone/>
            </a:pPr>
            <a:r>
              <a:rPr lang="en-IN"/>
              <a:t>Scalar multiplication of a vector y = (y1, y2, . . . , yk ) and a scalar α is defined to be a new vector z = (z1,z2, . . . ,zk ), written z = αy or z = yα, whose components are given by z</a:t>
            </a:r>
            <a:r>
              <a:rPr lang="en-IN" baseline="-25000"/>
              <a:t>j</a:t>
            </a:r>
            <a:r>
              <a:rPr lang="en-IN"/>
              <a:t> = αy </a:t>
            </a:r>
            <a:r>
              <a:rPr lang="en-IN" baseline="-25000"/>
              <a:t>j</a:t>
            </a:r>
            <a:endParaRPr/>
          </a:p>
          <a:p>
            <a:pPr marL="0" lvl="0" indent="0" algn="just" rtl="0">
              <a:lnSpc>
                <a:spcPct val="100000"/>
              </a:lnSpc>
              <a:spcBef>
                <a:spcPts val="1000"/>
              </a:spcBef>
              <a:spcAft>
                <a:spcPts val="0"/>
              </a:spcAft>
              <a:buSzPct val="108107"/>
              <a:buNone/>
            </a:pPr>
            <a:r>
              <a:rPr lang="en-IN"/>
              <a:t>Vector addition of two k-dimensional vectors x = (x1, x2, . . . , xk ) and y = (y1, y2, . . . , yk ) is defined as a new vectorz = (z1,z2, . . . ,zk ), denoted z = x+y, with components given by z</a:t>
            </a:r>
            <a:r>
              <a:rPr lang="en-IN" baseline="-25000"/>
              <a:t>j</a:t>
            </a:r>
            <a:r>
              <a:rPr lang="en-IN"/>
              <a:t>  = x</a:t>
            </a:r>
            <a:r>
              <a:rPr lang="en-IN" baseline="-25000"/>
              <a:t>j</a:t>
            </a:r>
            <a:r>
              <a:rPr lang="en-IN"/>
              <a:t> +y</a:t>
            </a:r>
            <a:r>
              <a:rPr lang="en-IN" baseline="-25000"/>
              <a:t>j</a:t>
            </a:r>
            <a:r>
              <a:rPr lang="en-IN"/>
              <a:t> </a:t>
            </a:r>
            <a:endParaRPr/>
          </a:p>
        </p:txBody>
      </p:sp>
      <p:sp>
        <p:nvSpPr>
          <p:cNvPr id="308" name="Google Shape;308;g267cb0a875b_1_11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267cb0a875b_1_13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MATRICES</a:t>
            </a:r>
            <a:endParaRPr/>
          </a:p>
        </p:txBody>
      </p:sp>
      <p:sp>
        <p:nvSpPr>
          <p:cNvPr id="315" name="Google Shape;315;g267cb0a875b_1_131"/>
          <p:cNvSpPr txBox="1">
            <a:spLocks noGrp="1"/>
          </p:cNvSpPr>
          <p:nvPr>
            <p:ph type="body" idx="1"/>
          </p:nvPr>
        </p:nvSpPr>
        <p:spPr>
          <a:xfrm>
            <a:off x="1581899" y="2638050"/>
            <a:ext cx="4756500" cy="3102000"/>
          </a:xfrm>
          <a:prstGeom prst="rect">
            <a:avLst/>
          </a:prstGeom>
          <a:noFill/>
          <a:ln>
            <a:noFill/>
          </a:ln>
        </p:spPr>
        <p:txBody>
          <a:bodyPr spcFirstLastPara="1" wrap="square" lIns="91425" tIns="45700" rIns="91425" bIns="45700" anchor="t" anchorCtr="0">
            <a:normAutofit/>
          </a:bodyPr>
          <a:lstStyle/>
          <a:p>
            <a:pPr marL="457200" lvl="0" indent="-342900" algn="just" rtl="0">
              <a:lnSpc>
                <a:spcPct val="100000"/>
              </a:lnSpc>
              <a:spcBef>
                <a:spcPts val="1000"/>
              </a:spcBef>
              <a:spcAft>
                <a:spcPts val="0"/>
              </a:spcAft>
              <a:buSzPts val="1800"/>
              <a:buChar char="•"/>
            </a:pPr>
            <a:r>
              <a:rPr lang="en-IN"/>
              <a:t>We can now extend these ideas to any rectangular array of numbers, which we call a matrix.</a:t>
            </a:r>
            <a:endParaRPr/>
          </a:p>
          <a:p>
            <a:pPr marL="457200" lvl="0" indent="-342900" algn="just" rtl="0">
              <a:lnSpc>
                <a:spcPct val="100000"/>
              </a:lnSpc>
              <a:spcBef>
                <a:spcPts val="0"/>
              </a:spcBef>
              <a:spcAft>
                <a:spcPts val="0"/>
              </a:spcAft>
              <a:buSzPts val="1800"/>
              <a:buChar char="•"/>
            </a:pPr>
            <a:r>
              <a:rPr lang="en-IN"/>
              <a:t>A matrix is defined to be a rectangular array of numbers.</a:t>
            </a:r>
            <a:endParaRPr/>
          </a:p>
          <a:p>
            <a:pPr marL="457200" lvl="0" indent="-342900" algn="just" rtl="0">
              <a:lnSpc>
                <a:spcPct val="100000"/>
              </a:lnSpc>
              <a:spcBef>
                <a:spcPts val="0"/>
              </a:spcBef>
              <a:spcAft>
                <a:spcPts val="0"/>
              </a:spcAft>
              <a:buSzPts val="1800"/>
              <a:buChar char="•"/>
            </a:pPr>
            <a:r>
              <a:rPr lang="en-IN"/>
              <a:t>whose dimension is m by n. A is called square if m = n. The numbers ai j are referred to as the elements of A.</a:t>
            </a:r>
            <a:endParaRPr/>
          </a:p>
          <a:p>
            <a:pPr marL="0" lvl="0" indent="0" algn="l" rtl="0">
              <a:lnSpc>
                <a:spcPct val="100000"/>
              </a:lnSpc>
              <a:spcBef>
                <a:spcPts val="1000"/>
              </a:spcBef>
              <a:spcAft>
                <a:spcPts val="0"/>
              </a:spcAft>
              <a:buSzPts val="1800"/>
              <a:buNone/>
            </a:pPr>
            <a:endParaRPr/>
          </a:p>
        </p:txBody>
      </p:sp>
      <p:sp>
        <p:nvSpPr>
          <p:cNvPr id="316" name="Google Shape;316;g267cb0a875b_1_13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26</a:t>
            </a:fld>
            <a:endParaRPr/>
          </a:p>
        </p:txBody>
      </p:sp>
      <p:pic>
        <p:nvPicPr>
          <p:cNvPr id="317" name="Google Shape;317;g267cb0a875b_1_131"/>
          <p:cNvPicPr preferRelativeResize="0"/>
          <p:nvPr/>
        </p:nvPicPr>
        <p:blipFill rotWithShape="1">
          <a:blip r:embed="rId3">
            <a:alphaModFix/>
          </a:blip>
          <a:srcRect t="12617"/>
          <a:stretch/>
        </p:blipFill>
        <p:spPr>
          <a:xfrm>
            <a:off x="6499850" y="2638050"/>
            <a:ext cx="3733800" cy="1781175"/>
          </a:xfrm>
          <a:prstGeom prst="rect">
            <a:avLst/>
          </a:prstGeom>
          <a:noFill/>
          <a:ln>
            <a:noFill/>
          </a:ln>
        </p:spPr>
      </p:pic>
      <p:sp>
        <p:nvSpPr>
          <p:cNvPr id="318" name="Google Shape;318;g267cb0a875b_1_131"/>
          <p:cNvSpPr txBox="1">
            <a:spLocks noGrp="1"/>
          </p:cNvSpPr>
          <p:nvPr>
            <p:ph type="body" idx="2"/>
          </p:nvPr>
        </p:nvSpPr>
        <p:spPr>
          <a:xfrm>
            <a:off x="6338315" y="2638044"/>
            <a:ext cx="42702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267cb0a875b_1_144"/>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chemeClr val="dk1"/>
              </a:buClr>
              <a:buSzPts val="1100"/>
              <a:buFont typeface="Arial"/>
              <a:buNone/>
            </a:pPr>
            <a:r>
              <a:rPr lang="en-IN"/>
              <a:t>Types Matrices</a:t>
            </a:r>
            <a:endParaRPr/>
          </a:p>
        </p:txBody>
      </p:sp>
      <p:sp>
        <p:nvSpPr>
          <p:cNvPr id="325" name="Google Shape;325;g267cb0a875b_1_144"/>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00000"/>
              </a:lnSpc>
              <a:spcBef>
                <a:spcPts val="1000"/>
              </a:spcBef>
              <a:spcAft>
                <a:spcPts val="0"/>
              </a:spcAft>
              <a:buSzPct val="108107"/>
              <a:buNone/>
            </a:pPr>
            <a:r>
              <a:rPr lang="en-IN"/>
              <a:t>Two matrices A and B are said to be </a:t>
            </a:r>
            <a:r>
              <a:rPr lang="en-IN" b="1"/>
              <a:t>equal</a:t>
            </a:r>
            <a:r>
              <a:rPr lang="en-IN"/>
              <a:t>, written A = B, if they have the same dimension and their corresponding elements are equal, i.e., a</a:t>
            </a:r>
            <a:r>
              <a:rPr lang="en-IN" baseline="-25000"/>
              <a:t>i j </a:t>
            </a:r>
            <a:r>
              <a:rPr lang="en-IN"/>
              <a:t>= b</a:t>
            </a:r>
            <a:r>
              <a:rPr lang="en-IN" baseline="-25000"/>
              <a:t>i j </a:t>
            </a:r>
            <a:r>
              <a:rPr lang="en-IN"/>
              <a:t> for all i and j.</a:t>
            </a:r>
            <a:endParaRPr/>
          </a:p>
          <a:p>
            <a:pPr marL="0" lvl="0" indent="0" algn="just" rtl="0">
              <a:lnSpc>
                <a:spcPct val="100000"/>
              </a:lnSpc>
              <a:spcBef>
                <a:spcPts val="1000"/>
              </a:spcBef>
              <a:spcAft>
                <a:spcPts val="0"/>
              </a:spcAft>
              <a:buSzPct val="108107"/>
              <a:buNone/>
            </a:pPr>
            <a:r>
              <a:rPr lang="en-IN"/>
              <a:t>A k-by-1 matrix is called a </a:t>
            </a:r>
            <a:r>
              <a:rPr lang="en-IN" b="1"/>
              <a:t>column vector </a:t>
            </a:r>
            <a:r>
              <a:rPr lang="en-IN"/>
              <a:t>and a 1-by-k matrix is called a row vector.</a:t>
            </a:r>
            <a:endParaRPr/>
          </a:p>
          <a:p>
            <a:pPr marL="0" lvl="0" indent="0" algn="just" rtl="0">
              <a:lnSpc>
                <a:spcPct val="100000"/>
              </a:lnSpc>
              <a:spcBef>
                <a:spcPts val="1000"/>
              </a:spcBef>
              <a:spcAft>
                <a:spcPts val="0"/>
              </a:spcAft>
              <a:buClr>
                <a:schemeClr val="dk1"/>
              </a:buClr>
              <a:buSzPct val="61109"/>
              <a:buFont typeface="Arial"/>
              <a:buNone/>
            </a:pPr>
            <a:r>
              <a:rPr lang="en-IN"/>
              <a:t>The </a:t>
            </a:r>
            <a:r>
              <a:rPr lang="en-IN" b="1"/>
              <a:t>identity matrix</a:t>
            </a:r>
            <a:r>
              <a:rPr lang="en-IN"/>
              <a:t> of order m, written Im (or simply I, when no confusion arises) is a square m-by-m matrix with ones along the diagonal and zeros elsewhere.</a:t>
            </a:r>
            <a:endParaRPr/>
          </a:p>
          <a:p>
            <a:pPr marL="0" lvl="0" indent="0" algn="just" rtl="0">
              <a:lnSpc>
                <a:spcPct val="100000"/>
              </a:lnSpc>
              <a:spcBef>
                <a:spcPts val="1000"/>
              </a:spcBef>
              <a:spcAft>
                <a:spcPts val="0"/>
              </a:spcAft>
              <a:buSzPct val="108107"/>
              <a:buNone/>
            </a:pPr>
            <a:r>
              <a:rPr lang="en-IN"/>
              <a:t>An </a:t>
            </a:r>
            <a:r>
              <a:rPr lang="en-IN" b="1"/>
              <a:t>elementary matrix</a:t>
            </a:r>
            <a:r>
              <a:rPr lang="en-IN"/>
              <a:t> is a square matrix with one arbitrary column, but otherwise ones along the diagonal and zeros elsewhere (i.e., an identify matrix with the exception of one column).</a:t>
            </a:r>
            <a:endParaRPr/>
          </a:p>
          <a:p>
            <a:pPr marL="0" lvl="0" indent="0" algn="l" rtl="0">
              <a:lnSpc>
                <a:spcPct val="100000"/>
              </a:lnSpc>
              <a:spcBef>
                <a:spcPts val="1000"/>
              </a:spcBef>
              <a:spcAft>
                <a:spcPts val="0"/>
              </a:spcAft>
              <a:buSzPct val="108107"/>
              <a:buNone/>
            </a:pPr>
            <a:endParaRPr/>
          </a:p>
        </p:txBody>
      </p:sp>
      <p:sp>
        <p:nvSpPr>
          <p:cNvPr id="326" name="Google Shape;326;g267cb0a875b_1_14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267cb0a875b_1_15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IN" b="1"/>
              <a:t>Scalar</a:t>
            </a:r>
            <a:r>
              <a:rPr lang="en-IN"/>
              <a:t> </a:t>
            </a:r>
            <a:r>
              <a:rPr lang="en-IN" b="1"/>
              <a:t>multiplication</a:t>
            </a:r>
            <a:r>
              <a:rPr lang="en-IN"/>
              <a:t> of a matrix A and a real number α is defined to be a new matrix B, written B = αA or B = Aα, whose elements b</a:t>
            </a:r>
            <a:r>
              <a:rPr lang="en-IN" baseline="-25000"/>
              <a:t>i j </a:t>
            </a:r>
            <a:r>
              <a:rPr lang="en-IN"/>
              <a:t> are given by b</a:t>
            </a:r>
            <a:r>
              <a:rPr lang="en-IN" baseline="-25000"/>
              <a:t>i j </a:t>
            </a:r>
            <a:r>
              <a:rPr lang="en-IN"/>
              <a:t> = αa</a:t>
            </a:r>
            <a:r>
              <a:rPr lang="en-IN" baseline="-25000"/>
              <a:t>i j </a:t>
            </a:r>
            <a:endParaRPr/>
          </a:p>
          <a:p>
            <a:pPr marL="0" lvl="0" indent="0" algn="just" rtl="0">
              <a:lnSpc>
                <a:spcPct val="100000"/>
              </a:lnSpc>
              <a:spcBef>
                <a:spcPts val="1000"/>
              </a:spcBef>
              <a:spcAft>
                <a:spcPts val="0"/>
              </a:spcAft>
              <a:buSzPts val="1800"/>
              <a:buNone/>
            </a:pPr>
            <a:r>
              <a:rPr lang="en-IN" b="1"/>
              <a:t>Addition</a:t>
            </a:r>
            <a:r>
              <a:rPr lang="en-IN"/>
              <a:t> of two matrices A and B, both with dimension m by n, is defined as a new matrix C, written C = A + B, whose elements c</a:t>
            </a:r>
            <a:r>
              <a:rPr lang="en-IN" baseline="-25000"/>
              <a:t>i j </a:t>
            </a:r>
            <a:r>
              <a:rPr lang="en-IN"/>
              <a:t>are given by c</a:t>
            </a:r>
            <a:r>
              <a:rPr lang="en-IN" baseline="-25000"/>
              <a:t>i j</a:t>
            </a:r>
            <a:r>
              <a:rPr lang="en-IN"/>
              <a:t> = a</a:t>
            </a:r>
            <a:r>
              <a:rPr lang="en-IN" baseline="-25000"/>
              <a:t>i j</a:t>
            </a:r>
            <a:r>
              <a:rPr lang="en-IN"/>
              <a:t> + b</a:t>
            </a:r>
            <a:r>
              <a:rPr lang="en-IN" baseline="-25000"/>
              <a:t>i j</a:t>
            </a:r>
            <a:r>
              <a:rPr lang="en-IN"/>
              <a:t> </a:t>
            </a:r>
            <a:endParaRPr/>
          </a:p>
          <a:p>
            <a:pPr marL="0" lvl="0" indent="0" algn="just" rtl="0">
              <a:lnSpc>
                <a:spcPct val="100000"/>
              </a:lnSpc>
              <a:spcBef>
                <a:spcPts val="1000"/>
              </a:spcBef>
              <a:spcAft>
                <a:spcPts val="0"/>
              </a:spcAft>
              <a:buSzPts val="1800"/>
              <a:buNone/>
            </a:pPr>
            <a:r>
              <a:rPr lang="en-IN"/>
              <a:t>The </a:t>
            </a:r>
            <a:r>
              <a:rPr lang="en-IN" b="1"/>
              <a:t>product</a:t>
            </a:r>
            <a:r>
              <a:rPr lang="en-IN"/>
              <a:t> of an m-by-p matrix A and a p-by-n matrix B is defined to be a new m-by-n matrix C, written C = AB, whose elements c</a:t>
            </a:r>
            <a:r>
              <a:rPr lang="en-IN" baseline="-25000"/>
              <a:t>i j</a:t>
            </a:r>
            <a:r>
              <a:rPr lang="en-IN"/>
              <a:t> are given by:</a:t>
            </a:r>
            <a:endParaRPr/>
          </a:p>
          <a:p>
            <a:pPr marL="0" marR="0" lvl="0" indent="0" algn="l" rtl="0">
              <a:lnSpc>
                <a:spcPct val="100000"/>
              </a:lnSpc>
              <a:spcBef>
                <a:spcPts val="1000"/>
              </a:spcBef>
              <a:spcAft>
                <a:spcPts val="0"/>
              </a:spcAft>
              <a:buSzPts val="1800"/>
              <a:buNone/>
            </a:pPr>
            <a:endParaRPr/>
          </a:p>
          <a:p>
            <a:pPr marL="0" lvl="0" indent="0" algn="l" rtl="0">
              <a:lnSpc>
                <a:spcPct val="100000"/>
              </a:lnSpc>
              <a:spcBef>
                <a:spcPts val="1000"/>
              </a:spcBef>
              <a:spcAft>
                <a:spcPts val="0"/>
              </a:spcAft>
              <a:buClr>
                <a:schemeClr val="dk1"/>
              </a:buClr>
              <a:buSzPts val="1100"/>
              <a:buFont typeface="Arial"/>
              <a:buNone/>
            </a:pPr>
            <a:endParaRPr/>
          </a:p>
        </p:txBody>
      </p:sp>
      <p:sp>
        <p:nvSpPr>
          <p:cNvPr id="333" name="Google Shape;333;g267cb0a875b_1_15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Operation on Matrices</a:t>
            </a:r>
            <a:endParaRPr/>
          </a:p>
        </p:txBody>
      </p:sp>
      <p:sp>
        <p:nvSpPr>
          <p:cNvPr id="334" name="Google Shape;334;g267cb0a875b_1_15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28</a:t>
            </a:fld>
            <a:endParaRPr/>
          </a:p>
        </p:txBody>
      </p:sp>
      <p:pic>
        <p:nvPicPr>
          <p:cNvPr id="335" name="Google Shape;335;g267cb0a875b_1_155"/>
          <p:cNvPicPr preferRelativeResize="0"/>
          <p:nvPr/>
        </p:nvPicPr>
        <p:blipFill rotWithShape="1">
          <a:blip r:embed="rId3">
            <a:alphaModFix/>
          </a:blip>
          <a:srcRect/>
          <a:stretch/>
        </p:blipFill>
        <p:spPr>
          <a:xfrm>
            <a:off x="4914900" y="4991100"/>
            <a:ext cx="1926336" cy="91730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267cb0a875b_1_16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Operation on Matrices</a:t>
            </a:r>
            <a:endParaRPr/>
          </a:p>
        </p:txBody>
      </p:sp>
      <p:sp>
        <p:nvSpPr>
          <p:cNvPr id="342" name="Google Shape;342;g267cb0a875b_1_168"/>
          <p:cNvSpPr txBox="1">
            <a:spLocks noGrp="1"/>
          </p:cNvSpPr>
          <p:nvPr>
            <p:ph type="body" idx="1"/>
          </p:nvPr>
        </p:nvSpPr>
        <p:spPr>
          <a:xfrm>
            <a:off x="2231124" y="2638050"/>
            <a:ext cx="80979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IN"/>
              <a:t>The transpose of a matrix A, denoted A t , is formed by interchanging the rows and columns of A; that is, a</a:t>
            </a:r>
            <a:r>
              <a:rPr lang="en-IN" baseline="30000"/>
              <a:t>t</a:t>
            </a:r>
            <a:r>
              <a:rPr lang="en-IN" baseline="-25000"/>
              <a:t>i j</a:t>
            </a:r>
            <a:r>
              <a:rPr lang="en-IN"/>
              <a:t> = a</a:t>
            </a:r>
            <a:r>
              <a:rPr lang="en-IN" baseline="-25000"/>
              <a:t> ji </a:t>
            </a:r>
            <a:endParaRPr baseline="-25000"/>
          </a:p>
          <a:p>
            <a:pPr marL="0" lvl="0" indent="0" algn="l" rtl="0">
              <a:lnSpc>
                <a:spcPct val="100000"/>
              </a:lnSpc>
              <a:spcBef>
                <a:spcPts val="1000"/>
              </a:spcBef>
              <a:spcAft>
                <a:spcPts val="0"/>
              </a:spcAft>
              <a:buSzPts val="1800"/>
              <a:buNone/>
            </a:pPr>
            <a:endParaRPr baseline="-25000"/>
          </a:p>
        </p:txBody>
      </p:sp>
      <p:sp>
        <p:nvSpPr>
          <p:cNvPr id="343" name="Google Shape;343;g267cb0a875b_1_16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67cb0a875b_1_17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Linear Inequalities and Linear Equations</a:t>
            </a:r>
            <a:endParaRPr/>
          </a:p>
        </p:txBody>
      </p:sp>
      <p:sp>
        <p:nvSpPr>
          <p:cNvPr id="350" name="Google Shape;350;g267cb0a875b_1_17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00000"/>
              </a:lnSpc>
              <a:spcBef>
                <a:spcPts val="1000"/>
              </a:spcBef>
              <a:spcAft>
                <a:spcPts val="0"/>
              </a:spcAft>
              <a:buSzPts val="1800"/>
              <a:buNone/>
            </a:pPr>
            <a:r>
              <a:rPr lang="en-IN"/>
              <a:t>Linear inequalities:  Linear inequalities are the expressions where any two values are compared by the inequality symbols such as, '&lt;', '&gt;', '≤' or '≥'. These values could be numerical or algebraic or a combination of both.</a:t>
            </a:r>
            <a:endParaRPr/>
          </a:p>
          <a:p>
            <a:pPr marL="0" lvl="0" indent="0" algn="just" rtl="0">
              <a:lnSpc>
                <a:spcPct val="100000"/>
              </a:lnSpc>
              <a:spcBef>
                <a:spcPts val="1000"/>
              </a:spcBef>
              <a:spcAft>
                <a:spcPts val="0"/>
              </a:spcAft>
              <a:buSzPts val="1800"/>
              <a:buNone/>
            </a:pPr>
            <a:r>
              <a:rPr lang="en-IN"/>
              <a:t>Linear Equations : A linear equation in one unknown  can always be stated into the standard form ax = b , Where x is an unknown and a and b are constants. If a is not equal to zero, this equation has a unique solution x=b/a.</a:t>
            </a:r>
            <a:endParaRPr/>
          </a:p>
          <a:p>
            <a:pPr marL="0" lvl="0" indent="0" algn="just" rtl="0">
              <a:lnSpc>
                <a:spcPct val="100000"/>
              </a:lnSpc>
              <a:spcBef>
                <a:spcPts val="1000"/>
              </a:spcBef>
              <a:spcAft>
                <a:spcPts val="0"/>
              </a:spcAft>
              <a:buSzPts val="1800"/>
              <a:buNone/>
            </a:pPr>
            <a:r>
              <a:rPr lang="en-IN"/>
              <a:t>Examples : x&gt;6</a:t>
            </a:r>
            <a:endParaRPr/>
          </a:p>
          <a:p>
            <a:pPr marL="0" lvl="0" indent="0" algn="just" rtl="0">
              <a:lnSpc>
                <a:spcPct val="100000"/>
              </a:lnSpc>
              <a:spcBef>
                <a:spcPts val="1000"/>
              </a:spcBef>
              <a:spcAft>
                <a:spcPts val="0"/>
              </a:spcAft>
              <a:buSzPts val="1800"/>
              <a:buNone/>
            </a:pPr>
            <a:r>
              <a:rPr lang="en-IN"/>
              <a:t>x+y+2z&gt;16</a:t>
            </a:r>
            <a:endParaRPr/>
          </a:p>
          <a:p>
            <a:pPr marL="0" lvl="0" indent="0" algn="just" rtl="0">
              <a:lnSpc>
                <a:spcPct val="100000"/>
              </a:lnSpc>
              <a:spcBef>
                <a:spcPts val="1000"/>
              </a:spcBef>
              <a:spcAft>
                <a:spcPts val="0"/>
              </a:spcAft>
              <a:buSzPts val="1800"/>
              <a:buNone/>
            </a:pPr>
            <a:r>
              <a:rPr lang="en-IN"/>
              <a:t>q+q&lt;20</a:t>
            </a:r>
            <a:endParaRPr/>
          </a:p>
        </p:txBody>
      </p:sp>
      <p:sp>
        <p:nvSpPr>
          <p:cNvPr id="351" name="Google Shape;351;g267cb0a875b_1_17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I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267cb0a875b_1_19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IN"/>
              <a:t>Linear Inequalities and Linear Equations</a:t>
            </a:r>
            <a:endParaRPr/>
          </a:p>
        </p:txBody>
      </p:sp>
      <p:sp>
        <p:nvSpPr>
          <p:cNvPr id="358" name="Google Shape;358;g267cb0a875b_1_190"/>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IN"/>
              <a:t>Linear Equation with 2 variables unknown:</a:t>
            </a:r>
            <a:endParaRPr/>
          </a:p>
          <a:p>
            <a:pPr marL="0" lvl="0" indent="457200" algn="just" rtl="0">
              <a:lnSpc>
                <a:spcPct val="100000"/>
              </a:lnSpc>
              <a:spcBef>
                <a:spcPts val="1000"/>
              </a:spcBef>
              <a:spcAft>
                <a:spcPts val="0"/>
              </a:spcAft>
              <a:buSzPts val="1800"/>
              <a:buNone/>
            </a:pPr>
            <a:r>
              <a:rPr lang="en-IN"/>
              <a:t>a</a:t>
            </a:r>
            <a:r>
              <a:rPr lang="en-IN" baseline="-25000"/>
              <a:t>1</a:t>
            </a:r>
            <a:r>
              <a:rPr lang="en-IN"/>
              <a:t>x+b</a:t>
            </a:r>
            <a:r>
              <a:rPr lang="en-IN" baseline="-25000"/>
              <a:t>1</a:t>
            </a:r>
            <a:r>
              <a:rPr lang="en-IN"/>
              <a:t>y=c</a:t>
            </a:r>
            <a:r>
              <a:rPr lang="en-IN" baseline="-25000"/>
              <a:t>1</a:t>
            </a:r>
            <a:endParaRPr/>
          </a:p>
          <a:p>
            <a:pPr marL="0" lvl="0" indent="457200" algn="just" rtl="0">
              <a:lnSpc>
                <a:spcPct val="100000"/>
              </a:lnSpc>
              <a:spcBef>
                <a:spcPts val="1000"/>
              </a:spcBef>
              <a:spcAft>
                <a:spcPts val="0"/>
              </a:spcAft>
              <a:buSzPts val="1800"/>
              <a:buNone/>
            </a:pPr>
            <a:r>
              <a:rPr lang="en-IN"/>
              <a:t>a</a:t>
            </a:r>
            <a:r>
              <a:rPr lang="en-IN" baseline="-25000"/>
              <a:t>2</a:t>
            </a:r>
            <a:r>
              <a:rPr lang="en-IN"/>
              <a:t>x+b</a:t>
            </a:r>
            <a:r>
              <a:rPr lang="en-IN" baseline="-25000"/>
              <a:t>2</a:t>
            </a:r>
            <a:r>
              <a:rPr lang="en-IN"/>
              <a:t>y=c</a:t>
            </a:r>
            <a:r>
              <a:rPr lang="en-IN" baseline="-25000"/>
              <a:t>2</a:t>
            </a:r>
            <a:endParaRPr baseline="-25000"/>
          </a:p>
          <a:p>
            <a:pPr marL="0" lvl="0" indent="0" algn="just" rtl="0">
              <a:lnSpc>
                <a:spcPct val="100000"/>
              </a:lnSpc>
              <a:spcBef>
                <a:spcPts val="1000"/>
              </a:spcBef>
              <a:spcAft>
                <a:spcPts val="0"/>
              </a:spcAft>
              <a:buSzPts val="1800"/>
              <a:buNone/>
            </a:pPr>
            <a:r>
              <a:rPr lang="en-IN"/>
              <a:t>Solution of above equations can obtained by elimination method.</a:t>
            </a:r>
            <a:endParaRPr baseline="-25000"/>
          </a:p>
          <a:p>
            <a:pPr marL="0" lvl="0" indent="0" algn="just" rtl="0">
              <a:lnSpc>
                <a:spcPct val="100000"/>
              </a:lnSpc>
              <a:spcBef>
                <a:spcPts val="1000"/>
              </a:spcBef>
              <a:spcAft>
                <a:spcPts val="0"/>
              </a:spcAft>
              <a:buSzPts val="1800"/>
              <a:buNone/>
            </a:pPr>
            <a:r>
              <a:rPr lang="en-IN"/>
              <a:t> </a:t>
            </a:r>
            <a:endParaRPr/>
          </a:p>
          <a:p>
            <a:pPr marL="0" lvl="0" indent="0" algn="just" rtl="0">
              <a:lnSpc>
                <a:spcPct val="100000"/>
              </a:lnSpc>
              <a:spcBef>
                <a:spcPts val="1000"/>
              </a:spcBef>
              <a:spcAft>
                <a:spcPts val="0"/>
              </a:spcAft>
              <a:buSzPts val="1800"/>
              <a:buNone/>
            </a:pPr>
            <a:endParaRPr/>
          </a:p>
        </p:txBody>
      </p:sp>
      <p:sp>
        <p:nvSpPr>
          <p:cNvPr id="359" name="Google Shape;359;g267cb0a875b_1_19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I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32</a:t>
            </a:fld>
            <a:endParaRPr/>
          </a:p>
        </p:txBody>
      </p:sp>
      <p:pic>
        <p:nvPicPr>
          <p:cNvPr id="120" name="Google Shape;120;p2"/>
          <p:cNvPicPr preferRelativeResize="0"/>
          <p:nvPr/>
        </p:nvPicPr>
        <p:blipFill rotWithShape="1">
          <a:blip r:embed="rId3">
            <a:alphaModFix/>
          </a:blip>
          <a:srcRect t="30302" b="38638"/>
          <a:stretch/>
        </p:blipFill>
        <p:spPr>
          <a:xfrm>
            <a:off x="1205709" y="1372302"/>
            <a:ext cx="9780582" cy="4113395"/>
          </a:xfrm>
          <a:prstGeom prst="rect">
            <a:avLst/>
          </a:prstGeom>
          <a:noFill/>
          <a:ln>
            <a:noFill/>
          </a:ln>
        </p:spPr>
      </p:pic>
    </p:spTree>
    <p:extLst>
      <p:ext uri="{BB962C8B-B14F-4D97-AF65-F5344CB8AC3E}">
        <p14:creationId xmlns:p14="http://schemas.microsoft.com/office/powerpoint/2010/main" val="1501576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PERFORMANCE ANALYSIS</a:t>
            </a:r>
            <a:endParaRPr/>
          </a:p>
        </p:txBody>
      </p:sp>
      <p:sp>
        <p:nvSpPr>
          <p:cNvPr id="126" name="Google Shape;126;p4"/>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1800"/>
              <a:buChar char="•"/>
            </a:pPr>
            <a:r>
              <a:rPr lang="en-US"/>
              <a:t>There are problems and algorithms to solve them.</a:t>
            </a:r>
            <a:endParaRPr/>
          </a:p>
          <a:p>
            <a:pPr marL="228600" lvl="0" indent="-228600" algn="just" rtl="0">
              <a:lnSpc>
                <a:spcPct val="100000"/>
              </a:lnSpc>
              <a:spcBef>
                <a:spcPts val="1000"/>
              </a:spcBef>
              <a:spcAft>
                <a:spcPts val="0"/>
              </a:spcAft>
              <a:buSzPts val="1800"/>
              <a:buChar char="•"/>
            </a:pPr>
            <a:r>
              <a:rPr lang="en-US"/>
              <a:t>Problems and problem instances.</a:t>
            </a:r>
            <a:endParaRPr/>
          </a:p>
          <a:p>
            <a:pPr marL="228600" lvl="0" indent="-228600" algn="just" rtl="0">
              <a:lnSpc>
                <a:spcPct val="100000"/>
              </a:lnSpc>
              <a:spcBef>
                <a:spcPts val="1000"/>
              </a:spcBef>
              <a:spcAft>
                <a:spcPts val="0"/>
              </a:spcAft>
              <a:buSzPts val="1800"/>
              <a:buChar char="•"/>
            </a:pPr>
            <a:r>
              <a:rPr lang="en-US"/>
              <a:t>Example: Sorting data in ascending order.</a:t>
            </a:r>
            <a:endParaRPr/>
          </a:p>
          <a:p>
            <a:pPr marL="457200" lvl="1" indent="-228600" algn="just" rtl="0">
              <a:lnSpc>
                <a:spcPct val="100000"/>
              </a:lnSpc>
              <a:spcBef>
                <a:spcPts val="1000"/>
              </a:spcBef>
              <a:spcAft>
                <a:spcPts val="0"/>
              </a:spcAft>
              <a:buSzPts val="1600"/>
              <a:buChar char="•"/>
            </a:pPr>
            <a:r>
              <a:rPr lang="en-US"/>
              <a:t>Problem: Sorting</a:t>
            </a:r>
            <a:endParaRPr/>
          </a:p>
          <a:p>
            <a:pPr marL="457200" lvl="1" indent="-228600" algn="just" rtl="0">
              <a:lnSpc>
                <a:spcPct val="100000"/>
              </a:lnSpc>
              <a:spcBef>
                <a:spcPts val="1000"/>
              </a:spcBef>
              <a:spcAft>
                <a:spcPts val="0"/>
              </a:spcAft>
              <a:buSzPts val="1600"/>
              <a:buChar char="•"/>
            </a:pPr>
            <a:r>
              <a:rPr lang="en-US"/>
              <a:t>Problem Instance: e.g. sorting data (2 3 9 5 6 8)</a:t>
            </a:r>
            <a:endParaRPr/>
          </a:p>
          <a:p>
            <a:pPr marL="457200" lvl="1" indent="-228600" algn="just" rtl="0">
              <a:lnSpc>
                <a:spcPct val="100000"/>
              </a:lnSpc>
              <a:spcBef>
                <a:spcPts val="1000"/>
              </a:spcBef>
              <a:spcAft>
                <a:spcPts val="0"/>
              </a:spcAft>
              <a:buSzPts val="1600"/>
              <a:buChar char="•"/>
            </a:pPr>
            <a:r>
              <a:rPr lang="en-US"/>
              <a:t>Algorithms: Bubble sort, Merge sort, Quick sort, Selection sort, etc.</a:t>
            </a:r>
            <a:endParaRPr/>
          </a:p>
          <a:p>
            <a:pPr marL="228600" lvl="0" indent="-228600" algn="just" rtl="0">
              <a:lnSpc>
                <a:spcPct val="100000"/>
              </a:lnSpc>
              <a:spcBef>
                <a:spcPts val="1000"/>
              </a:spcBef>
              <a:spcAft>
                <a:spcPts val="0"/>
              </a:spcAft>
              <a:buSzPts val="1800"/>
              <a:buChar char="•"/>
            </a:pPr>
            <a:r>
              <a:rPr lang="en-US"/>
              <a:t>Which is the best algorithm for the problem? How do we judge?</a:t>
            </a:r>
            <a:endParaRPr/>
          </a:p>
        </p:txBody>
      </p:sp>
      <p:sp>
        <p:nvSpPr>
          <p:cNvPr id="127" name="Google Shape;127;p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33</a:t>
            </a:fld>
            <a:endParaRPr/>
          </a:p>
        </p:txBody>
      </p:sp>
    </p:spTree>
    <p:extLst>
      <p:ext uri="{BB962C8B-B14F-4D97-AF65-F5344CB8AC3E}">
        <p14:creationId xmlns:p14="http://schemas.microsoft.com/office/powerpoint/2010/main" val="262040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PERFORMANCE ANALYSIS</a:t>
            </a:r>
            <a:endParaRPr/>
          </a:p>
        </p:txBody>
      </p:sp>
      <p:sp>
        <p:nvSpPr>
          <p:cNvPr id="133" name="Google Shape;133;p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1800"/>
              <a:buChar char="•"/>
            </a:pPr>
            <a:r>
              <a:rPr lang="en-US"/>
              <a:t>Two criteria are used to judge algorithms: (i) time complexity (ii) space complexity.</a:t>
            </a:r>
            <a:endParaRPr/>
          </a:p>
          <a:p>
            <a:pPr marL="228600" lvl="0" indent="-228600" algn="just" rtl="0">
              <a:lnSpc>
                <a:spcPct val="100000"/>
              </a:lnSpc>
              <a:spcBef>
                <a:spcPts val="1000"/>
              </a:spcBef>
              <a:spcAft>
                <a:spcPts val="0"/>
              </a:spcAft>
              <a:buSzPts val="1800"/>
              <a:buChar char="•"/>
            </a:pPr>
            <a:r>
              <a:rPr lang="en-US" b="1"/>
              <a:t>Space Complexity </a:t>
            </a:r>
            <a:r>
              <a:rPr lang="en-US"/>
              <a:t>of an algorithm is the amount of memory it needs to run to completion.</a:t>
            </a:r>
            <a:endParaRPr/>
          </a:p>
          <a:p>
            <a:pPr marL="228600" lvl="0" indent="-228600" algn="just" rtl="0">
              <a:lnSpc>
                <a:spcPct val="100000"/>
              </a:lnSpc>
              <a:spcBef>
                <a:spcPts val="1000"/>
              </a:spcBef>
              <a:spcAft>
                <a:spcPts val="0"/>
              </a:spcAft>
              <a:buSzPts val="1800"/>
              <a:buChar char="•"/>
            </a:pPr>
            <a:r>
              <a:rPr lang="en-US" b="1"/>
              <a:t>Time Complexity </a:t>
            </a:r>
            <a:r>
              <a:rPr lang="en-US"/>
              <a:t>of an algorithm is the amount of CPU time it needs to run to completion.</a:t>
            </a:r>
            <a:endParaRPr/>
          </a:p>
          <a:p>
            <a:pPr marL="228600" lvl="0" indent="-114300" algn="just" rtl="0">
              <a:lnSpc>
                <a:spcPct val="100000"/>
              </a:lnSpc>
              <a:spcBef>
                <a:spcPts val="1000"/>
              </a:spcBef>
              <a:spcAft>
                <a:spcPts val="0"/>
              </a:spcAft>
              <a:buSzPts val="1800"/>
              <a:buNone/>
            </a:pPr>
            <a:endParaRPr/>
          </a:p>
        </p:txBody>
      </p:sp>
      <p:sp>
        <p:nvSpPr>
          <p:cNvPr id="134" name="Google Shape;134;p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34</a:t>
            </a:fld>
            <a:endParaRPr/>
          </a:p>
        </p:txBody>
      </p:sp>
    </p:spTree>
    <p:extLst>
      <p:ext uri="{BB962C8B-B14F-4D97-AF65-F5344CB8AC3E}">
        <p14:creationId xmlns:p14="http://schemas.microsoft.com/office/powerpoint/2010/main" val="419534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SPACE COMPLEXITY</a:t>
            </a:r>
            <a:endParaRPr/>
          </a:p>
        </p:txBody>
      </p:sp>
      <p:sp>
        <p:nvSpPr>
          <p:cNvPr id="140" name="Google Shape;140;p6"/>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1800"/>
              <a:buChar char="•"/>
            </a:pPr>
            <a:r>
              <a:rPr lang="en-US" b="1"/>
              <a:t>Why?</a:t>
            </a:r>
            <a:endParaRPr/>
          </a:p>
          <a:p>
            <a:pPr marL="457200" lvl="1" indent="-228600" algn="just" rtl="0">
              <a:lnSpc>
                <a:spcPct val="100000"/>
              </a:lnSpc>
              <a:spcBef>
                <a:spcPts val="1000"/>
              </a:spcBef>
              <a:spcAft>
                <a:spcPts val="0"/>
              </a:spcAft>
              <a:buSzPts val="1600"/>
              <a:buChar char="•"/>
            </a:pPr>
            <a:r>
              <a:rPr lang="en-US"/>
              <a:t>To know in advance about sufficient memory</a:t>
            </a:r>
            <a:endParaRPr/>
          </a:p>
          <a:p>
            <a:pPr marL="457200" lvl="1" indent="-228600" algn="just" rtl="0">
              <a:lnSpc>
                <a:spcPct val="100000"/>
              </a:lnSpc>
              <a:spcBef>
                <a:spcPts val="1000"/>
              </a:spcBef>
              <a:spcAft>
                <a:spcPts val="0"/>
              </a:spcAft>
              <a:buSzPts val="1600"/>
              <a:buChar char="•"/>
            </a:pPr>
            <a:r>
              <a:rPr lang="en-US"/>
              <a:t>To select the program with minimum memory requirement</a:t>
            </a:r>
            <a:endParaRPr/>
          </a:p>
          <a:p>
            <a:pPr marL="457200" lvl="1" indent="-228600" algn="just" rtl="0">
              <a:lnSpc>
                <a:spcPct val="100000"/>
              </a:lnSpc>
              <a:spcBef>
                <a:spcPts val="1000"/>
              </a:spcBef>
              <a:spcAft>
                <a:spcPts val="0"/>
              </a:spcAft>
              <a:buSzPts val="1600"/>
              <a:buChar char="•"/>
            </a:pPr>
            <a:r>
              <a:rPr lang="en-US"/>
              <a:t>To estimate the largest instance it can solve</a:t>
            </a:r>
            <a:endParaRPr/>
          </a:p>
          <a:p>
            <a:pPr marL="228600" lvl="0" indent="-114300" algn="just" rtl="0">
              <a:lnSpc>
                <a:spcPct val="100000"/>
              </a:lnSpc>
              <a:spcBef>
                <a:spcPts val="1000"/>
              </a:spcBef>
              <a:spcAft>
                <a:spcPts val="0"/>
              </a:spcAft>
              <a:buSzPts val="1800"/>
              <a:buNone/>
            </a:pPr>
            <a:endParaRPr/>
          </a:p>
        </p:txBody>
      </p:sp>
      <p:sp>
        <p:nvSpPr>
          <p:cNvPr id="141" name="Google Shape;141;p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35</a:t>
            </a:fld>
            <a:endParaRPr/>
          </a:p>
        </p:txBody>
      </p:sp>
    </p:spTree>
    <p:extLst>
      <p:ext uri="{BB962C8B-B14F-4D97-AF65-F5344CB8AC3E}">
        <p14:creationId xmlns:p14="http://schemas.microsoft.com/office/powerpoint/2010/main" val="266524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COMPONENTS OF SPACE COMPLEXITY</a:t>
            </a:r>
            <a:endParaRPr/>
          </a:p>
        </p:txBody>
      </p:sp>
      <p:sp>
        <p:nvSpPr>
          <p:cNvPr id="147" name="Google Shape;147;p7"/>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lnSpcReduction="10000"/>
          </a:bodyPr>
          <a:lstStyle/>
          <a:p>
            <a:pPr marL="514350" lvl="0" indent="-514350" algn="l" rtl="0">
              <a:lnSpc>
                <a:spcPct val="90000"/>
              </a:lnSpc>
              <a:spcBef>
                <a:spcPts val="0"/>
              </a:spcBef>
              <a:spcAft>
                <a:spcPts val="0"/>
              </a:spcAft>
              <a:buSzPts val="1800"/>
              <a:buFont typeface="Bookman Old Style"/>
              <a:buAutoNum type="arabicPeriod"/>
            </a:pPr>
            <a:r>
              <a:rPr lang="en-US"/>
              <a:t>Instruction space</a:t>
            </a:r>
            <a:endParaRPr/>
          </a:p>
          <a:p>
            <a:pPr marL="914400" lvl="1" indent="-514350" algn="l" rtl="0">
              <a:lnSpc>
                <a:spcPct val="90000"/>
              </a:lnSpc>
              <a:spcBef>
                <a:spcPts val="1000"/>
              </a:spcBef>
              <a:spcAft>
                <a:spcPts val="0"/>
              </a:spcAft>
              <a:buSzPts val="1600"/>
              <a:buChar char="•"/>
            </a:pPr>
            <a:r>
              <a:rPr lang="en-US"/>
              <a:t>Space needed to store the compiled version of program instruction</a:t>
            </a:r>
            <a:endParaRPr/>
          </a:p>
          <a:p>
            <a:pPr marL="914400" lvl="1" indent="-514350" algn="l" rtl="0">
              <a:lnSpc>
                <a:spcPct val="90000"/>
              </a:lnSpc>
              <a:spcBef>
                <a:spcPts val="1000"/>
              </a:spcBef>
              <a:spcAft>
                <a:spcPts val="0"/>
              </a:spcAft>
              <a:buSzPts val="1600"/>
              <a:buChar char="•"/>
            </a:pPr>
            <a:r>
              <a:rPr lang="en-US"/>
              <a:t>Depends on…</a:t>
            </a:r>
            <a:endParaRPr/>
          </a:p>
          <a:p>
            <a:pPr marL="1314450" lvl="2" indent="-514350" algn="l" rtl="0">
              <a:lnSpc>
                <a:spcPct val="90000"/>
              </a:lnSpc>
              <a:spcBef>
                <a:spcPts val="1000"/>
              </a:spcBef>
              <a:spcAft>
                <a:spcPts val="0"/>
              </a:spcAft>
              <a:buSzPts val="1600"/>
              <a:buChar char="•"/>
            </a:pPr>
            <a:r>
              <a:rPr lang="en-US"/>
              <a:t>The compiler used to compile the program</a:t>
            </a:r>
            <a:endParaRPr/>
          </a:p>
          <a:p>
            <a:pPr marL="1771650" lvl="3" indent="-514350" algn="l" rtl="0">
              <a:lnSpc>
                <a:spcPct val="90000"/>
              </a:lnSpc>
              <a:spcBef>
                <a:spcPts val="1000"/>
              </a:spcBef>
              <a:spcAft>
                <a:spcPts val="0"/>
              </a:spcAft>
              <a:buSzPts val="1600"/>
              <a:buChar char="•"/>
            </a:pPr>
            <a:r>
              <a:rPr lang="en-US"/>
              <a:t>Ex. a+b + (b*c) + (a+b-c) / (a+b)/4</a:t>
            </a:r>
            <a:endParaRPr/>
          </a:p>
          <a:p>
            <a:pPr marL="1314450" lvl="2" indent="-514350" algn="l" rtl="0">
              <a:lnSpc>
                <a:spcPct val="90000"/>
              </a:lnSpc>
              <a:spcBef>
                <a:spcPts val="1000"/>
              </a:spcBef>
              <a:spcAft>
                <a:spcPts val="0"/>
              </a:spcAft>
              <a:buSzPts val="1600"/>
              <a:buChar char="•"/>
            </a:pPr>
            <a:r>
              <a:rPr lang="en-US"/>
              <a:t>The compiler options in effect</a:t>
            </a:r>
            <a:endParaRPr/>
          </a:p>
          <a:p>
            <a:pPr marL="1771650" lvl="3" indent="-514350" algn="l" rtl="0">
              <a:lnSpc>
                <a:spcPct val="90000"/>
              </a:lnSpc>
              <a:spcBef>
                <a:spcPts val="1000"/>
              </a:spcBef>
              <a:spcAft>
                <a:spcPts val="0"/>
              </a:spcAft>
              <a:buSzPts val="1600"/>
              <a:buChar char="•"/>
            </a:pPr>
            <a:r>
              <a:rPr lang="en-US"/>
              <a:t>Ex. Overlay option</a:t>
            </a:r>
            <a:endParaRPr/>
          </a:p>
          <a:p>
            <a:pPr marL="1314450" lvl="2" indent="-514350" algn="l" rtl="0">
              <a:lnSpc>
                <a:spcPct val="90000"/>
              </a:lnSpc>
              <a:spcBef>
                <a:spcPts val="1000"/>
              </a:spcBef>
              <a:spcAft>
                <a:spcPts val="0"/>
              </a:spcAft>
              <a:buSzPts val="1600"/>
              <a:buChar char="•"/>
            </a:pPr>
            <a:r>
              <a:rPr lang="en-US"/>
              <a:t>The target computer</a:t>
            </a:r>
            <a:endParaRPr/>
          </a:p>
          <a:p>
            <a:pPr marL="1771650" lvl="3" indent="-514350" algn="l" rtl="0">
              <a:lnSpc>
                <a:spcPct val="90000"/>
              </a:lnSpc>
              <a:spcBef>
                <a:spcPts val="1000"/>
              </a:spcBef>
              <a:spcAft>
                <a:spcPts val="0"/>
              </a:spcAft>
              <a:buSzPts val="1600"/>
              <a:buChar char="•"/>
            </a:pPr>
            <a:r>
              <a:rPr lang="en-US"/>
              <a:t>Floating point hardware</a:t>
            </a:r>
            <a:endParaRPr/>
          </a:p>
        </p:txBody>
      </p:sp>
      <p:sp>
        <p:nvSpPr>
          <p:cNvPr id="148" name="Google Shape;148;p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36</a:t>
            </a:fld>
            <a:endParaRPr/>
          </a:p>
        </p:txBody>
      </p:sp>
    </p:spTree>
    <p:extLst>
      <p:ext uri="{BB962C8B-B14F-4D97-AF65-F5344CB8AC3E}">
        <p14:creationId xmlns:p14="http://schemas.microsoft.com/office/powerpoint/2010/main" val="133312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COMPONENTS OF SPACE COMPLEXITY</a:t>
            </a:r>
            <a:endParaRPr/>
          </a:p>
        </p:txBody>
      </p:sp>
      <p:sp>
        <p:nvSpPr>
          <p:cNvPr id="154" name="Google Shape;154;p8"/>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90000"/>
              </a:lnSpc>
              <a:spcBef>
                <a:spcPts val="0"/>
              </a:spcBef>
              <a:spcAft>
                <a:spcPts val="0"/>
              </a:spcAft>
              <a:buSzPct val="100000"/>
              <a:buNone/>
            </a:pPr>
            <a:r>
              <a:rPr lang="en-US" sz="2800"/>
              <a:t>2. Data space</a:t>
            </a:r>
            <a:endParaRPr/>
          </a:p>
          <a:p>
            <a:pPr marL="457200" lvl="1" indent="-228600" algn="l" rtl="0">
              <a:lnSpc>
                <a:spcPct val="90000"/>
              </a:lnSpc>
              <a:spcBef>
                <a:spcPts val="1000"/>
              </a:spcBef>
              <a:spcAft>
                <a:spcPts val="0"/>
              </a:spcAft>
              <a:buSzPct val="100000"/>
              <a:buChar char="•"/>
            </a:pPr>
            <a:r>
              <a:rPr lang="en-US" sz="2400"/>
              <a:t>Space needed by constants and simple variables</a:t>
            </a:r>
            <a:endParaRPr/>
          </a:p>
          <a:p>
            <a:pPr marL="457200" lvl="1" indent="-228600" algn="l" rtl="0">
              <a:lnSpc>
                <a:spcPct val="90000"/>
              </a:lnSpc>
              <a:spcBef>
                <a:spcPts val="1000"/>
              </a:spcBef>
              <a:spcAft>
                <a:spcPts val="0"/>
              </a:spcAft>
              <a:buSzPct val="100000"/>
              <a:buChar char="•"/>
            </a:pPr>
            <a:r>
              <a:rPr lang="en-US" sz="2400"/>
              <a:t>Space needed by dynamically allocated objects (arrays, class instance etc.)</a:t>
            </a:r>
            <a:endParaRPr/>
          </a:p>
          <a:p>
            <a:pPr marL="0" lvl="0" indent="0" algn="l" rtl="0">
              <a:lnSpc>
                <a:spcPct val="90000"/>
              </a:lnSpc>
              <a:spcBef>
                <a:spcPts val="1000"/>
              </a:spcBef>
              <a:spcAft>
                <a:spcPts val="0"/>
              </a:spcAft>
              <a:buSzPct val="100000"/>
              <a:buNone/>
            </a:pPr>
            <a:r>
              <a:rPr lang="en-US" sz="2800"/>
              <a:t>3. Environmental stack space</a:t>
            </a:r>
            <a:endParaRPr/>
          </a:p>
          <a:p>
            <a:pPr marL="457200" lvl="1" indent="-228600" algn="l" rtl="0">
              <a:lnSpc>
                <a:spcPct val="90000"/>
              </a:lnSpc>
              <a:spcBef>
                <a:spcPts val="1000"/>
              </a:spcBef>
              <a:spcAft>
                <a:spcPts val="0"/>
              </a:spcAft>
              <a:buSzPct val="100000"/>
              <a:buChar char="•"/>
            </a:pPr>
            <a:r>
              <a:rPr lang="en-US" sz="2400"/>
              <a:t>The return address</a:t>
            </a:r>
            <a:endParaRPr/>
          </a:p>
          <a:p>
            <a:pPr marL="457200" lvl="1" indent="-228600" algn="l" rtl="0">
              <a:lnSpc>
                <a:spcPct val="90000"/>
              </a:lnSpc>
              <a:spcBef>
                <a:spcPts val="1000"/>
              </a:spcBef>
              <a:spcAft>
                <a:spcPts val="0"/>
              </a:spcAft>
              <a:buSzPct val="100000"/>
              <a:buChar char="•"/>
            </a:pPr>
            <a:r>
              <a:rPr lang="en-US" sz="2400"/>
              <a:t>All local variables</a:t>
            </a:r>
            <a:endParaRPr/>
          </a:p>
          <a:p>
            <a:pPr marL="457200" lvl="1" indent="-228600" algn="l" rtl="0">
              <a:lnSpc>
                <a:spcPct val="90000"/>
              </a:lnSpc>
              <a:spcBef>
                <a:spcPts val="1000"/>
              </a:spcBef>
              <a:spcAft>
                <a:spcPts val="0"/>
              </a:spcAft>
              <a:buSzPct val="100000"/>
              <a:buChar char="•"/>
            </a:pPr>
            <a:r>
              <a:rPr lang="en-US" sz="2400"/>
              <a:t>All formal parameters</a:t>
            </a:r>
            <a:endParaRPr/>
          </a:p>
          <a:p>
            <a:pPr marL="457200" lvl="1" indent="-228600" algn="l" rtl="0">
              <a:lnSpc>
                <a:spcPct val="90000"/>
              </a:lnSpc>
              <a:spcBef>
                <a:spcPts val="1000"/>
              </a:spcBef>
              <a:spcAft>
                <a:spcPts val="0"/>
              </a:spcAft>
              <a:buSzPct val="100000"/>
              <a:buChar char="•"/>
            </a:pPr>
            <a:r>
              <a:rPr lang="en-US" sz="2400"/>
              <a:t>Recursion stack space </a:t>
            </a:r>
            <a:endParaRPr/>
          </a:p>
          <a:p>
            <a:pPr marL="685800" lvl="2" indent="-228600" algn="l" rtl="0">
              <a:lnSpc>
                <a:spcPct val="90000"/>
              </a:lnSpc>
              <a:spcBef>
                <a:spcPts val="1000"/>
              </a:spcBef>
              <a:spcAft>
                <a:spcPts val="0"/>
              </a:spcAft>
              <a:buSzPct val="100000"/>
              <a:buChar char="•"/>
            </a:pPr>
            <a:r>
              <a:rPr lang="en-US" sz="2000"/>
              <a:t>The space needed by local variables &amp; formal parameters</a:t>
            </a:r>
            <a:endParaRPr/>
          </a:p>
          <a:p>
            <a:pPr marL="685800" lvl="2" indent="-228600" algn="l" rtl="0">
              <a:lnSpc>
                <a:spcPct val="90000"/>
              </a:lnSpc>
              <a:spcBef>
                <a:spcPts val="1000"/>
              </a:spcBef>
              <a:spcAft>
                <a:spcPts val="0"/>
              </a:spcAft>
              <a:buSzPct val="100000"/>
              <a:buChar char="•"/>
            </a:pPr>
            <a:r>
              <a:rPr lang="en-US" sz="2000"/>
              <a:t>The maximum depth of recursion</a:t>
            </a:r>
            <a:endParaRPr/>
          </a:p>
          <a:p>
            <a:pPr marL="228600" lvl="0" indent="-157161" algn="l" rtl="0">
              <a:lnSpc>
                <a:spcPct val="100000"/>
              </a:lnSpc>
              <a:spcBef>
                <a:spcPts val="1000"/>
              </a:spcBef>
              <a:spcAft>
                <a:spcPts val="0"/>
              </a:spcAft>
              <a:buSzPct val="100000"/>
              <a:buNone/>
            </a:pPr>
            <a:endParaRPr/>
          </a:p>
        </p:txBody>
      </p:sp>
      <p:sp>
        <p:nvSpPr>
          <p:cNvPr id="155" name="Google Shape;155;p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37</a:t>
            </a:fld>
            <a:endParaRPr/>
          </a:p>
        </p:txBody>
      </p:sp>
    </p:spTree>
    <p:extLst>
      <p:ext uri="{BB962C8B-B14F-4D97-AF65-F5344CB8AC3E}">
        <p14:creationId xmlns:p14="http://schemas.microsoft.com/office/powerpoint/2010/main" val="127489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SPACE COMPLEXITY</a:t>
            </a:r>
            <a:endParaRPr/>
          </a:p>
        </p:txBody>
      </p:sp>
      <p:sp>
        <p:nvSpPr>
          <p:cNvPr id="161" name="Google Shape;161;p9"/>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1800"/>
              <a:buChar char="•"/>
            </a:pPr>
            <a:r>
              <a:rPr lang="en-US"/>
              <a:t>Memory space S(P) needed by a program P, consists of two components: </a:t>
            </a:r>
            <a:endParaRPr/>
          </a:p>
          <a:p>
            <a:pPr marL="457200" lvl="1" indent="-228600" algn="l" rtl="0">
              <a:lnSpc>
                <a:spcPct val="90000"/>
              </a:lnSpc>
              <a:spcBef>
                <a:spcPts val="1000"/>
              </a:spcBef>
              <a:spcAft>
                <a:spcPts val="0"/>
              </a:spcAft>
              <a:buSzPts val="1600"/>
              <a:buChar char="•"/>
            </a:pPr>
            <a:r>
              <a:rPr lang="en-US"/>
              <a:t>A fixed part: needed for instruction space (byte code), simple variable space, constants space etc. 🡪 c</a:t>
            </a:r>
            <a:endParaRPr/>
          </a:p>
          <a:p>
            <a:pPr marL="457200" lvl="1" indent="-228600" algn="l" rtl="0">
              <a:lnSpc>
                <a:spcPct val="90000"/>
              </a:lnSpc>
              <a:spcBef>
                <a:spcPts val="1000"/>
              </a:spcBef>
              <a:spcAft>
                <a:spcPts val="0"/>
              </a:spcAft>
              <a:buSzPts val="1600"/>
              <a:buChar char="•"/>
            </a:pPr>
            <a:r>
              <a:rPr lang="en-US"/>
              <a:t>A variable part: dependent on a particular instance of input and output data. 🡪 S</a:t>
            </a:r>
            <a:r>
              <a:rPr lang="en-US" baseline="-25000"/>
              <a:t>p</a:t>
            </a:r>
            <a:r>
              <a:rPr lang="en-US"/>
              <a:t>(instance)</a:t>
            </a:r>
            <a:endParaRPr/>
          </a:p>
          <a:p>
            <a:pPr marL="228600" lvl="0" indent="-228600" algn="l" rtl="0">
              <a:lnSpc>
                <a:spcPct val="90000"/>
              </a:lnSpc>
              <a:spcBef>
                <a:spcPts val="1000"/>
              </a:spcBef>
              <a:spcAft>
                <a:spcPts val="0"/>
              </a:spcAft>
              <a:buSzPts val="1800"/>
              <a:buChar char="•"/>
            </a:pPr>
            <a:r>
              <a:rPr lang="en-US" b="1"/>
              <a:t>S(P) = c + S</a:t>
            </a:r>
            <a:r>
              <a:rPr lang="en-US" b="1" baseline="-25000"/>
              <a:t>p</a:t>
            </a:r>
            <a:r>
              <a:rPr lang="en-US" b="1"/>
              <a:t>(instance)</a:t>
            </a:r>
            <a:endParaRPr/>
          </a:p>
        </p:txBody>
      </p:sp>
      <p:sp>
        <p:nvSpPr>
          <p:cNvPr id="162" name="Google Shape;162;p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38</a:t>
            </a:fld>
            <a:endParaRPr/>
          </a:p>
        </p:txBody>
      </p:sp>
    </p:spTree>
    <p:extLst>
      <p:ext uri="{BB962C8B-B14F-4D97-AF65-F5344CB8AC3E}">
        <p14:creationId xmlns:p14="http://schemas.microsoft.com/office/powerpoint/2010/main" val="272067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SPACE COMPLEXITY: EXAMPLE 1</a:t>
            </a:r>
            <a:endParaRPr/>
          </a:p>
        </p:txBody>
      </p:sp>
      <p:sp>
        <p:nvSpPr>
          <p:cNvPr id="168" name="Google Shape;168;p10"/>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US"/>
              <a:t>Algorithm abc (a, b, c)</a:t>
            </a:r>
            <a:endParaRPr/>
          </a:p>
          <a:p>
            <a:pPr marL="0" lvl="0" indent="0" algn="l" rtl="0">
              <a:lnSpc>
                <a:spcPct val="100000"/>
              </a:lnSpc>
              <a:spcBef>
                <a:spcPts val="1000"/>
              </a:spcBef>
              <a:spcAft>
                <a:spcPts val="0"/>
              </a:spcAft>
              <a:buSzPts val="1800"/>
              <a:buNone/>
            </a:pPr>
            <a:r>
              <a:rPr lang="en-US"/>
              <a:t>{</a:t>
            </a:r>
            <a:endParaRPr/>
          </a:p>
          <a:p>
            <a:pPr marL="0" lvl="0" indent="0" algn="l" rtl="0">
              <a:lnSpc>
                <a:spcPct val="100000"/>
              </a:lnSpc>
              <a:spcBef>
                <a:spcPts val="1000"/>
              </a:spcBef>
              <a:spcAft>
                <a:spcPts val="0"/>
              </a:spcAft>
              <a:buSzPts val="1800"/>
              <a:buNone/>
            </a:pPr>
            <a:r>
              <a:rPr lang="en-US"/>
              <a:t>	return a+b+b*c+(a+b-c)/(a+b)+4.0;</a:t>
            </a:r>
            <a:endParaRPr/>
          </a:p>
          <a:p>
            <a:pPr marL="0" lvl="0" indent="0" algn="l" rtl="0">
              <a:lnSpc>
                <a:spcPct val="100000"/>
              </a:lnSpc>
              <a:spcBef>
                <a:spcPts val="1000"/>
              </a:spcBef>
              <a:spcAft>
                <a:spcPts val="0"/>
              </a:spcAft>
              <a:buSzPts val="1800"/>
              <a:buNone/>
            </a:pPr>
            <a:r>
              <a:rPr lang="en-US"/>
              <a:t>}</a:t>
            </a:r>
            <a:endParaRPr/>
          </a:p>
          <a:p>
            <a:pPr marL="228600" lvl="0" indent="-228600" algn="l" rtl="0">
              <a:lnSpc>
                <a:spcPct val="100000"/>
              </a:lnSpc>
              <a:spcBef>
                <a:spcPts val="1000"/>
              </a:spcBef>
              <a:spcAft>
                <a:spcPts val="0"/>
              </a:spcAft>
              <a:buSzPts val="1800"/>
              <a:buChar char="•"/>
            </a:pPr>
            <a:r>
              <a:rPr lang="en-US"/>
              <a:t>For every instance 3 computer words required to store variables: a, b, and c. Therefore Sp()= 3. S(P) = 3.</a:t>
            </a:r>
            <a:endParaRPr/>
          </a:p>
          <a:p>
            <a:pPr marL="228600" lvl="0" indent="-114300" algn="l" rtl="0">
              <a:lnSpc>
                <a:spcPct val="100000"/>
              </a:lnSpc>
              <a:spcBef>
                <a:spcPts val="1000"/>
              </a:spcBef>
              <a:spcAft>
                <a:spcPts val="0"/>
              </a:spcAft>
              <a:buSzPts val="1800"/>
              <a:buNone/>
            </a:pPr>
            <a:endParaRPr/>
          </a:p>
        </p:txBody>
      </p:sp>
      <p:sp>
        <p:nvSpPr>
          <p:cNvPr id="169" name="Google Shape;169;p10"/>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39</a:t>
            </a:fld>
            <a:endParaRPr/>
          </a:p>
        </p:txBody>
      </p:sp>
    </p:spTree>
    <p:extLst>
      <p:ext uri="{BB962C8B-B14F-4D97-AF65-F5344CB8AC3E}">
        <p14:creationId xmlns:p14="http://schemas.microsoft.com/office/powerpoint/2010/main" val="362265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SPACE COMPLEXITY: EXAMPLE 2</a:t>
            </a:r>
            <a:endParaRPr/>
          </a:p>
        </p:txBody>
      </p:sp>
      <p:sp>
        <p:nvSpPr>
          <p:cNvPr id="175" name="Google Shape;175;p11"/>
          <p:cNvSpPr txBox="1">
            <a:spLocks noGrp="1"/>
          </p:cNvSpPr>
          <p:nvPr>
            <p:ph type="body" idx="1"/>
          </p:nvPr>
        </p:nvSpPr>
        <p:spPr>
          <a:xfrm>
            <a:off x="1581912" y="2638044"/>
            <a:ext cx="4271771" cy="310198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SzPct val="100000"/>
              <a:buNone/>
            </a:pPr>
            <a:r>
              <a:rPr lang="en-US">
                <a:solidFill>
                  <a:schemeClr val="dk1"/>
                </a:solidFill>
                <a:latin typeface="Bookman Old Style"/>
                <a:ea typeface="Bookman Old Style"/>
                <a:cs typeface="Bookman Old Style"/>
                <a:sym typeface="Bookman Old Style"/>
              </a:rPr>
              <a:t>Algorithm Sum(a[], n)</a:t>
            </a:r>
            <a:endParaRPr/>
          </a:p>
          <a:p>
            <a:pPr marL="0" lvl="0" indent="0" algn="just" rtl="0">
              <a:lnSpc>
                <a:spcPct val="100000"/>
              </a:lnSpc>
              <a:spcBef>
                <a:spcPts val="1000"/>
              </a:spcBef>
              <a:spcAft>
                <a:spcPts val="0"/>
              </a:spcAft>
              <a:buSzPct val="100000"/>
              <a:buNone/>
            </a:pPr>
            <a:r>
              <a:rPr lang="en-US">
                <a:solidFill>
                  <a:schemeClr val="dk1"/>
                </a:solidFill>
                <a:latin typeface="Bookman Old Style"/>
                <a:ea typeface="Bookman Old Style"/>
                <a:cs typeface="Bookman Old Style"/>
                <a:sym typeface="Bookman Old Style"/>
              </a:rPr>
              <a:t>{</a:t>
            </a:r>
            <a:endParaRPr/>
          </a:p>
          <a:p>
            <a:pPr marL="0" lvl="0" indent="0" algn="just" rtl="0">
              <a:lnSpc>
                <a:spcPct val="100000"/>
              </a:lnSpc>
              <a:spcBef>
                <a:spcPts val="1000"/>
              </a:spcBef>
              <a:spcAft>
                <a:spcPts val="0"/>
              </a:spcAft>
              <a:buSzPct val="100000"/>
              <a:buNone/>
            </a:pPr>
            <a:r>
              <a:rPr lang="en-US">
                <a:solidFill>
                  <a:schemeClr val="dk1"/>
                </a:solidFill>
                <a:latin typeface="Bookman Old Style"/>
                <a:ea typeface="Bookman Old Style"/>
                <a:cs typeface="Bookman Old Style"/>
                <a:sym typeface="Bookman Old Style"/>
              </a:rPr>
              <a:t>    s:= 0.0;</a:t>
            </a:r>
            <a:endParaRPr/>
          </a:p>
          <a:p>
            <a:pPr marL="0" lvl="0" indent="0" algn="just" rtl="0">
              <a:lnSpc>
                <a:spcPct val="100000"/>
              </a:lnSpc>
              <a:spcBef>
                <a:spcPts val="1000"/>
              </a:spcBef>
              <a:spcAft>
                <a:spcPts val="0"/>
              </a:spcAft>
              <a:buSzPct val="100000"/>
              <a:buNone/>
            </a:pPr>
            <a:r>
              <a:rPr lang="en-US">
                <a:solidFill>
                  <a:schemeClr val="dk1"/>
                </a:solidFill>
                <a:latin typeface="Bookman Old Style"/>
                <a:ea typeface="Bookman Old Style"/>
                <a:cs typeface="Bookman Old Style"/>
                <a:sym typeface="Bookman Old Style"/>
              </a:rPr>
              <a:t>    for i = 1 to n do</a:t>
            </a:r>
            <a:endParaRPr/>
          </a:p>
          <a:p>
            <a:pPr marL="0" lvl="0" indent="0" algn="just" rtl="0">
              <a:lnSpc>
                <a:spcPct val="100000"/>
              </a:lnSpc>
              <a:spcBef>
                <a:spcPts val="1000"/>
              </a:spcBef>
              <a:spcAft>
                <a:spcPts val="0"/>
              </a:spcAft>
              <a:buSzPct val="100000"/>
              <a:buNone/>
            </a:pPr>
            <a:r>
              <a:rPr lang="en-US">
                <a:solidFill>
                  <a:schemeClr val="dk1"/>
                </a:solidFill>
                <a:latin typeface="Bookman Old Style"/>
                <a:ea typeface="Bookman Old Style"/>
                <a:cs typeface="Bookman Old Style"/>
                <a:sym typeface="Bookman Old Style"/>
              </a:rPr>
              <a:t>          s := s + a[i];</a:t>
            </a:r>
            <a:endParaRPr/>
          </a:p>
          <a:p>
            <a:pPr marL="0" lvl="0" indent="0" algn="just" rtl="0">
              <a:lnSpc>
                <a:spcPct val="100000"/>
              </a:lnSpc>
              <a:spcBef>
                <a:spcPts val="1000"/>
              </a:spcBef>
              <a:spcAft>
                <a:spcPts val="0"/>
              </a:spcAft>
              <a:buSzPct val="100000"/>
              <a:buNone/>
            </a:pPr>
            <a:r>
              <a:rPr lang="en-US">
                <a:solidFill>
                  <a:schemeClr val="dk1"/>
                </a:solidFill>
                <a:latin typeface="Bookman Old Style"/>
                <a:ea typeface="Bookman Old Style"/>
                <a:cs typeface="Bookman Old Style"/>
                <a:sym typeface="Bookman Old Style"/>
              </a:rPr>
              <a:t>    return s;</a:t>
            </a:r>
            <a:endParaRPr/>
          </a:p>
          <a:p>
            <a:pPr marL="0" lvl="0" indent="0" algn="just" rtl="0">
              <a:lnSpc>
                <a:spcPct val="100000"/>
              </a:lnSpc>
              <a:spcBef>
                <a:spcPts val="1000"/>
              </a:spcBef>
              <a:spcAft>
                <a:spcPts val="0"/>
              </a:spcAft>
              <a:buSzPct val="100000"/>
              <a:buNone/>
            </a:pPr>
            <a:r>
              <a:rPr lang="en-US">
                <a:solidFill>
                  <a:schemeClr val="dk1"/>
                </a:solidFill>
                <a:latin typeface="Bookman Old Style"/>
                <a:ea typeface="Bookman Old Style"/>
                <a:cs typeface="Bookman Old Style"/>
                <a:sym typeface="Bookman Old Style"/>
              </a:rPr>
              <a:t>}</a:t>
            </a:r>
            <a:endParaRPr/>
          </a:p>
          <a:p>
            <a:pPr marL="228600" lvl="0" indent="-122872" algn="just" rtl="0">
              <a:lnSpc>
                <a:spcPct val="100000"/>
              </a:lnSpc>
              <a:spcBef>
                <a:spcPts val="1000"/>
              </a:spcBef>
              <a:spcAft>
                <a:spcPts val="0"/>
              </a:spcAft>
              <a:buSzPct val="100000"/>
              <a:buNone/>
            </a:pPr>
            <a:endParaRPr/>
          </a:p>
        </p:txBody>
      </p:sp>
      <p:sp>
        <p:nvSpPr>
          <p:cNvPr id="176" name="Google Shape;176;p11"/>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00000"/>
              </a:lnSpc>
              <a:spcBef>
                <a:spcPts val="0"/>
              </a:spcBef>
              <a:spcAft>
                <a:spcPts val="0"/>
              </a:spcAft>
              <a:buSzPct val="100000"/>
              <a:buChar char="•"/>
            </a:pPr>
            <a:r>
              <a:rPr lang="en-US"/>
              <a:t>Every instance needs to store array </a:t>
            </a:r>
            <a:r>
              <a:rPr lang="en-US">
                <a:latin typeface="SimSun"/>
                <a:ea typeface="SimSun"/>
                <a:cs typeface="SimSun"/>
                <a:sym typeface="SimSun"/>
              </a:rPr>
              <a:t>a[]</a:t>
            </a:r>
            <a:r>
              <a:rPr lang="en-US"/>
              <a:t> &amp; </a:t>
            </a:r>
            <a:r>
              <a:rPr lang="en-US">
                <a:latin typeface="SimSun"/>
                <a:ea typeface="SimSun"/>
                <a:cs typeface="SimSun"/>
                <a:sym typeface="SimSun"/>
              </a:rPr>
              <a:t>n</a:t>
            </a:r>
            <a:r>
              <a:rPr lang="en-US"/>
              <a:t>. </a:t>
            </a:r>
            <a:endParaRPr/>
          </a:p>
          <a:p>
            <a:pPr marL="457200" lvl="1" indent="-228600" algn="l" rtl="0">
              <a:lnSpc>
                <a:spcPct val="100000"/>
              </a:lnSpc>
              <a:spcBef>
                <a:spcPts val="1000"/>
              </a:spcBef>
              <a:spcAft>
                <a:spcPts val="0"/>
              </a:spcAft>
              <a:buSzPct val="100000"/>
              <a:buChar char="•"/>
            </a:pPr>
            <a:r>
              <a:rPr lang="en-US"/>
              <a:t>Space needed to store </a:t>
            </a:r>
            <a:r>
              <a:rPr lang="en-US">
                <a:latin typeface="SimSun"/>
                <a:ea typeface="SimSun"/>
                <a:cs typeface="SimSun"/>
                <a:sym typeface="SimSun"/>
              </a:rPr>
              <a:t>n</a:t>
            </a:r>
            <a:r>
              <a:rPr lang="en-US"/>
              <a:t> = 1 word. </a:t>
            </a:r>
            <a:endParaRPr/>
          </a:p>
          <a:p>
            <a:pPr marL="457200" lvl="1" indent="-228600" algn="l" rtl="0">
              <a:lnSpc>
                <a:spcPct val="100000"/>
              </a:lnSpc>
              <a:spcBef>
                <a:spcPts val="1000"/>
              </a:spcBef>
              <a:spcAft>
                <a:spcPts val="0"/>
              </a:spcAft>
              <a:buSzPct val="100000"/>
              <a:buChar char="•"/>
            </a:pPr>
            <a:r>
              <a:rPr lang="en-US"/>
              <a:t>Space needed to store </a:t>
            </a:r>
            <a:r>
              <a:rPr lang="en-US">
                <a:latin typeface="SimSun"/>
                <a:ea typeface="SimSun"/>
                <a:cs typeface="SimSun"/>
                <a:sym typeface="SimSun"/>
              </a:rPr>
              <a:t>a[ ]</a:t>
            </a:r>
            <a:r>
              <a:rPr lang="en-US"/>
              <a:t> = n floating point 					words (or at least n words)</a:t>
            </a:r>
            <a:endParaRPr/>
          </a:p>
          <a:p>
            <a:pPr marL="457200" lvl="1" indent="-228600" algn="l" rtl="0">
              <a:lnSpc>
                <a:spcPct val="100000"/>
              </a:lnSpc>
              <a:spcBef>
                <a:spcPts val="1000"/>
              </a:spcBef>
              <a:spcAft>
                <a:spcPts val="0"/>
              </a:spcAft>
              <a:buSzPct val="100000"/>
              <a:buChar char="•"/>
            </a:pPr>
            <a:r>
              <a:rPr lang="en-US"/>
              <a:t>Space needed to store </a:t>
            </a:r>
            <a:r>
              <a:rPr lang="en-US">
                <a:latin typeface="SimSun"/>
                <a:ea typeface="SimSun"/>
                <a:cs typeface="SimSun"/>
                <a:sym typeface="SimSun"/>
              </a:rPr>
              <a:t>i</a:t>
            </a:r>
            <a:r>
              <a:rPr lang="en-US"/>
              <a:t> and </a:t>
            </a:r>
            <a:r>
              <a:rPr lang="en-US">
                <a:latin typeface="SimSun"/>
                <a:ea typeface="SimSun"/>
                <a:cs typeface="SimSun"/>
                <a:sym typeface="SimSun"/>
              </a:rPr>
              <a:t>s</a:t>
            </a:r>
            <a:r>
              <a:rPr lang="en-US"/>
              <a:t> = 2 words</a:t>
            </a:r>
            <a:endParaRPr/>
          </a:p>
          <a:p>
            <a:pPr marL="228600" lvl="0" indent="-228600" algn="l" rtl="0">
              <a:lnSpc>
                <a:spcPct val="100000"/>
              </a:lnSpc>
              <a:spcBef>
                <a:spcPts val="1000"/>
              </a:spcBef>
              <a:spcAft>
                <a:spcPts val="0"/>
              </a:spcAft>
              <a:buSzPct val="100000"/>
              <a:buChar char="•"/>
            </a:pPr>
            <a:r>
              <a:rPr lang="en-US"/>
              <a:t>S</a:t>
            </a:r>
            <a:r>
              <a:rPr lang="en-US" baseline="-25000"/>
              <a:t>p</a:t>
            </a:r>
            <a:r>
              <a:rPr lang="en-US"/>
              <a:t>(n) = (n + 3). Hence </a:t>
            </a:r>
            <a:r>
              <a:rPr lang="en-US" b="1"/>
              <a:t>S(P) = (n + 3).</a:t>
            </a:r>
            <a:endParaRPr b="1"/>
          </a:p>
          <a:p>
            <a:pPr marL="228600" lvl="0" indent="-122872" algn="l" rtl="0">
              <a:lnSpc>
                <a:spcPct val="100000"/>
              </a:lnSpc>
              <a:spcBef>
                <a:spcPts val="1000"/>
              </a:spcBef>
              <a:spcAft>
                <a:spcPts val="0"/>
              </a:spcAft>
              <a:buSzPct val="100000"/>
              <a:buNone/>
            </a:pPr>
            <a:endParaRPr/>
          </a:p>
        </p:txBody>
      </p:sp>
      <p:sp>
        <p:nvSpPr>
          <p:cNvPr id="177" name="Google Shape;177;p11"/>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40</a:t>
            </a:fld>
            <a:endParaRPr/>
          </a:p>
        </p:txBody>
      </p:sp>
    </p:spTree>
    <p:extLst>
      <p:ext uri="{BB962C8B-B14F-4D97-AF65-F5344CB8AC3E}">
        <p14:creationId xmlns:p14="http://schemas.microsoft.com/office/powerpoint/2010/main" val="331399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SPACE COMPLEXITY: EXAMPLE 3</a:t>
            </a:r>
            <a:endParaRPr/>
          </a:p>
        </p:txBody>
      </p:sp>
      <p:sp>
        <p:nvSpPr>
          <p:cNvPr id="183" name="Google Shape;183;p12"/>
          <p:cNvSpPr txBox="1">
            <a:spLocks noGrp="1"/>
          </p:cNvSpPr>
          <p:nvPr>
            <p:ph type="body" idx="1"/>
          </p:nvPr>
        </p:nvSpPr>
        <p:spPr>
          <a:xfrm>
            <a:off x="1581912" y="2638044"/>
            <a:ext cx="4271771" cy="310198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rmAutofit fontScale="70000" lnSpcReduction="20000"/>
          </a:bodyPr>
          <a:lstStyle/>
          <a:p>
            <a:pPr marL="0" lvl="0" indent="0" algn="l" rtl="0">
              <a:lnSpc>
                <a:spcPct val="100000"/>
              </a:lnSpc>
              <a:spcBef>
                <a:spcPts val="0"/>
              </a:spcBef>
              <a:spcAft>
                <a:spcPts val="0"/>
              </a:spcAft>
              <a:buSzPct val="100000"/>
              <a:buNone/>
            </a:pPr>
            <a:r>
              <a:rPr lang="en-US" sz="3600">
                <a:solidFill>
                  <a:schemeClr val="dk1"/>
                </a:solidFill>
                <a:latin typeface="Bookman Old Style"/>
                <a:ea typeface="Bookman Old Style"/>
                <a:cs typeface="Bookman Old Style"/>
                <a:sym typeface="Bookman Old Style"/>
              </a:rPr>
              <a:t>Algorithm RSum(a[], n)</a:t>
            </a:r>
            <a:endParaRPr/>
          </a:p>
          <a:p>
            <a:pPr marL="0" lvl="0" indent="0" algn="l" rtl="0">
              <a:lnSpc>
                <a:spcPct val="100000"/>
              </a:lnSpc>
              <a:spcBef>
                <a:spcPts val="1000"/>
              </a:spcBef>
              <a:spcAft>
                <a:spcPts val="0"/>
              </a:spcAft>
              <a:buSzPct val="100000"/>
              <a:buNone/>
            </a:pPr>
            <a:r>
              <a:rPr lang="en-US" sz="3600">
                <a:solidFill>
                  <a:schemeClr val="dk1"/>
                </a:solidFill>
                <a:latin typeface="Bookman Old Style"/>
                <a:ea typeface="Bookman Old Style"/>
                <a:cs typeface="Bookman Old Style"/>
                <a:sym typeface="Bookman Old Style"/>
              </a:rPr>
              <a:t>{</a:t>
            </a:r>
            <a:endParaRPr/>
          </a:p>
          <a:p>
            <a:pPr marL="0" lvl="0" indent="0" algn="l" rtl="0">
              <a:lnSpc>
                <a:spcPct val="100000"/>
              </a:lnSpc>
              <a:spcBef>
                <a:spcPts val="1000"/>
              </a:spcBef>
              <a:spcAft>
                <a:spcPts val="0"/>
              </a:spcAft>
              <a:buSzPct val="100000"/>
              <a:buNone/>
            </a:pPr>
            <a:r>
              <a:rPr lang="en-US" sz="3600">
                <a:solidFill>
                  <a:schemeClr val="dk1"/>
                </a:solidFill>
                <a:latin typeface="Bookman Old Style"/>
                <a:ea typeface="Bookman Old Style"/>
                <a:cs typeface="Bookman Old Style"/>
                <a:sym typeface="Bookman Old Style"/>
              </a:rPr>
              <a:t>    if (n &gt; 0)</a:t>
            </a:r>
            <a:endParaRPr/>
          </a:p>
          <a:p>
            <a:pPr marL="0" lvl="0" indent="0" algn="l" rtl="0">
              <a:lnSpc>
                <a:spcPct val="100000"/>
              </a:lnSpc>
              <a:spcBef>
                <a:spcPts val="1000"/>
              </a:spcBef>
              <a:spcAft>
                <a:spcPts val="0"/>
              </a:spcAft>
              <a:buSzPct val="100000"/>
              <a:buNone/>
            </a:pPr>
            <a:r>
              <a:rPr lang="en-US" sz="3600">
                <a:solidFill>
                  <a:schemeClr val="dk1"/>
                </a:solidFill>
                <a:latin typeface="Bookman Old Style"/>
                <a:ea typeface="Bookman Old Style"/>
                <a:cs typeface="Bookman Old Style"/>
                <a:sym typeface="Bookman Old Style"/>
              </a:rPr>
              <a:t>    return Rsum(a,n-1) + a[n-1];</a:t>
            </a:r>
            <a:endParaRPr/>
          </a:p>
          <a:p>
            <a:pPr marL="0" lvl="0" indent="0" algn="l" rtl="0">
              <a:lnSpc>
                <a:spcPct val="100000"/>
              </a:lnSpc>
              <a:spcBef>
                <a:spcPts val="1000"/>
              </a:spcBef>
              <a:spcAft>
                <a:spcPts val="0"/>
              </a:spcAft>
              <a:buSzPct val="100000"/>
              <a:buNone/>
            </a:pPr>
            <a:r>
              <a:rPr lang="en-US" sz="3600">
                <a:solidFill>
                  <a:schemeClr val="dk1"/>
                </a:solidFill>
                <a:latin typeface="Bookman Old Style"/>
                <a:ea typeface="Bookman Old Style"/>
                <a:cs typeface="Bookman Old Style"/>
                <a:sym typeface="Bookman Old Style"/>
              </a:rPr>
              <a:t>       	return 0;</a:t>
            </a:r>
            <a:endParaRPr/>
          </a:p>
          <a:p>
            <a:pPr marL="0" lvl="0" indent="0" algn="l" rtl="0">
              <a:lnSpc>
                <a:spcPct val="100000"/>
              </a:lnSpc>
              <a:spcBef>
                <a:spcPts val="1000"/>
              </a:spcBef>
              <a:spcAft>
                <a:spcPts val="0"/>
              </a:spcAft>
              <a:buSzPct val="100000"/>
              <a:buNone/>
            </a:pPr>
            <a:r>
              <a:rPr lang="en-US" sz="3600">
                <a:solidFill>
                  <a:schemeClr val="dk1"/>
                </a:solidFill>
                <a:latin typeface="Bookman Old Style"/>
                <a:ea typeface="Bookman Old Style"/>
                <a:cs typeface="Bookman Old Style"/>
                <a:sym typeface="Bookman Old Style"/>
              </a:rPr>
              <a:t>}</a:t>
            </a:r>
            <a:endParaRPr/>
          </a:p>
          <a:p>
            <a:pPr marL="228600" lvl="1" indent="0" algn="l" rtl="0">
              <a:lnSpc>
                <a:spcPct val="100000"/>
              </a:lnSpc>
              <a:spcBef>
                <a:spcPts val="1000"/>
              </a:spcBef>
              <a:spcAft>
                <a:spcPts val="0"/>
              </a:spcAft>
              <a:buSzPct val="100000"/>
              <a:buNone/>
            </a:pPr>
            <a:endParaRPr/>
          </a:p>
        </p:txBody>
      </p:sp>
      <p:sp>
        <p:nvSpPr>
          <p:cNvPr id="184" name="Google Shape;184;p12"/>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100000"/>
              </a:lnSpc>
              <a:spcBef>
                <a:spcPts val="0"/>
              </a:spcBef>
              <a:spcAft>
                <a:spcPts val="0"/>
              </a:spcAft>
              <a:buSzPct val="100000"/>
              <a:buChar char="•"/>
            </a:pPr>
            <a:r>
              <a:rPr lang="en-US" sz="2800"/>
              <a:t>Every recursive function call needs to store address of array </a:t>
            </a:r>
            <a:r>
              <a:rPr lang="en-US" sz="2800">
                <a:latin typeface="SimSun"/>
                <a:ea typeface="SimSun"/>
                <a:cs typeface="SimSun"/>
                <a:sym typeface="SimSun"/>
              </a:rPr>
              <a:t>a[],</a:t>
            </a:r>
            <a:r>
              <a:rPr lang="en-US" sz="2800"/>
              <a:t> the value of  n &amp; return address. </a:t>
            </a:r>
            <a:endParaRPr/>
          </a:p>
          <a:p>
            <a:pPr marL="457200" lvl="1" indent="-228600" algn="l" rtl="0">
              <a:lnSpc>
                <a:spcPct val="100000"/>
              </a:lnSpc>
              <a:spcBef>
                <a:spcPts val="1000"/>
              </a:spcBef>
              <a:spcAft>
                <a:spcPts val="0"/>
              </a:spcAft>
              <a:buSzPct val="100000"/>
              <a:buChar char="•"/>
            </a:pPr>
            <a:r>
              <a:rPr lang="en-US" sz="2400"/>
              <a:t>Space needed to store </a:t>
            </a:r>
            <a:r>
              <a:rPr lang="en-US" sz="2400">
                <a:latin typeface="SimSun"/>
                <a:ea typeface="SimSun"/>
                <a:cs typeface="SimSun"/>
                <a:sym typeface="SimSun"/>
              </a:rPr>
              <a:t>n</a:t>
            </a:r>
            <a:r>
              <a:rPr lang="en-US" sz="2400"/>
              <a:t> = 1 word. </a:t>
            </a:r>
            <a:endParaRPr/>
          </a:p>
          <a:p>
            <a:pPr marL="457200" lvl="1" indent="-228600" algn="l" rtl="0">
              <a:lnSpc>
                <a:spcPct val="100000"/>
              </a:lnSpc>
              <a:spcBef>
                <a:spcPts val="1000"/>
              </a:spcBef>
              <a:spcAft>
                <a:spcPts val="0"/>
              </a:spcAft>
              <a:buSzPct val="100000"/>
              <a:buChar char="•"/>
            </a:pPr>
            <a:r>
              <a:rPr lang="en-US" sz="2400"/>
              <a:t>Space needed to store the address of </a:t>
            </a:r>
            <a:r>
              <a:rPr lang="en-US" sz="2400">
                <a:latin typeface="SimSun"/>
                <a:ea typeface="SimSun"/>
                <a:cs typeface="SimSun"/>
                <a:sym typeface="SimSun"/>
              </a:rPr>
              <a:t>a[ ]</a:t>
            </a:r>
            <a:r>
              <a:rPr lang="en-US" sz="2400"/>
              <a:t> = 1 word</a:t>
            </a:r>
            <a:endParaRPr/>
          </a:p>
          <a:p>
            <a:pPr marL="457200" lvl="1" indent="-228600" algn="l" rtl="0">
              <a:lnSpc>
                <a:spcPct val="100000"/>
              </a:lnSpc>
              <a:spcBef>
                <a:spcPts val="1000"/>
              </a:spcBef>
              <a:spcAft>
                <a:spcPts val="0"/>
              </a:spcAft>
              <a:buSzPct val="100000"/>
              <a:buChar char="•"/>
            </a:pPr>
            <a:r>
              <a:rPr lang="en-US" sz="2400"/>
              <a:t>Space needed to store return address = 1 words</a:t>
            </a:r>
            <a:endParaRPr/>
          </a:p>
          <a:p>
            <a:pPr marL="457200" lvl="1" indent="-228600" algn="l" rtl="0">
              <a:lnSpc>
                <a:spcPct val="100000"/>
              </a:lnSpc>
              <a:spcBef>
                <a:spcPts val="1000"/>
              </a:spcBef>
              <a:spcAft>
                <a:spcPts val="0"/>
              </a:spcAft>
              <a:buSzPct val="100000"/>
              <a:buChar char="•"/>
            </a:pPr>
            <a:r>
              <a:rPr lang="en-US" sz="2400"/>
              <a:t>Depth of recursion = n+1</a:t>
            </a:r>
            <a:endParaRPr/>
          </a:p>
          <a:p>
            <a:pPr marL="457200" lvl="1" indent="-228600" algn="l" rtl="0">
              <a:lnSpc>
                <a:spcPct val="100000"/>
              </a:lnSpc>
              <a:spcBef>
                <a:spcPts val="1000"/>
              </a:spcBef>
              <a:spcAft>
                <a:spcPts val="0"/>
              </a:spcAft>
              <a:buSzPct val="100000"/>
              <a:buChar char="•"/>
            </a:pPr>
            <a:r>
              <a:rPr lang="en-US" sz="2400"/>
              <a:t>Space needed to store a[] = </a:t>
            </a:r>
            <a:r>
              <a:rPr lang="en-US" sz="2400">
                <a:solidFill>
                  <a:srgbClr val="FF0000"/>
                </a:solidFill>
              </a:rPr>
              <a:t>n words</a:t>
            </a:r>
            <a:endParaRPr/>
          </a:p>
          <a:p>
            <a:pPr marL="228600" lvl="0" indent="-228600" algn="l" rtl="0">
              <a:lnSpc>
                <a:spcPct val="100000"/>
              </a:lnSpc>
              <a:spcBef>
                <a:spcPts val="1000"/>
              </a:spcBef>
              <a:spcAft>
                <a:spcPts val="0"/>
              </a:spcAft>
              <a:buSzPct val="100000"/>
              <a:buChar char="•"/>
            </a:pPr>
            <a:r>
              <a:rPr lang="en-US" sz="2800"/>
              <a:t>S</a:t>
            </a:r>
            <a:r>
              <a:rPr lang="en-US" sz="2800" baseline="-25000"/>
              <a:t>p</a:t>
            </a:r>
            <a:r>
              <a:rPr lang="en-US" sz="2800"/>
              <a:t>(n) = n. Hence S(P) = 3(n + 1) + </a:t>
            </a:r>
            <a:r>
              <a:rPr lang="en-US" sz="2800">
                <a:solidFill>
                  <a:srgbClr val="FF0000"/>
                </a:solidFill>
              </a:rPr>
              <a:t>n.</a:t>
            </a:r>
            <a:endParaRPr sz="2800">
              <a:solidFill>
                <a:srgbClr val="FF0000"/>
              </a:solidFill>
            </a:endParaRPr>
          </a:p>
        </p:txBody>
      </p:sp>
      <p:sp>
        <p:nvSpPr>
          <p:cNvPr id="185" name="Google Shape;185;p1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US"/>
              <a:t>11-08-2023</a:t>
            </a:r>
            <a:endParaRPr/>
          </a:p>
        </p:txBody>
      </p:sp>
      <p:sp>
        <p:nvSpPr>
          <p:cNvPr id="186" name="Google Shape;186;p1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DEPARTMENT OF INFORMATION TECHNOLOGY,         </a:t>
            </a:r>
            <a:endParaRPr/>
          </a:p>
          <a:p>
            <a:pPr marL="0" lvl="0" indent="0" algn="l" rtl="0">
              <a:lnSpc>
                <a:spcPct val="100000"/>
              </a:lnSpc>
              <a:spcBef>
                <a:spcPts val="0"/>
              </a:spcBef>
              <a:spcAft>
                <a:spcPts val="0"/>
              </a:spcAft>
              <a:buSzPts val="1400"/>
              <a:buNone/>
            </a:pPr>
            <a:r>
              <a:rPr lang="en-US"/>
              <a:t>*Proprietary material of SILVER OAK UNIVERSITY</a:t>
            </a:r>
            <a:endParaRPr/>
          </a:p>
        </p:txBody>
      </p:sp>
      <p:sp>
        <p:nvSpPr>
          <p:cNvPr id="187" name="Google Shape;187;p1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41</a:t>
            </a:fld>
            <a:endParaRPr/>
          </a:p>
        </p:txBody>
      </p:sp>
    </p:spTree>
    <p:extLst>
      <p:ext uri="{BB962C8B-B14F-4D97-AF65-F5344CB8AC3E}">
        <p14:creationId xmlns:p14="http://schemas.microsoft.com/office/powerpoint/2010/main" val="388194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3"/>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SPACE COMPLEXITY: EXAMPLE 4</a:t>
            </a:r>
            <a:endParaRPr/>
          </a:p>
        </p:txBody>
      </p:sp>
      <p:sp>
        <p:nvSpPr>
          <p:cNvPr id="193" name="Google Shape;193;p13"/>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SzPct val="100000"/>
              <a:buNone/>
            </a:pPr>
            <a:r>
              <a:rPr lang="en-US"/>
              <a:t>Algorithm Fact(int n)</a:t>
            </a:r>
            <a:endParaRPr/>
          </a:p>
          <a:p>
            <a:pPr marL="0" lvl="0" indent="0" algn="just" rtl="0">
              <a:lnSpc>
                <a:spcPct val="100000"/>
              </a:lnSpc>
              <a:spcBef>
                <a:spcPts val="1000"/>
              </a:spcBef>
              <a:spcAft>
                <a:spcPts val="0"/>
              </a:spcAft>
              <a:buSzPct val="100000"/>
              <a:buNone/>
            </a:pPr>
            <a:r>
              <a:rPr lang="en-US"/>
              <a:t>{</a:t>
            </a:r>
            <a:endParaRPr/>
          </a:p>
          <a:p>
            <a:pPr marL="0" lvl="0" indent="0" algn="just" rtl="0">
              <a:lnSpc>
                <a:spcPct val="100000"/>
              </a:lnSpc>
              <a:spcBef>
                <a:spcPts val="1000"/>
              </a:spcBef>
              <a:spcAft>
                <a:spcPts val="0"/>
              </a:spcAft>
              <a:buSzPct val="100000"/>
              <a:buNone/>
            </a:pPr>
            <a:r>
              <a:rPr lang="en-US"/>
              <a:t>    if (n &lt;= 1)</a:t>
            </a:r>
            <a:endParaRPr/>
          </a:p>
          <a:p>
            <a:pPr marL="0" lvl="0" indent="0" algn="just" rtl="0">
              <a:lnSpc>
                <a:spcPct val="100000"/>
              </a:lnSpc>
              <a:spcBef>
                <a:spcPts val="1000"/>
              </a:spcBef>
              <a:spcAft>
                <a:spcPts val="0"/>
              </a:spcAft>
              <a:buSzPct val="100000"/>
              <a:buNone/>
            </a:pPr>
            <a:r>
              <a:rPr lang="en-US"/>
              <a:t>    return 1;</a:t>
            </a:r>
            <a:endParaRPr/>
          </a:p>
          <a:p>
            <a:pPr marL="0" lvl="0" indent="0" algn="just" rtl="0">
              <a:lnSpc>
                <a:spcPct val="100000"/>
              </a:lnSpc>
              <a:spcBef>
                <a:spcPts val="1000"/>
              </a:spcBef>
              <a:spcAft>
                <a:spcPts val="0"/>
              </a:spcAft>
              <a:buSzPct val="100000"/>
              <a:buNone/>
            </a:pPr>
            <a:r>
              <a:rPr lang="en-US"/>
              <a:t>     else return (n * Fact(n-1));</a:t>
            </a:r>
            <a:endParaRPr/>
          </a:p>
          <a:p>
            <a:pPr marL="0" lvl="0" indent="0" algn="just" rtl="0">
              <a:lnSpc>
                <a:spcPct val="100000"/>
              </a:lnSpc>
              <a:spcBef>
                <a:spcPts val="1000"/>
              </a:spcBef>
              <a:spcAft>
                <a:spcPts val="0"/>
              </a:spcAft>
              <a:buSzPct val="100000"/>
              <a:buNone/>
            </a:pPr>
            <a:r>
              <a:rPr lang="en-US"/>
              <a:t>}</a:t>
            </a:r>
            <a:endParaRPr/>
          </a:p>
        </p:txBody>
      </p:sp>
      <p:sp>
        <p:nvSpPr>
          <p:cNvPr id="194" name="Google Shape;194;p13"/>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100000"/>
              </a:lnSpc>
              <a:spcBef>
                <a:spcPts val="0"/>
              </a:spcBef>
              <a:spcAft>
                <a:spcPts val="0"/>
              </a:spcAft>
              <a:buSzPct val="100000"/>
              <a:buChar char="•"/>
            </a:pPr>
            <a:r>
              <a:rPr lang="en-US" sz="2800"/>
              <a:t>Every recursive function call needs to store the value of  n &amp; return address. </a:t>
            </a:r>
            <a:endParaRPr/>
          </a:p>
          <a:p>
            <a:pPr marL="457200" lvl="1" indent="-228600" algn="l" rtl="0">
              <a:lnSpc>
                <a:spcPct val="100000"/>
              </a:lnSpc>
              <a:spcBef>
                <a:spcPts val="1000"/>
              </a:spcBef>
              <a:spcAft>
                <a:spcPts val="0"/>
              </a:spcAft>
              <a:buSzPct val="100000"/>
              <a:buChar char="•"/>
            </a:pPr>
            <a:r>
              <a:rPr lang="en-US" sz="2400"/>
              <a:t>Space needed to store </a:t>
            </a:r>
            <a:r>
              <a:rPr lang="en-US" sz="2400">
                <a:latin typeface="SimSun"/>
                <a:ea typeface="SimSun"/>
                <a:cs typeface="SimSun"/>
                <a:sym typeface="SimSun"/>
              </a:rPr>
              <a:t>n</a:t>
            </a:r>
            <a:r>
              <a:rPr lang="en-US" sz="2400"/>
              <a:t> = 1 word. </a:t>
            </a:r>
            <a:endParaRPr/>
          </a:p>
          <a:p>
            <a:pPr marL="457200" lvl="1" indent="-228600" algn="l" rtl="0">
              <a:lnSpc>
                <a:spcPct val="100000"/>
              </a:lnSpc>
              <a:spcBef>
                <a:spcPts val="1000"/>
              </a:spcBef>
              <a:spcAft>
                <a:spcPts val="0"/>
              </a:spcAft>
              <a:buSzPct val="100000"/>
              <a:buChar char="•"/>
            </a:pPr>
            <a:r>
              <a:rPr lang="en-US" sz="2400"/>
              <a:t>Space needed to store return address = 1 words</a:t>
            </a:r>
            <a:endParaRPr/>
          </a:p>
          <a:p>
            <a:pPr marL="457200" lvl="1" indent="-228600" algn="l" rtl="0">
              <a:lnSpc>
                <a:spcPct val="100000"/>
              </a:lnSpc>
              <a:spcBef>
                <a:spcPts val="1000"/>
              </a:spcBef>
              <a:spcAft>
                <a:spcPts val="0"/>
              </a:spcAft>
              <a:buSzPct val="100000"/>
              <a:buChar char="•"/>
            </a:pPr>
            <a:r>
              <a:rPr lang="en-US" sz="2400"/>
              <a:t>Depth of recursion = n</a:t>
            </a:r>
            <a:endParaRPr/>
          </a:p>
          <a:p>
            <a:pPr marL="228600" lvl="0" indent="-228600" algn="l" rtl="0">
              <a:lnSpc>
                <a:spcPct val="100000"/>
              </a:lnSpc>
              <a:spcBef>
                <a:spcPts val="1000"/>
              </a:spcBef>
              <a:spcAft>
                <a:spcPts val="0"/>
              </a:spcAft>
              <a:buSzPct val="100000"/>
              <a:buChar char="•"/>
            </a:pPr>
            <a:r>
              <a:rPr lang="en-US" sz="2800"/>
              <a:t>Hence </a:t>
            </a:r>
            <a:r>
              <a:rPr lang="en-US" sz="2800" b="1"/>
              <a:t>S(P) = 2(n)</a:t>
            </a:r>
            <a:endParaRPr sz="2800" b="1">
              <a:solidFill>
                <a:srgbClr val="FF0000"/>
              </a:solidFill>
            </a:endParaRPr>
          </a:p>
        </p:txBody>
      </p:sp>
      <p:sp>
        <p:nvSpPr>
          <p:cNvPr id="195" name="Google Shape;195;p13"/>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42</a:t>
            </a:fld>
            <a:endParaRPr/>
          </a:p>
        </p:txBody>
      </p:sp>
    </p:spTree>
    <p:extLst>
      <p:ext uri="{BB962C8B-B14F-4D97-AF65-F5344CB8AC3E}">
        <p14:creationId xmlns:p14="http://schemas.microsoft.com/office/powerpoint/2010/main" val="30416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TIME COMPLEXITY</a:t>
            </a:r>
            <a:endParaRPr/>
          </a:p>
        </p:txBody>
      </p:sp>
      <p:sp>
        <p:nvSpPr>
          <p:cNvPr id="201" name="Google Shape;201;p14"/>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1800"/>
              <a:buChar char="•"/>
            </a:pPr>
            <a:r>
              <a:rPr lang="en-US"/>
              <a:t>Time required T(P) to run a program P also consists of two components:</a:t>
            </a:r>
            <a:endParaRPr/>
          </a:p>
          <a:p>
            <a:pPr marL="457200" lvl="1" indent="-228600" algn="just" rtl="0">
              <a:lnSpc>
                <a:spcPct val="100000"/>
              </a:lnSpc>
              <a:spcBef>
                <a:spcPts val="1000"/>
              </a:spcBef>
              <a:spcAft>
                <a:spcPts val="0"/>
              </a:spcAft>
              <a:buSzPts val="1600"/>
              <a:buChar char="•"/>
            </a:pPr>
            <a:r>
              <a:rPr lang="en-US"/>
              <a:t>A fixed part: compile time which is independent of the problem instance 🡪 c.</a:t>
            </a:r>
            <a:endParaRPr/>
          </a:p>
          <a:p>
            <a:pPr marL="457200" lvl="1" indent="-228600" algn="just" rtl="0">
              <a:lnSpc>
                <a:spcPct val="100000"/>
              </a:lnSpc>
              <a:spcBef>
                <a:spcPts val="1000"/>
              </a:spcBef>
              <a:spcAft>
                <a:spcPts val="0"/>
              </a:spcAft>
              <a:buSzPts val="1600"/>
              <a:buChar char="•"/>
            </a:pPr>
            <a:r>
              <a:rPr lang="en-US"/>
              <a:t>A variable part: run time which depends on the problem instance 🡪 t</a:t>
            </a:r>
            <a:r>
              <a:rPr lang="en-US" baseline="-25000"/>
              <a:t>p</a:t>
            </a:r>
            <a:r>
              <a:rPr lang="en-US"/>
              <a:t>(instance)</a:t>
            </a:r>
            <a:endParaRPr/>
          </a:p>
          <a:p>
            <a:pPr marL="228600" lvl="0" indent="-228600" algn="just" rtl="0">
              <a:lnSpc>
                <a:spcPct val="100000"/>
              </a:lnSpc>
              <a:spcBef>
                <a:spcPts val="1000"/>
              </a:spcBef>
              <a:spcAft>
                <a:spcPts val="0"/>
              </a:spcAft>
              <a:buSzPts val="1800"/>
              <a:buChar char="•"/>
            </a:pPr>
            <a:r>
              <a:rPr lang="en-US"/>
              <a:t>T(P) = c + t</a:t>
            </a:r>
            <a:r>
              <a:rPr lang="en-US" baseline="-25000"/>
              <a:t>p</a:t>
            </a:r>
            <a:r>
              <a:rPr lang="en-US"/>
              <a:t>(instance)</a:t>
            </a:r>
            <a:endParaRPr/>
          </a:p>
          <a:p>
            <a:pPr marL="228600" lvl="0" indent="-114300" algn="just" rtl="0">
              <a:lnSpc>
                <a:spcPct val="100000"/>
              </a:lnSpc>
              <a:spcBef>
                <a:spcPts val="1000"/>
              </a:spcBef>
              <a:spcAft>
                <a:spcPts val="0"/>
              </a:spcAft>
              <a:buSzPts val="1800"/>
              <a:buNone/>
            </a:pPr>
            <a:endParaRPr/>
          </a:p>
        </p:txBody>
      </p:sp>
      <p:sp>
        <p:nvSpPr>
          <p:cNvPr id="202" name="Google Shape;202;p1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43</a:t>
            </a:fld>
            <a:endParaRPr/>
          </a:p>
        </p:txBody>
      </p:sp>
    </p:spTree>
    <p:extLst>
      <p:ext uri="{BB962C8B-B14F-4D97-AF65-F5344CB8AC3E}">
        <p14:creationId xmlns:p14="http://schemas.microsoft.com/office/powerpoint/2010/main" val="42790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TIME COMPLEXITY</a:t>
            </a:r>
            <a:endParaRPr/>
          </a:p>
        </p:txBody>
      </p:sp>
      <p:sp>
        <p:nvSpPr>
          <p:cNvPr id="208" name="Google Shape;208;p1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just" rtl="0">
              <a:lnSpc>
                <a:spcPct val="100000"/>
              </a:lnSpc>
              <a:spcBef>
                <a:spcPts val="0"/>
              </a:spcBef>
              <a:spcAft>
                <a:spcPts val="0"/>
              </a:spcAft>
              <a:buSzPct val="100000"/>
              <a:buChar char="•"/>
            </a:pPr>
            <a:r>
              <a:rPr lang="en-US" sz="2800"/>
              <a:t>How to measure T(P)? </a:t>
            </a:r>
            <a:endParaRPr/>
          </a:p>
          <a:p>
            <a:pPr marL="914400" lvl="1" indent="-457200" algn="just" rtl="0">
              <a:lnSpc>
                <a:spcPct val="100000"/>
              </a:lnSpc>
              <a:spcBef>
                <a:spcPts val="1000"/>
              </a:spcBef>
              <a:spcAft>
                <a:spcPts val="0"/>
              </a:spcAft>
              <a:buSzPct val="100000"/>
              <a:buFont typeface="Bookman Old Style"/>
              <a:buAutoNum type="arabicPeriod"/>
            </a:pPr>
            <a:r>
              <a:rPr lang="en-US" sz="2400"/>
              <a:t>Measure experimentally, using a “stop watch” </a:t>
            </a:r>
            <a:endParaRPr/>
          </a:p>
          <a:p>
            <a:pPr marL="685800" lvl="2" indent="-228600" algn="just" rtl="0">
              <a:lnSpc>
                <a:spcPct val="100000"/>
              </a:lnSpc>
              <a:spcBef>
                <a:spcPts val="1000"/>
              </a:spcBef>
              <a:spcAft>
                <a:spcPts val="0"/>
              </a:spcAft>
              <a:buSzPct val="100000"/>
              <a:buChar char="•"/>
            </a:pPr>
            <a:r>
              <a:rPr lang="en-US" sz="2000"/>
              <a:t> </a:t>
            </a:r>
            <a:r>
              <a:rPr lang="en-US" sz="2200"/>
              <a:t>T(P) obtained in secs, msecs.</a:t>
            </a:r>
            <a:endParaRPr/>
          </a:p>
          <a:p>
            <a:pPr marL="914400" lvl="1" indent="-457200" algn="just" rtl="0">
              <a:lnSpc>
                <a:spcPct val="100000"/>
              </a:lnSpc>
              <a:spcBef>
                <a:spcPts val="1000"/>
              </a:spcBef>
              <a:spcAft>
                <a:spcPts val="0"/>
              </a:spcAft>
              <a:buSzPct val="100000"/>
              <a:buFont typeface="Bookman Old Style"/>
              <a:buAutoNum type="arabicPeriod"/>
            </a:pPr>
            <a:r>
              <a:rPr lang="en-US" sz="2400"/>
              <a:t>Count no. of major operations / instructions.</a:t>
            </a:r>
            <a:endParaRPr/>
          </a:p>
          <a:p>
            <a:pPr marL="685800" lvl="2" indent="-228600" algn="just" rtl="0">
              <a:lnSpc>
                <a:spcPct val="100000"/>
              </a:lnSpc>
              <a:spcBef>
                <a:spcPts val="1000"/>
              </a:spcBef>
              <a:spcAft>
                <a:spcPts val="0"/>
              </a:spcAft>
              <a:buSzPct val="100000"/>
              <a:buChar char="•"/>
            </a:pPr>
            <a:r>
              <a:rPr lang="en-US" sz="2200"/>
              <a:t>Identify one or more major operations and determine how many times each is executed.</a:t>
            </a:r>
            <a:endParaRPr/>
          </a:p>
          <a:p>
            <a:pPr marL="685800" lvl="2" indent="-228600" algn="just" rtl="0">
              <a:lnSpc>
                <a:spcPct val="100000"/>
              </a:lnSpc>
              <a:spcBef>
                <a:spcPts val="1000"/>
              </a:spcBef>
              <a:spcAft>
                <a:spcPts val="0"/>
              </a:spcAft>
              <a:buSzPct val="100000"/>
              <a:buChar char="•"/>
            </a:pPr>
            <a:r>
              <a:rPr lang="en-US" sz="2200"/>
              <a:t>Ignore the other minor operations / instructions.</a:t>
            </a:r>
            <a:endParaRPr/>
          </a:p>
          <a:p>
            <a:pPr marL="914400" lvl="1" indent="-457200" algn="just" rtl="0">
              <a:lnSpc>
                <a:spcPct val="100000"/>
              </a:lnSpc>
              <a:spcBef>
                <a:spcPts val="1000"/>
              </a:spcBef>
              <a:spcAft>
                <a:spcPts val="0"/>
              </a:spcAft>
              <a:buSzPct val="100000"/>
              <a:buFont typeface="Bookman Old Style"/>
              <a:buAutoNum type="arabicPeriod"/>
            </a:pPr>
            <a:r>
              <a:rPr lang="en-US" sz="2400"/>
              <a:t>Count program steps 🡪 T(P) obtained as a </a:t>
            </a:r>
            <a:r>
              <a:rPr lang="en-US" sz="2400" u="sng"/>
              <a:t>step count.</a:t>
            </a:r>
            <a:endParaRPr/>
          </a:p>
          <a:p>
            <a:pPr marL="228600" lvl="0" indent="-228600" algn="just" rtl="0">
              <a:lnSpc>
                <a:spcPct val="100000"/>
              </a:lnSpc>
              <a:spcBef>
                <a:spcPts val="1000"/>
              </a:spcBef>
              <a:spcAft>
                <a:spcPts val="0"/>
              </a:spcAft>
              <a:buSzPct val="100000"/>
              <a:buChar char="•"/>
            </a:pPr>
            <a:r>
              <a:rPr lang="en-US" sz="2800"/>
              <a:t>Fixed part is usually ignored; only the variable part t</a:t>
            </a:r>
            <a:r>
              <a:rPr lang="en-US" sz="2800" baseline="-25000"/>
              <a:t>p</a:t>
            </a:r>
            <a:r>
              <a:rPr lang="en-US" sz="2800"/>
              <a:t>() is measured.</a:t>
            </a:r>
            <a:endParaRPr/>
          </a:p>
        </p:txBody>
      </p:sp>
      <p:sp>
        <p:nvSpPr>
          <p:cNvPr id="209" name="Google Shape;209;p1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44</a:t>
            </a:fld>
            <a:endParaRPr/>
          </a:p>
        </p:txBody>
      </p:sp>
    </p:spTree>
    <p:extLst>
      <p:ext uri="{BB962C8B-B14F-4D97-AF65-F5344CB8AC3E}">
        <p14:creationId xmlns:p14="http://schemas.microsoft.com/office/powerpoint/2010/main" val="66494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OPERATION COUNT : EXAMPLE 1</a:t>
            </a:r>
            <a:endParaRPr/>
          </a:p>
        </p:txBody>
      </p:sp>
      <p:sp>
        <p:nvSpPr>
          <p:cNvPr id="215" name="Google Shape;215;p16"/>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SzPts val="1800"/>
              <a:buNone/>
            </a:pPr>
            <a:r>
              <a:rPr lang="en-US"/>
              <a:t>Algorithm IndexOfMax(int a[], int n)</a:t>
            </a:r>
            <a:endParaRPr/>
          </a:p>
          <a:p>
            <a:pPr marL="0" lvl="0" indent="0" algn="l" rtl="0">
              <a:lnSpc>
                <a:spcPct val="100000"/>
              </a:lnSpc>
              <a:spcBef>
                <a:spcPts val="1000"/>
              </a:spcBef>
              <a:spcAft>
                <a:spcPts val="0"/>
              </a:spcAft>
              <a:buSzPts val="1800"/>
              <a:buNone/>
            </a:pPr>
            <a:r>
              <a:rPr lang="en-US"/>
              <a:t>{</a:t>
            </a:r>
            <a:endParaRPr/>
          </a:p>
          <a:p>
            <a:pPr marL="0" lvl="0" indent="0" algn="l" rtl="0">
              <a:lnSpc>
                <a:spcPct val="100000"/>
              </a:lnSpc>
              <a:spcBef>
                <a:spcPts val="1000"/>
              </a:spcBef>
              <a:spcAft>
                <a:spcPts val="0"/>
              </a:spcAft>
              <a:buSzPts val="1800"/>
              <a:buNone/>
            </a:pPr>
            <a:r>
              <a:rPr lang="en-US"/>
              <a:t>	 int index = 0;</a:t>
            </a:r>
            <a:endParaRPr/>
          </a:p>
          <a:p>
            <a:pPr marL="0" lvl="0" indent="0" algn="l" rtl="0">
              <a:lnSpc>
                <a:spcPct val="100000"/>
              </a:lnSpc>
              <a:spcBef>
                <a:spcPts val="1000"/>
              </a:spcBef>
              <a:spcAft>
                <a:spcPts val="0"/>
              </a:spcAft>
              <a:buSzPts val="1800"/>
              <a:buNone/>
            </a:pPr>
            <a:r>
              <a:rPr lang="en-US"/>
              <a:t>   for(int i=1; i&lt;n; i++)	 </a:t>
            </a:r>
            <a:endParaRPr/>
          </a:p>
          <a:p>
            <a:pPr marL="0" lvl="0" indent="0" algn="l" rtl="0">
              <a:lnSpc>
                <a:spcPct val="100000"/>
              </a:lnSpc>
              <a:spcBef>
                <a:spcPts val="1000"/>
              </a:spcBef>
              <a:spcAft>
                <a:spcPts val="0"/>
              </a:spcAft>
              <a:buSzPts val="1800"/>
              <a:buNone/>
            </a:pPr>
            <a:r>
              <a:rPr lang="en-US"/>
              <a:t>   if (a[index] &lt; a[i])</a:t>
            </a:r>
            <a:endParaRPr/>
          </a:p>
          <a:p>
            <a:pPr marL="0" lvl="0" indent="0" algn="l" rtl="0">
              <a:lnSpc>
                <a:spcPct val="100000"/>
              </a:lnSpc>
              <a:spcBef>
                <a:spcPts val="1000"/>
              </a:spcBef>
              <a:spcAft>
                <a:spcPts val="0"/>
              </a:spcAft>
              <a:buSzPts val="1800"/>
              <a:buNone/>
            </a:pPr>
            <a:r>
              <a:rPr lang="en-US"/>
              <a:t>      index = i;    </a:t>
            </a:r>
            <a:endParaRPr/>
          </a:p>
          <a:p>
            <a:pPr marL="0" lvl="0" indent="0" algn="l" rtl="0">
              <a:lnSpc>
                <a:spcPct val="100000"/>
              </a:lnSpc>
              <a:spcBef>
                <a:spcPts val="1000"/>
              </a:spcBef>
              <a:spcAft>
                <a:spcPts val="0"/>
              </a:spcAft>
              <a:buSzPts val="1800"/>
              <a:buNone/>
            </a:pPr>
            <a:r>
              <a:rPr lang="en-US"/>
              <a:t>   return index;</a:t>
            </a:r>
            <a:endParaRPr/>
          </a:p>
          <a:p>
            <a:pPr marL="0" lvl="0" indent="0" algn="l" rtl="0">
              <a:lnSpc>
                <a:spcPct val="100000"/>
              </a:lnSpc>
              <a:spcBef>
                <a:spcPts val="1000"/>
              </a:spcBef>
              <a:spcAft>
                <a:spcPts val="0"/>
              </a:spcAft>
              <a:buSzPts val="1800"/>
              <a:buNone/>
            </a:pPr>
            <a:r>
              <a:rPr lang="en-US"/>
              <a:t>}</a:t>
            </a:r>
            <a:endParaRPr/>
          </a:p>
          <a:p>
            <a:pPr marL="0" lvl="0" indent="0" algn="l" rtl="0">
              <a:lnSpc>
                <a:spcPct val="100000"/>
              </a:lnSpc>
              <a:spcBef>
                <a:spcPts val="1000"/>
              </a:spcBef>
              <a:spcAft>
                <a:spcPts val="0"/>
              </a:spcAft>
              <a:buSzPts val="1800"/>
              <a:buNone/>
            </a:pPr>
            <a:endParaRPr/>
          </a:p>
        </p:txBody>
      </p:sp>
      <p:sp>
        <p:nvSpPr>
          <p:cNvPr id="216" name="Google Shape;216;p16"/>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p>
            <a:pPr marL="457200" lvl="1" indent="-228600" algn="l" rtl="0">
              <a:lnSpc>
                <a:spcPct val="100000"/>
              </a:lnSpc>
              <a:spcBef>
                <a:spcPts val="0"/>
              </a:spcBef>
              <a:spcAft>
                <a:spcPts val="0"/>
              </a:spcAft>
              <a:buSzPts val="1800"/>
              <a:buChar char="•"/>
            </a:pPr>
            <a:r>
              <a:rPr lang="en-US" sz="1800"/>
              <a:t>Comparison can be considered as major operation in above algorithm.</a:t>
            </a:r>
            <a:endParaRPr/>
          </a:p>
          <a:p>
            <a:pPr marL="457200" lvl="1" indent="-228600" algn="l" rtl="0">
              <a:lnSpc>
                <a:spcPct val="100000"/>
              </a:lnSpc>
              <a:spcBef>
                <a:spcPts val="1000"/>
              </a:spcBef>
              <a:spcAft>
                <a:spcPts val="0"/>
              </a:spcAft>
              <a:buSzPts val="1800"/>
              <a:buChar char="•"/>
            </a:pPr>
            <a:r>
              <a:rPr lang="en-US" sz="1800"/>
              <a:t>Total number of comparison = max{n-1, 0 }</a:t>
            </a:r>
            <a:endParaRPr/>
          </a:p>
          <a:p>
            <a:pPr marL="457200" lvl="1" indent="-228600" algn="l" rtl="0">
              <a:lnSpc>
                <a:spcPct val="100000"/>
              </a:lnSpc>
              <a:spcBef>
                <a:spcPts val="1000"/>
              </a:spcBef>
              <a:spcAft>
                <a:spcPts val="0"/>
              </a:spcAft>
              <a:buSzPts val="1800"/>
              <a:buChar char="•"/>
            </a:pPr>
            <a:r>
              <a:rPr lang="en-US" sz="1800"/>
              <a:t>Hence, </a:t>
            </a:r>
            <a:r>
              <a:rPr lang="en-US" sz="1800" b="1"/>
              <a:t>T(P) = n-1</a:t>
            </a:r>
            <a:endParaRPr/>
          </a:p>
        </p:txBody>
      </p:sp>
      <p:sp>
        <p:nvSpPr>
          <p:cNvPr id="217" name="Google Shape;217;p1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45</a:t>
            </a:fld>
            <a:endParaRPr/>
          </a:p>
        </p:txBody>
      </p:sp>
    </p:spTree>
    <p:extLst>
      <p:ext uri="{BB962C8B-B14F-4D97-AF65-F5344CB8AC3E}">
        <p14:creationId xmlns:p14="http://schemas.microsoft.com/office/powerpoint/2010/main" val="741942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OPERATION COUNT : EXAMPLE 2</a:t>
            </a:r>
            <a:endParaRPr/>
          </a:p>
        </p:txBody>
      </p:sp>
      <p:sp>
        <p:nvSpPr>
          <p:cNvPr id="223" name="Google Shape;223;p17"/>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00000"/>
              </a:lnSpc>
              <a:spcBef>
                <a:spcPts val="0"/>
              </a:spcBef>
              <a:spcAft>
                <a:spcPts val="0"/>
              </a:spcAft>
              <a:buSzPct val="100000"/>
              <a:buNone/>
            </a:pPr>
            <a:r>
              <a:rPr lang="en-US"/>
              <a:t>Algorithm PolyEval(int coeff[], int n, int x)</a:t>
            </a:r>
            <a:endParaRPr/>
          </a:p>
          <a:p>
            <a:pPr marL="0" lvl="0" indent="0" algn="l" rtl="0">
              <a:lnSpc>
                <a:spcPct val="100000"/>
              </a:lnSpc>
              <a:spcBef>
                <a:spcPts val="1000"/>
              </a:spcBef>
              <a:spcAft>
                <a:spcPts val="0"/>
              </a:spcAft>
              <a:buSzPct val="100000"/>
              <a:buNone/>
            </a:pPr>
            <a:r>
              <a:rPr lang="en-US"/>
              <a:t>{</a:t>
            </a:r>
            <a:endParaRPr/>
          </a:p>
          <a:p>
            <a:pPr marL="0" lvl="0" indent="0" algn="l" rtl="0">
              <a:lnSpc>
                <a:spcPct val="100000"/>
              </a:lnSpc>
              <a:spcBef>
                <a:spcPts val="1000"/>
              </a:spcBef>
              <a:spcAft>
                <a:spcPts val="0"/>
              </a:spcAft>
              <a:buSzPct val="100000"/>
              <a:buNone/>
            </a:pPr>
            <a:r>
              <a:rPr lang="en-US"/>
              <a:t>	 int y=1, value=coeff[0] ;</a:t>
            </a:r>
            <a:endParaRPr/>
          </a:p>
          <a:p>
            <a:pPr marL="0" lvl="0" indent="0" algn="l" rtl="0">
              <a:lnSpc>
                <a:spcPct val="100000"/>
              </a:lnSpc>
              <a:spcBef>
                <a:spcPts val="1000"/>
              </a:spcBef>
              <a:spcAft>
                <a:spcPts val="0"/>
              </a:spcAft>
              <a:buSzPct val="100000"/>
              <a:buNone/>
            </a:pPr>
            <a:r>
              <a:rPr lang="en-US"/>
              <a:t>   for(int i=1; i&lt;=n; i++)	 </a:t>
            </a:r>
            <a:endParaRPr/>
          </a:p>
          <a:p>
            <a:pPr marL="0" lvl="0" indent="0" algn="l" rtl="0">
              <a:lnSpc>
                <a:spcPct val="100000"/>
              </a:lnSpc>
              <a:spcBef>
                <a:spcPts val="1000"/>
              </a:spcBef>
              <a:spcAft>
                <a:spcPts val="0"/>
              </a:spcAft>
              <a:buSzPct val="100000"/>
              <a:buNone/>
            </a:pPr>
            <a:r>
              <a:rPr lang="en-US"/>
              <a:t>   {</a:t>
            </a:r>
            <a:endParaRPr/>
          </a:p>
          <a:p>
            <a:pPr marL="0" lvl="0" indent="0" algn="l" rtl="0">
              <a:lnSpc>
                <a:spcPct val="100000"/>
              </a:lnSpc>
              <a:spcBef>
                <a:spcPts val="1000"/>
              </a:spcBef>
              <a:spcAft>
                <a:spcPts val="0"/>
              </a:spcAft>
              <a:buSzPct val="100000"/>
              <a:buNone/>
            </a:pPr>
            <a:r>
              <a:rPr lang="en-US"/>
              <a:t>      y = y * x;    </a:t>
            </a:r>
            <a:endParaRPr/>
          </a:p>
          <a:p>
            <a:pPr marL="0" lvl="0" indent="0" algn="l" rtl="0">
              <a:lnSpc>
                <a:spcPct val="100000"/>
              </a:lnSpc>
              <a:spcBef>
                <a:spcPts val="1000"/>
              </a:spcBef>
              <a:spcAft>
                <a:spcPts val="0"/>
              </a:spcAft>
              <a:buSzPct val="100000"/>
              <a:buNone/>
            </a:pPr>
            <a:r>
              <a:rPr lang="en-US"/>
              <a:t>      value = value + y * coeff[i];</a:t>
            </a:r>
            <a:endParaRPr/>
          </a:p>
          <a:p>
            <a:pPr marL="0" lvl="0" indent="0" algn="l" rtl="0">
              <a:lnSpc>
                <a:spcPct val="100000"/>
              </a:lnSpc>
              <a:spcBef>
                <a:spcPts val="1000"/>
              </a:spcBef>
              <a:spcAft>
                <a:spcPts val="0"/>
              </a:spcAft>
              <a:buSzPct val="100000"/>
              <a:buNone/>
            </a:pPr>
            <a:r>
              <a:rPr lang="en-US"/>
              <a:t>    }</a:t>
            </a:r>
            <a:endParaRPr/>
          </a:p>
          <a:p>
            <a:pPr marL="0" lvl="0" indent="0" algn="l" rtl="0">
              <a:lnSpc>
                <a:spcPct val="100000"/>
              </a:lnSpc>
              <a:spcBef>
                <a:spcPts val="1000"/>
              </a:spcBef>
              <a:spcAft>
                <a:spcPts val="0"/>
              </a:spcAft>
              <a:buSzPct val="100000"/>
              <a:buNone/>
            </a:pPr>
            <a:r>
              <a:rPr lang="en-US"/>
              <a:t>}</a:t>
            </a:r>
            <a:endParaRPr/>
          </a:p>
        </p:txBody>
      </p:sp>
      <p:sp>
        <p:nvSpPr>
          <p:cNvPr id="224" name="Google Shape;224;p17"/>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fontScale="77500" lnSpcReduction="20000"/>
          </a:bodyPr>
          <a:lstStyle/>
          <a:p>
            <a:pPr marL="457200" lvl="1" indent="-228600" algn="l" rtl="0">
              <a:lnSpc>
                <a:spcPct val="100000"/>
              </a:lnSpc>
              <a:spcBef>
                <a:spcPts val="0"/>
              </a:spcBef>
              <a:spcAft>
                <a:spcPts val="0"/>
              </a:spcAft>
              <a:buSzPct val="100000"/>
              <a:buChar char="•"/>
            </a:pPr>
            <a:r>
              <a:rPr lang="en-US" sz="2400"/>
              <a:t>Here, additions and multiplications can be identified as major operations.</a:t>
            </a:r>
            <a:endParaRPr/>
          </a:p>
          <a:p>
            <a:pPr marL="685800" lvl="2" indent="-228600" algn="l" rtl="0">
              <a:lnSpc>
                <a:spcPct val="100000"/>
              </a:lnSpc>
              <a:spcBef>
                <a:spcPts val="1000"/>
              </a:spcBef>
              <a:spcAft>
                <a:spcPts val="0"/>
              </a:spcAft>
              <a:buSzPct val="100000"/>
              <a:buChar char="•"/>
            </a:pPr>
            <a:r>
              <a:rPr lang="en-US" sz="2200"/>
              <a:t>Total number of additions = n</a:t>
            </a:r>
            <a:endParaRPr/>
          </a:p>
          <a:p>
            <a:pPr marL="685800" lvl="2" indent="-228600" algn="l" rtl="0">
              <a:lnSpc>
                <a:spcPct val="100000"/>
              </a:lnSpc>
              <a:spcBef>
                <a:spcPts val="1000"/>
              </a:spcBef>
              <a:spcAft>
                <a:spcPts val="0"/>
              </a:spcAft>
              <a:buSzPct val="100000"/>
              <a:buChar char="•"/>
            </a:pPr>
            <a:r>
              <a:rPr lang="en-US" sz="2200"/>
              <a:t>Total number of multiplications = 2n</a:t>
            </a:r>
            <a:endParaRPr/>
          </a:p>
          <a:p>
            <a:pPr marL="457200" lvl="1" indent="-228600" algn="l" rtl="0">
              <a:lnSpc>
                <a:spcPct val="100000"/>
              </a:lnSpc>
              <a:spcBef>
                <a:spcPts val="1000"/>
              </a:spcBef>
              <a:spcAft>
                <a:spcPts val="0"/>
              </a:spcAft>
              <a:buSzPct val="100000"/>
              <a:buChar char="•"/>
            </a:pPr>
            <a:r>
              <a:rPr lang="en-US" sz="2400"/>
              <a:t>Hence, total number of operations = 3n</a:t>
            </a:r>
            <a:endParaRPr/>
          </a:p>
          <a:p>
            <a:pPr marL="457200" lvl="1" indent="-228600" algn="l" rtl="0">
              <a:lnSpc>
                <a:spcPct val="100000"/>
              </a:lnSpc>
              <a:spcBef>
                <a:spcPts val="1000"/>
              </a:spcBef>
              <a:spcAft>
                <a:spcPts val="0"/>
              </a:spcAft>
              <a:buSzPct val="100000"/>
              <a:buChar char="•"/>
            </a:pPr>
            <a:r>
              <a:rPr lang="en-US" sz="2400" b="1"/>
              <a:t>T(P) = 3n</a:t>
            </a:r>
            <a:endParaRPr/>
          </a:p>
        </p:txBody>
      </p:sp>
      <p:sp>
        <p:nvSpPr>
          <p:cNvPr id="225" name="Google Shape;225;p1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46</a:t>
            </a:fld>
            <a:endParaRPr/>
          </a:p>
        </p:txBody>
      </p:sp>
    </p:spTree>
    <p:extLst>
      <p:ext uri="{BB962C8B-B14F-4D97-AF65-F5344CB8AC3E}">
        <p14:creationId xmlns:p14="http://schemas.microsoft.com/office/powerpoint/2010/main" val="2330317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 COUNT</a:t>
            </a:r>
            <a:endParaRPr/>
          </a:p>
        </p:txBody>
      </p:sp>
      <p:sp>
        <p:nvSpPr>
          <p:cNvPr id="231" name="Google Shape;231;p18"/>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Considers all executable statements of an algorithm.</a:t>
            </a:r>
            <a:endParaRPr/>
          </a:p>
          <a:p>
            <a:pPr marL="228600" lvl="0" indent="-228600" algn="l" rtl="0">
              <a:lnSpc>
                <a:spcPct val="100000"/>
              </a:lnSpc>
              <a:spcBef>
                <a:spcPts val="1000"/>
              </a:spcBef>
              <a:spcAft>
                <a:spcPts val="0"/>
              </a:spcAft>
              <a:buSzPts val="1800"/>
              <a:buChar char="•"/>
            </a:pPr>
            <a:r>
              <a:rPr lang="en-US"/>
              <a:t>What is a </a:t>
            </a:r>
            <a:r>
              <a:rPr lang="en-US" u="sng"/>
              <a:t>program step</a:t>
            </a:r>
            <a:r>
              <a:rPr lang="en-US"/>
              <a:t>?</a:t>
            </a:r>
            <a:endParaRPr/>
          </a:p>
          <a:p>
            <a:pPr marL="457200" lvl="1" indent="-228600" algn="l" rtl="0">
              <a:lnSpc>
                <a:spcPct val="100000"/>
              </a:lnSpc>
              <a:spcBef>
                <a:spcPts val="1000"/>
              </a:spcBef>
              <a:spcAft>
                <a:spcPts val="0"/>
              </a:spcAft>
              <a:buSzPts val="1600"/>
              <a:buChar char="•"/>
            </a:pPr>
            <a:r>
              <a:rPr lang="en-US"/>
              <a:t>a+b+b*c+(a+b)/(a-b) 🡪 one step; </a:t>
            </a:r>
            <a:endParaRPr/>
          </a:p>
          <a:p>
            <a:pPr marL="457200" lvl="1" indent="-228600" algn="l" rtl="0">
              <a:lnSpc>
                <a:spcPct val="100000"/>
              </a:lnSpc>
              <a:spcBef>
                <a:spcPts val="1000"/>
              </a:spcBef>
              <a:spcAft>
                <a:spcPts val="0"/>
              </a:spcAft>
              <a:buSzPts val="1600"/>
              <a:buChar char="•"/>
            </a:pPr>
            <a:r>
              <a:rPr lang="en-US"/>
              <a:t>comments 🡪 zero steps;</a:t>
            </a:r>
            <a:endParaRPr/>
          </a:p>
          <a:p>
            <a:pPr marL="457200" lvl="1" indent="-228600" algn="l" rtl="0">
              <a:lnSpc>
                <a:spcPct val="100000"/>
              </a:lnSpc>
              <a:spcBef>
                <a:spcPts val="1000"/>
              </a:spcBef>
              <a:spcAft>
                <a:spcPts val="0"/>
              </a:spcAft>
              <a:buSzPts val="1600"/>
              <a:buChar char="•"/>
            </a:pPr>
            <a:r>
              <a:rPr lang="en-US">
                <a:latin typeface="SimSun"/>
                <a:ea typeface="SimSun"/>
                <a:cs typeface="SimSun"/>
                <a:sym typeface="SimSun"/>
              </a:rPr>
              <a:t>while (&lt;expr&gt;) do </a:t>
            </a:r>
            <a:r>
              <a:rPr lang="en-US"/>
              <a:t>🡪 step count equal to the number of times &lt;expr&gt; is executed.</a:t>
            </a:r>
            <a:endParaRPr/>
          </a:p>
          <a:p>
            <a:pPr marL="457200" lvl="1" indent="-228600" algn="l" rtl="0">
              <a:lnSpc>
                <a:spcPct val="100000"/>
              </a:lnSpc>
              <a:spcBef>
                <a:spcPts val="1000"/>
              </a:spcBef>
              <a:spcAft>
                <a:spcPts val="0"/>
              </a:spcAft>
              <a:buSzPts val="1600"/>
              <a:buChar char="•"/>
            </a:pPr>
            <a:r>
              <a:rPr lang="en-US">
                <a:latin typeface="SimSun"/>
                <a:ea typeface="SimSun"/>
                <a:cs typeface="SimSun"/>
                <a:sym typeface="SimSun"/>
              </a:rPr>
              <a:t>for i=&lt;expr&gt; to &lt;expr1&gt; do</a:t>
            </a:r>
            <a:r>
              <a:rPr lang="en-US"/>
              <a:t> 🡪 step count equal to number of times &lt;expr1&gt; is checked.</a:t>
            </a:r>
            <a:endParaRPr/>
          </a:p>
          <a:p>
            <a:pPr marL="457200" lvl="1" indent="-127000" algn="l" rtl="0">
              <a:lnSpc>
                <a:spcPct val="100000"/>
              </a:lnSpc>
              <a:spcBef>
                <a:spcPts val="1000"/>
              </a:spcBef>
              <a:spcAft>
                <a:spcPts val="0"/>
              </a:spcAft>
              <a:buSzPts val="1600"/>
              <a:buNone/>
            </a:pPr>
            <a:endParaRPr>
              <a:latin typeface="SimSun"/>
              <a:ea typeface="SimSun"/>
              <a:cs typeface="SimSun"/>
              <a:sym typeface="SimSun"/>
            </a:endParaRPr>
          </a:p>
        </p:txBody>
      </p:sp>
      <p:sp>
        <p:nvSpPr>
          <p:cNvPr id="232" name="Google Shape;232;p1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en-US"/>
              <a:t>11-08-2023</a:t>
            </a:r>
            <a:endParaRPr/>
          </a:p>
        </p:txBody>
      </p:sp>
      <p:sp>
        <p:nvSpPr>
          <p:cNvPr id="233" name="Google Shape;233;p1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DEPARTMENT OF INFORMATION TECHNOLOGY,         *Proprietary material of SILVER OAK UNIVERSITY</a:t>
            </a:r>
            <a:endParaRPr/>
          </a:p>
        </p:txBody>
      </p:sp>
      <p:sp>
        <p:nvSpPr>
          <p:cNvPr id="234" name="Google Shape;234;p1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47</a:t>
            </a:fld>
            <a:endParaRPr/>
          </a:p>
        </p:txBody>
      </p:sp>
    </p:spTree>
    <p:extLst>
      <p:ext uri="{BB962C8B-B14F-4D97-AF65-F5344CB8AC3E}">
        <p14:creationId xmlns:p14="http://schemas.microsoft.com/office/powerpoint/2010/main" val="2297615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 COUNT : EXAMPLE 1</a:t>
            </a:r>
            <a:endParaRPr/>
          </a:p>
        </p:txBody>
      </p:sp>
      <p:sp>
        <p:nvSpPr>
          <p:cNvPr id="240" name="Google Shape;240;p1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48</a:t>
            </a:fld>
            <a:endParaRPr/>
          </a:p>
        </p:txBody>
      </p:sp>
      <p:pic>
        <p:nvPicPr>
          <p:cNvPr id="241" name="Google Shape;241;p19"/>
          <p:cNvPicPr preferRelativeResize="0"/>
          <p:nvPr/>
        </p:nvPicPr>
        <p:blipFill rotWithShape="1">
          <a:blip r:embed="rId3">
            <a:alphaModFix/>
          </a:blip>
          <a:srcRect/>
          <a:stretch/>
        </p:blipFill>
        <p:spPr>
          <a:xfrm>
            <a:off x="2828501" y="2287021"/>
            <a:ext cx="6534998" cy="4109207"/>
          </a:xfrm>
          <a:prstGeom prst="rect">
            <a:avLst/>
          </a:prstGeom>
          <a:noFill/>
          <a:ln>
            <a:noFill/>
          </a:ln>
        </p:spPr>
      </p:pic>
    </p:spTree>
    <p:extLst>
      <p:ext uri="{BB962C8B-B14F-4D97-AF65-F5344CB8AC3E}">
        <p14:creationId xmlns:p14="http://schemas.microsoft.com/office/powerpoint/2010/main" val="34639770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 COUNT : EXAMPLE 2</a:t>
            </a:r>
            <a:endParaRPr/>
          </a:p>
        </p:txBody>
      </p:sp>
      <p:sp>
        <p:nvSpPr>
          <p:cNvPr id="247" name="Google Shape;247;p20"/>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49</a:t>
            </a:fld>
            <a:endParaRPr/>
          </a:p>
        </p:txBody>
      </p:sp>
      <p:pic>
        <p:nvPicPr>
          <p:cNvPr id="248" name="Google Shape;248;p20"/>
          <p:cNvPicPr preferRelativeResize="0"/>
          <p:nvPr/>
        </p:nvPicPr>
        <p:blipFill rotWithShape="1">
          <a:blip r:embed="rId3">
            <a:alphaModFix/>
          </a:blip>
          <a:srcRect/>
          <a:stretch/>
        </p:blipFill>
        <p:spPr>
          <a:xfrm>
            <a:off x="2833529" y="2304102"/>
            <a:ext cx="6524941" cy="4165523"/>
          </a:xfrm>
          <a:prstGeom prst="rect">
            <a:avLst/>
          </a:prstGeom>
          <a:noFill/>
          <a:ln>
            <a:noFill/>
          </a:ln>
        </p:spPr>
      </p:pic>
    </p:spTree>
    <p:extLst>
      <p:ext uri="{BB962C8B-B14F-4D97-AF65-F5344CB8AC3E}">
        <p14:creationId xmlns:p14="http://schemas.microsoft.com/office/powerpoint/2010/main" val="675890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 COUNT : EXAMPLE 3</a:t>
            </a:r>
            <a:endParaRPr/>
          </a:p>
        </p:txBody>
      </p:sp>
      <p:sp>
        <p:nvSpPr>
          <p:cNvPr id="254" name="Google Shape;254;p21"/>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50</a:t>
            </a:fld>
            <a:endParaRPr/>
          </a:p>
        </p:txBody>
      </p:sp>
      <p:pic>
        <p:nvPicPr>
          <p:cNvPr id="255" name="Google Shape;255;p21"/>
          <p:cNvPicPr preferRelativeResize="0"/>
          <p:nvPr/>
        </p:nvPicPr>
        <p:blipFill rotWithShape="1">
          <a:blip r:embed="rId3">
            <a:alphaModFix/>
          </a:blip>
          <a:srcRect/>
          <a:stretch/>
        </p:blipFill>
        <p:spPr>
          <a:xfrm>
            <a:off x="2171161" y="2399442"/>
            <a:ext cx="7849677" cy="3642207"/>
          </a:xfrm>
          <a:prstGeom prst="rect">
            <a:avLst/>
          </a:prstGeom>
          <a:noFill/>
          <a:ln>
            <a:noFill/>
          </a:ln>
        </p:spPr>
      </p:pic>
    </p:spTree>
    <p:extLst>
      <p:ext uri="{BB962C8B-B14F-4D97-AF65-F5344CB8AC3E}">
        <p14:creationId xmlns:p14="http://schemas.microsoft.com/office/powerpoint/2010/main" val="38472616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 COUNT : EXAMPLE 4</a:t>
            </a:r>
            <a:endParaRPr/>
          </a:p>
        </p:txBody>
      </p:sp>
      <p:sp>
        <p:nvSpPr>
          <p:cNvPr id="261" name="Google Shape;261;p2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51</a:t>
            </a:fld>
            <a:endParaRPr/>
          </a:p>
        </p:txBody>
      </p:sp>
      <p:pic>
        <p:nvPicPr>
          <p:cNvPr id="262" name="Google Shape;262;p22"/>
          <p:cNvPicPr preferRelativeResize="0"/>
          <p:nvPr/>
        </p:nvPicPr>
        <p:blipFill rotWithShape="1">
          <a:blip r:embed="rId3">
            <a:alphaModFix/>
          </a:blip>
          <a:srcRect/>
          <a:stretch/>
        </p:blipFill>
        <p:spPr>
          <a:xfrm>
            <a:off x="2546578" y="2322170"/>
            <a:ext cx="7098844" cy="3241950"/>
          </a:xfrm>
          <a:prstGeom prst="rect">
            <a:avLst/>
          </a:prstGeom>
          <a:noFill/>
          <a:ln>
            <a:noFill/>
          </a:ln>
        </p:spPr>
      </p:pic>
      <p:pic>
        <p:nvPicPr>
          <p:cNvPr id="263" name="Google Shape;263;p22"/>
          <p:cNvPicPr preferRelativeResize="0"/>
          <p:nvPr/>
        </p:nvPicPr>
        <p:blipFill rotWithShape="1">
          <a:blip r:embed="rId4">
            <a:alphaModFix/>
          </a:blip>
          <a:srcRect/>
          <a:stretch/>
        </p:blipFill>
        <p:spPr>
          <a:xfrm>
            <a:off x="2231136" y="5067253"/>
            <a:ext cx="5944115" cy="993734"/>
          </a:xfrm>
          <a:prstGeom prst="rect">
            <a:avLst/>
          </a:prstGeom>
          <a:noFill/>
          <a:ln>
            <a:noFill/>
          </a:ln>
        </p:spPr>
      </p:pic>
    </p:spTree>
    <p:extLst>
      <p:ext uri="{BB962C8B-B14F-4D97-AF65-F5344CB8AC3E}">
        <p14:creationId xmlns:p14="http://schemas.microsoft.com/office/powerpoint/2010/main" val="12942262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3"/>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OBSERVATION WITH STEP COUNT</a:t>
            </a:r>
            <a:endParaRPr/>
          </a:p>
        </p:txBody>
      </p:sp>
      <p:sp>
        <p:nvSpPr>
          <p:cNvPr id="269" name="Google Shape;269;p23"/>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1800"/>
              <a:buChar char="•"/>
            </a:pPr>
            <a:r>
              <a:rPr lang="en-US"/>
              <a:t>In general, when F(n) = c</a:t>
            </a:r>
            <a:r>
              <a:rPr lang="en-US" baseline="-25000"/>
              <a:t>1</a:t>
            </a:r>
            <a:r>
              <a:rPr lang="en-US"/>
              <a:t>n</a:t>
            </a:r>
            <a:r>
              <a:rPr lang="en-US" baseline="30000"/>
              <a:t>2</a:t>
            </a:r>
            <a:r>
              <a:rPr lang="en-US"/>
              <a:t> + c</a:t>
            </a:r>
            <a:r>
              <a:rPr lang="en-US" baseline="-25000"/>
              <a:t>2</a:t>
            </a:r>
            <a:r>
              <a:rPr lang="en-US"/>
              <a:t>n + c</a:t>
            </a:r>
            <a:r>
              <a:rPr lang="en-US" baseline="-25000"/>
              <a:t>3,</a:t>
            </a:r>
            <a:endParaRPr/>
          </a:p>
          <a:p>
            <a:pPr marL="228600" lvl="0" indent="-228600" algn="l" rtl="0">
              <a:lnSpc>
                <a:spcPct val="90000"/>
              </a:lnSpc>
              <a:spcBef>
                <a:spcPts val="1000"/>
              </a:spcBef>
              <a:spcAft>
                <a:spcPts val="0"/>
              </a:spcAft>
              <a:buSzPts val="1800"/>
              <a:buChar char="•"/>
            </a:pPr>
            <a:r>
              <a:rPr lang="en-US"/>
              <a:t>c</a:t>
            </a:r>
            <a:r>
              <a:rPr lang="en-US" baseline="-25000"/>
              <a:t>1</a:t>
            </a:r>
            <a:r>
              <a:rPr lang="en-US"/>
              <a:t>n</a:t>
            </a:r>
            <a:r>
              <a:rPr lang="en-US" baseline="30000"/>
              <a:t>2 </a:t>
            </a:r>
            <a:r>
              <a:rPr lang="en-US"/>
              <a:t>is much larger than c</a:t>
            </a:r>
            <a:r>
              <a:rPr lang="en-US" baseline="-25000"/>
              <a:t>2</a:t>
            </a:r>
            <a:r>
              <a:rPr lang="en-US"/>
              <a:t>n + c</a:t>
            </a:r>
            <a:r>
              <a:rPr lang="en-US" baseline="-25000"/>
              <a:t>3.</a:t>
            </a:r>
            <a:endParaRPr/>
          </a:p>
          <a:p>
            <a:pPr marL="228600" lvl="0" indent="-228600" algn="l" rtl="0">
              <a:lnSpc>
                <a:spcPct val="90000"/>
              </a:lnSpc>
              <a:spcBef>
                <a:spcPts val="1000"/>
              </a:spcBef>
              <a:spcAft>
                <a:spcPts val="0"/>
              </a:spcAft>
              <a:buSzPts val="1800"/>
              <a:buChar char="•"/>
            </a:pPr>
            <a:r>
              <a:rPr lang="en-US"/>
              <a:t>Which denotes that </a:t>
            </a:r>
            <a:r>
              <a:rPr lang="en-US" b="1"/>
              <a:t>c</a:t>
            </a:r>
            <a:r>
              <a:rPr lang="en-US" b="1" baseline="-25000"/>
              <a:t>1</a:t>
            </a:r>
            <a:r>
              <a:rPr lang="en-US" b="1"/>
              <a:t>n</a:t>
            </a:r>
            <a:r>
              <a:rPr lang="en-US" b="1" baseline="30000"/>
              <a:t>2 </a:t>
            </a:r>
            <a:r>
              <a:rPr lang="en-US" b="1"/>
              <a:t> is the dominant term in the F(n</a:t>
            </a:r>
            <a:r>
              <a:rPr lang="en-US"/>
              <a:t>).</a:t>
            </a:r>
            <a:endParaRPr/>
          </a:p>
          <a:p>
            <a:pPr marL="228600" lvl="0" indent="-228600" algn="l" rtl="0">
              <a:lnSpc>
                <a:spcPct val="100000"/>
              </a:lnSpc>
              <a:spcBef>
                <a:spcPts val="1000"/>
              </a:spcBef>
              <a:spcAft>
                <a:spcPts val="0"/>
              </a:spcAft>
              <a:buSzPts val="1800"/>
              <a:buChar char="•"/>
            </a:pPr>
            <a:r>
              <a:rPr lang="en-US"/>
              <a:t>The </a:t>
            </a:r>
            <a:r>
              <a:rPr lang="en-US" b="1"/>
              <a:t>value of coefficient is irrelevant</a:t>
            </a:r>
            <a:r>
              <a:rPr lang="en-US"/>
              <a:t>. </a:t>
            </a:r>
            <a:endParaRPr/>
          </a:p>
          <a:p>
            <a:pPr marL="228600" lvl="0" indent="-228600" algn="l" rtl="0">
              <a:lnSpc>
                <a:spcPct val="100000"/>
              </a:lnSpc>
              <a:spcBef>
                <a:spcPts val="1000"/>
              </a:spcBef>
              <a:spcAft>
                <a:spcPts val="0"/>
              </a:spcAft>
              <a:buSzPts val="1800"/>
              <a:buChar char="•"/>
            </a:pPr>
            <a:r>
              <a:rPr lang="en-US"/>
              <a:t>Thus, to reflect how one function grows with the growth of another function, study of asymptotic notation is required.</a:t>
            </a:r>
            <a:endParaRPr/>
          </a:p>
        </p:txBody>
      </p:sp>
      <p:sp>
        <p:nvSpPr>
          <p:cNvPr id="270" name="Google Shape;270;p23"/>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52</a:t>
            </a:fld>
            <a:endParaRPr/>
          </a:p>
        </p:txBody>
      </p:sp>
    </p:spTree>
    <p:extLst>
      <p:ext uri="{BB962C8B-B14F-4D97-AF65-F5344CB8AC3E}">
        <p14:creationId xmlns:p14="http://schemas.microsoft.com/office/powerpoint/2010/main" val="14915959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GROWTH OF FUNCTIONS</a:t>
            </a:r>
            <a:endParaRPr/>
          </a:p>
        </p:txBody>
      </p:sp>
      <p:sp>
        <p:nvSpPr>
          <p:cNvPr id="276" name="Google Shape;276;p24"/>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100000"/>
              </a:lnSpc>
              <a:spcBef>
                <a:spcPts val="0"/>
              </a:spcBef>
              <a:spcAft>
                <a:spcPts val="0"/>
              </a:spcAft>
              <a:buSzPct val="100000"/>
              <a:buChar char="•"/>
            </a:pPr>
            <a:r>
              <a:rPr lang="en-US" sz="2400"/>
              <a:t>The growth of time and space complexity with  increasing input size n is a suitable measure for the comparison of algorithms.</a:t>
            </a:r>
            <a:endParaRPr/>
          </a:p>
          <a:p>
            <a:pPr marL="0" lvl="0" indent="0" algn="l" rtl="0">
              <a:lnSpc>
                <a:spcPct val="100000"/>
              </a:lnSpc>
              <a:spcBef>
                <a:spcPts val="0"/>
              </a:spcBef>
              <a:spcAft>
                <a:spcPts val="0"/>
              </a:spcAft>
              <a:buSzPct val="100000"/>
              <a:buNone/>
            </a:pPr>
            <a:r>
              <a:rPr lang="en-US" sz="2400"/>
              <a:t> </a:t>
            </a:r>
            <a:endParaRPr/>
          </a:p>
          <a:p>
            <a:pPr marL="228600" lvl="0" indent="-228600" algn="l" rtl="0">
              <a:lnSpc>
                <a:spcPct val="100000"/>
              </a:lnSpc>
              <a:spcBef>
                <a:spcPts val="0"/>
              </a:spcBef>
              <a:spcAft>
                <a:spcPts val="0"/>
              </a:spcAft>
              <a:buSzPct val="100000"/>
              <a:buChar char="•"/>
            </a:pPr>
            <a:r>
              <a:rPr lang="en-US" sz="2400"/>
              <a:t>The growth of functions is usually described using the </a:t>
            </a:r>
            <a:r>
              <a:rPr lang="en-US" sz="2400" b="1">
                <a:solidFill>
                  <a:srgbClr val="00B0F0"/>
                </a:solidFill>
              </a:rPr>
              <a:t>Asymptotic notations</a:t>
            </a:r>
            <a:endParaRPr sz="2400">
              <a:solidFill>
                <a:srgbClr val="00B0F0"/>
              </a:solidFill>
            </a:endParaRPr>
          </a:p>
          <a:p>
            <a:pPr marL="0" lvl="0" indent="0" algn="l" rtl="0">
              <a:lnSpc>
                <a:spcPct val="100000"/>
              </a:lnSpc>
              <a:spcBef>
                <a:spcPts val="0"/>
              </a:spcBef>
              <a:spcAft>
                <a:spcPts val="0"/>
              </a:spcAft>
              <a:buSzPct val="100000"/>
              <a:buNone/>
            </a:pPr>
            <a:endParaRPr sz="2400"/>
          </a:p>
          <a:p>
            <a:pPr marL="228600" lvl="0" indent="-228600" algn="l" rtl="0">
              <a:lnSpc>
                <a:spcPct val="100000"/>
              </a:lnSpc>
              <a:spcBef>
                <a:spcPts val="0"/>
              </a:spcBef>
              <a:spcAft>
                <a:spcPts val="0"/>
              </a:spcAft>
              <a:buSzPct val="100000"/>
              <a:buChar char="•"/>
            </a:pPr>
            <a:r>
              <a:rPr lang="en-US" sz="2400"/>
              <a:t>Three most important asymptotic notations are as follows:</a:t>
            </a:r>
            <a:endParaRPr/>
          </a:p>
          <a:p>
            <a:pPr marL="457200" lvl="1" indent="-342900" algn="l" rtl="0">
              <a:lnSpc>
                <a:spcPct val="100000"/>
              </a:lnSpc>
              <a:spcBef>
                <a:spcPts val="0"/>
              </a:spcBef>
              <a:spcAft>
                <a:spcPts val="0"/>
              </a:spcAft>
              <a:buSzPct val="100000"/>
              <a:buChar char="•"/>
            </a:pPr>
            <a:r>
              <a:rPr lang="en-US" sz="2000"/>
              <a:t>Big – O notation</a:t>
            </a:r>
            <a:endParaRPr/>
          </a:p>
          <a:p>
            <a:pPr marL="457200" lvl="1" indent="-342900" algn="l" rtl="0">
              <a:lnSpc>
                <a:spcPct val="100000"/>
              </a:lnSpc>
              <a:spcBef>
                <a:spcPts val="0"/>
              </a:spcBef>
              <a:spcAft>
                <a:spcPts val="0"/>
              </a:spcAft>
              <a:buSzPct val="100000"/>
              <a:buChar char="•"/>
            </a:pPr>
            <a:r>
              <a:rPr lang="en-US" sz="2000"/>
              <a:t>Omega notation</a:t>
            </a:r>
            <a:endParaRPr/>
          </a:p>
          <a:p>
            <a:pPr marL="457200" lvl="1" indent="-342900" algn="l" rtl="0">
              <a:lnSpc>
                <a:spcPct val="100000"/>
              </a:lnSpc>
              <a:spcBef>
                <a:spcPts val="0"/>
              </a:spcBef>
              <a:spcAft>
                <a:spcPts val="0"/>
              </a:spcAft>
              <a:buSzPct val="100000"/>
              <a:buChar char="•"/>
            </a:pPr>
            <a:r>
              <a:rPr lang="en-US" sz="2000"/>
              <a:t>Theta notation</a:t>
            </a:r>
            <a:endParaRPr/>
          </a:p>
          <a:p>
            <a:pPr marL="228600" lvl="0" indent="-131445" algn="l" rtl="0">
              <a:lnSpc>
                <a:spcPct val="100000"/>
              </a:lnSpc>
              <a:spcBef>
                <a:spcPts val="1000"/>
              </a:spcBef>
              <a:spcAft>
                <a:spcPts val="0"/>
              </a:spcAft>
              <a:buSzPct val="100000"/>
              <a:buNone/>
            </a:pPr>
            <a:endParaRPr/>
          </a:p>
        </p:txBody>
      </p:sp>
      <p:sp>
        <p:nvSpPr>
          <p:cNvPr id="277" name="Google Shape;277;p2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53</a:t>
            </a:fld>
            <a:endParaRPr/>
          </a:p>
        </p:txBody>
      </p:sp>
    </p:spTree>
    <p:extLst>
      <p:ext uri="{BB962C8B-B14F-4D97-AF65-F5344CB8AC3E}">
        <p14:creationId xmlns:p14="http://schemas.microsoft.com/office/powerpoint/2010/main" val="3812998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O NOTATION</a:t>
            </a:r>
            <a:endParaRPr/>
          </a:p>
        </p:txBody>
      </p:sp>
      <p:sp>
        <p:nvSpPr>
          <p:cNvPr id="283" name="Google Shape;283;p2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b="1">
                <a:solidFill>
                  <a:srgbClr val="0070C0"/>
                </a:solidFill>
              </a:rPr>
              <a:t>Definition:</a:t>
            </a:r>
            <a:r>
              <a:rPr lang="en-US">
                <a:solidFill>
                  <a:srgbClr val="0070C0"/>
                </a:solidFill>
              </a:rPr>
              <a:t> </a:t>
            </a:r>
            <a:r>
              <a:rPr lang="en-US"/>
              <a:t>Let f and g be functions from the integers or the real numbers to the real numbers. We say that f(n) is O(g(n)), if there are exist constants C and  n</a:t>
            </a:r>
            <a:r>
              <a:rPr lang="en-US" baseline="-25000"/>
              <a:t>0</a:t>
            </a:r>
            <a:r>
              <a:rPr lang="en-US"/>
              <a:t> such that,</a:t>
            </a:r>
            <a:endParaRPr/>
          </a:p>
          <a:p>
            <a:pPr marL="228600" lvl="0" indent="-158750" algn="l" rtl="0">
              <a:lnSpc>
                <a:spcPct val="100000"/>
              </a:lnSpc>
              <a:spcBef>
                <a:spcPts val="0"/>
              </a:spcBef>
              <a:spcAft>
                <a:spcPts val="0"/>
              </a:spcAft>
              <a:buSzPts val="1100"/>
              <a:buNone/>
            </a:pPr>
            <a:endParaRPr sz="1100"/>
          </a:p>
          <a:p>
            <a:pPr marL="0" lvl="0" indent="0" algn="l" rtl="0">
              <a:lnSpc>
                <a:spcPct val="100000"/>
              </a:lnSpc>
              <a:spcBef>
                <a:spcPts val="0"/>
              </a:spcBef>
              <a:spcAft>
                <a:spcPts val="0"/>
              </a:spcAft>
              <a:buSzPts val="1800"/>
              <a:buNone/>
            </a:pPr>
            <a:r>
              <a:rPr lang="en-US"/>
              <a:t>		f(n) ≤ C g(n)</a:t>
            </a:r>
            <a:endParaRPr/>
          </a:p>
          <a:p>
            <a:pPr marL="228600" lvl="0" indent="-158750" algn="l" rtl="0">
              <a:lnSpc>
                <a:spcPct val="100000"/>
              </a:lnSpc>
              <a:spcBef>
                <a:spcPts val="0"/>
              </a:spcBef>
              <a:spcAft>
                <a:spcPts val="0"/>
              </a:spcAft>
              <a:buSzPts val="1100"/>
              <a:buNone/>
            </a:pPr>
            <a:endParaRPr sz="1100"/>
          </a:p>
          <a:p>
            <a:pPr marL="228600" lvl="0" indent="-228600" algn="l" rtl="0">
              <a:lnSpc>
                <a:spcPct val="100000"/>
              </a:lnSpc>
              <a:spcBef>
                <a:spcPts val="0"/>
              </a:spcBef>
              <a:spcAft>
                <a:spcPts val="0"/>
              </a:spcAft>
              <a:buSzPts val="1800"/>
              <a:buChar char="•"/>
            </a:pPr>
            <a:r>
              <a:rPr lang="en-US"/>
              <a:t>whenever n &gt;= n</a:t>
            </a:r>
            <a:r>
              <a:rPr lang="en-US" baseline="-25000"/>
              <a:t>0</a:t>
            </a:r>
            <a:r>
              <a:rPr lang="en-US"/>
              <a:t> .</a:t>
            </a:r>
            <a:endParaRPr/>
          </a:p>
          <a:p>
            <a:pPr marL="228600" lvl="0" indent="-114300" algn="l" rtl="0">
              <a:lnSpc>
                <a:spcPct val="100000"/>
              </a:lnSpc>
              <a:spcBef>
                <a:spcPts val="1000"/>
              </a:spcBef>
              <a:spcAft>
                <a:spcPts val="0"/>
              </a:spcAft>
              <a:buSzPts val="1800"/>
              <a:buNone/>
            </a:pPr>
            <a:endParaRPr/>
          </a:p>
        </p:txBody>
      </p:sp>
      <p:sp>
        <p:nvSpPr>
          <p:cNvPr id="284" name="Google Shape;284;p2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54</a:t>
            </a:fld>
            <a:endParaRPr/>
          </a:p>
        </p:txBody>
      </p:sp>
    </p:spTree>
    <p:extLst>
      <p:ext uri="{BB962C8B-B14F-4D97-AF65-F5344CB8AC3E}">
        <p14:creationId xmlns:p14="http://schemas.microsoft.com/office/powerpoint/2010/main" val="12898218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O NOTATION</a:t>
            </a:r>
            <a:endParaRPr/>
          </a:p>
        </p:txBody>
      </p:sp>
      <p:sp>
        <p:nvSpPr>
          <p:cNvPr id="290" name="Google Shape;290;p26"/>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00000"/>
              </a:lnSpc>
              <a:spcBef>
                <a:spcPts val="0"/>
              </a:spcBef>
              <a:spcAft>
                <a:spcPts val="0"/>
              </a:spcAft>
              <a:buSzPct val="100000"/>
              <a:buChar char="•"/>
            </a:pPr>
            <a:r>
              <a:rPr lang="en-US" sz="1600"/>
              <a:t>Graphically, it can be represented as given in figure.</a:t>
            </a:r>
            <a:endParaRPr/>
          </a:p>
          <a:p>
            <a:pPr marL="228600" lvl="0" indent="-228600" algn="l" rtl="0">
              <a:lnSpc>
                <a:spcPct val="100000"/>
              </a:lnSpc>
              <a:spcBef>
                <a:spcPts val="0"/>
              </a:spcBef>
              <a:spcAft>
                <a:spcPts val="0"/>
              </a:spcAft>
              <a:buSzPct val="100000"/>
              <a:buChar char="•"/>
            </a:pPr>
            <a:r>
              <a:rPr lang="en-US" sz="1600"/>
              <a:t>The idea behind the big-O notation is to establish an </a:t>
            </a:r>
            <a:r>
              <a:rPr lang="en-US" sz="1600" b="1">
                <a:solidFill>
                  <a:srgbClr val="0070C0"/>
                </a:solidFill>
              </a:rPr>
              <a:t>upper boundary</a:t>
            </a:r>
            <a:r>
              <a:rPr lang="en-US" sz="1600"/>
              <a:t> for the growth of a function f(n) for large n.</a:t>
            </a:r>
            <a:endParaRPr/>
          </a:p>
          <a:p>
            <a:pPr marL="228600" lvl="0" indent="-205105" algn="l" rtl="0">
              <a:lnSpc>
                <a:spcPct val="100000"/>
              </a:lnSpc>
              <a:spcBef>
                <a:spcPts val="0"/>
              </a:spcBef>
              <a:spcAft>
                <a:spcPts val="0"/>
              </a:spcAft>
              <a:buSzPct val="100000"/>
              <a:buNone/>
            </a:pPr>
            <a:endParaRPr sz="400"/>
          </a:p>
          <a:p>
            <a:pPr marL="228600" lvl="0" indent="-205105" algn="l" rtl="0">
              <a:lnSpc>
                <a:spcPct val="100000"/>
              </a:lnSpc>
              <a:spcBef>
                <a:spcPts val="0"/>
              </a:spcBef>
              <a:spcAft>
                <a:spcPts val="0"/>
              </a:spcAft>
              <a:buSzPct val="100000"/>
              <a:buNone/>
            </a:pPr>
            <a:endParaRPr sz="400"/>
          </a:p>
          <a:p>
            <a:pPr marL="228600" lvl="0" indent="-228600" algn="l" rtl="0">
              <a:lnSpc>
                <a:spcPct val="100000"/>
              </a:lnSpc>
              <a:spcBef>
                <a:spcPts val="0"/>
              </a:spcBef>
              <a:spcAft>
                <a:spcPts val="0"/>
              </a:spcAft>
              <a:buSzPct val="100000"/>
              <a:buChar char="•"/>
            </a:pPr>
            <a:r>
              <a:rPr lang="en-US" sz="1600"/>
              <a:t>We accept the constant C in the requirement</a:t>
            </a:r>
            <a:endParaRPr/>
          </a:p>
          <a:p>
            <a:pPr marL="228600" lvl="0" indent="-205105" algn="l" rtl="0">
              <a:lnSpc>
                <a:spcPct val="100000"/>
              </a:lnSpc>
              <a:spcBef>
                <a:spcPts val="0"/>
              </a:spcBef>
              <a:spcAft>
                <a:spcPts val="0"/>
              </a:spcAft>
              <a:buSzPct val="100000"/>
              <a:buNone/>
            </a:pPr>
            <a:endParaRPr sz="400"/>
          </a:p>
          <a:p>
            <a:pPr marL="0" lvl="0" indent="0" algn="l" rtl="0">
              <a:lnSpc>
                <a:spcPct val="100000"/>
              </a:lnSpc>
              <a:spcBef>
                <a:spcPts val="0"/>
              </a:spcBef>
              <a:spcAft>
                <a:spcPts val="0"/>
              </a:spcAft>
              <a:buSzPct val="100000"/>
              <a:buNone/>
            </a:pPr>
            <a:r>
              <a:rPr lang="en-US" sz="1600"/>
              <a:t>      f(n) ≤ Cg(n)  whenever n ≥n</a:t>
            </a:r>
            <a:r>
              <a:rPr lang="en-US" sz="1600" baseline="-25000"/>
              <a:t>0</a:t>
            </a:r>
            <a:r>
              <a:rPr lang="en-US" sz="1600"/>
              <a:t>,</a:t>
            </a:r>
            <a:endParaRPr/>
          </a:p>
          <a:p>
            <a:pPr marL="228600" lvl="0" indent="-205105" algn="l" rtl="0">
              <a:lnSpc>
                <a:spcPct val="100000"/>
              </a:lnSpc>
              <a:spcBef>
                <a:spcPts val="0"/>
              </a:spcBef>
              <a:spcAft>
                <a:spcPts val="0"/>
              </a:spcAft>
              <a:buSzPct val="100000"/>
              <a:buNone/>
            </a:pPr>
            <a:endParaRPr sz="400"/>
          </a:p>
          <a:p>
            <a:pPr marL="0" lvl="0" indent="0" algn="l" rtl="0">
              <a:lnSpc>
                <a:spcPct val="100000"/>
              </a:lnSpc>
              <a:spcBef>
                <a:spcPts val="0"/>
              </a:spcBef>
              <a:spcAft>
                <a:spcPts val="0"/>
              </a:spcAft>
              <a:buSzPct val="100000"/>
              <a:buNone/>
            </a:pPr>
            <a:r>
              <a:rPr lang="en-US" sz="1600"/>
              <a:t>      because </a:t>
            </a:r>
            <a:r>
              <a:rPr lang="en-US" sz="1600" b="1">
                <a:solidFill>
                  <a:srgbClr val="0070C0"/>
                </a:solidFill>
              </a:rPr>
              <a:t>C does not grow with x</a:t>
            </a:r>
            <a:endParaRPr sz="1600" b="1">
              <a:solidFill>
                <a:srgbClr val="00FFFF"/>
              </a:solidFill>
            </a:endParaRPr>
          </a:p>
          <a:p>
            <a:pPr marL="228600" lvl="0" indent="-205105" algn="l" rtl="0">
              <a:lnSpc>
                <a:spcPct val="100000"/>
              </a:lnSpc>
              <a:spcBef>
                <a:spcPts val="0"/>
              </a:spcBef>
              <a:spcAft>
                <a:spcPts val="0"/>
              </a:spcAft>
              <a:buSzPct val="100000"/>
              <a:buNone/>
            </a:pPr>
            <a:endParaRPr sz="400" b="1">
              <a:solidFill>
                <a:srgbClr val="00FFFF"/>
              </a:solidFill>
            </a:endParaRPr>
          </a:p>
          <a:p>
            <a:pPr marL="228600" lvl="0" indent="-228600" algn="l" rtl="0">
              <a:lnSpc>
                <a:spcPct val="100000"/>
              </a:lnSpc>
              <a:spcBef>
                <a:spcPts val="0"/>
              </a:spcBef>
              <a:spcAft>
                <a:spcPts val="0"/>
              </a:spcAft>
              <a:buSzPct val="100000"/>
              <a:buChar char="•"/>
            </a:pPr>
            <a:r>
              <a:rPr lang="en-US" sz="1600"/>
              <a:t>We are only interested in large n, so it is OK if</a:t>
            </a:r>
            <a:br>
              <a:rPr lang="en-US" sz="1600"/>
            </a:br>
            <a:r>
              <a:rPr lang="en-US" sz="1600"/>
              <a:t>     f(n) &gt; Cg(n)  for n ≥ n</a:t>
            </a:r>
            <a:r>
              <a:rPr lang="en-US" sz="1600" baseline="-25000"/>
              <a:t>0</a:t>
            </a:r>
            <a:r>
              <a:rPr lang="en-US" sz="1600"/>
              <a:t>.</a:t>
            </a:r>
            <a:endParaRPr/>
          </a:p>
          <a:p>
            <a:pPr marL="228600" lvl="0" indent="-134620" algn="l" rtl="0">
              <a:lnSpc>
                <a:spcPct val="100000"/>
              </a:lnSpc>
              <a:spcBef>
                <a:spcPts val="1000"/>
              </a:spcBef>
              <a:spcAft>
                <a:spcPts val="0"/>
              </a:spcAft>
              <a:buSzPct val="100000"/>
              <a:buNone/>
            </a:pPr>
            <a:endParaRPr sz="1600"/>
          </a:p>
          <a:p>
            <a:pPr marL="228600" lvl="0" indent="-134620" algn="l" rtl="0">
              <a:lnSpc>
                <a:spcPct val="100000"/>
              </a:lnSpc>
              <a:spcBef>
                <a:spcPts val="1000"/>
              </a:spcBef>
              <a:spcAft>
                <a:spcPts val="0"/>
              </a:spcAft>
              <a:buSzPct val="100000"/>
              <a:buNone/>
            </a:pPr>
            <a:endParaRPr sz="1600"/>
          </a:p>
          <a:p>
            <a:pPr marL="228600" lvl="0" indent="-134620" algn="l" rtl="0">
              <a:lnSpc>
                <a:spcPct val="100000"/>
              </a:lnSpc>
              <a:spcBef>
                <a:spcPts val="1000"/>
              </a:spcBef>
              <a:spcAft>
                <a:spcPts val="0"/>
              </a:spcAft>
              <a:buSzPct val="100000"/>
              <a:buNone/>
            </a:pPr>
            <a:endParaRPr sz="1600"/>
          </a:p>
        </p:txBody>
      </p:sp>
      <p:sp>
        <p:nvSpPr>
          <p:cNvPr id="291" name="Google Shape;291;p2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55</a:t>
            </a:fld>
            <a:endParaRPr/>
          </a:p>
        </p:txBody>
      </p:sp>
      <p:pic>
        <p:nvPicPr>
          <p:cNvPr id="292" name="Google Shape;292;p26" descr="graph_O"/>
          <p:cNvPicPr preferRelativeResize="0">
            <a:picLocks noGrp="1"/>
          </p:cNvPicPr>
          <p:nvPr>
            <p:ph type="body" idx="2"/>
          </p:nvPr>
        </p:nvPicPr>
        <p:blipFill rotWithShape="1">
          <a:blip r:embed="rId3">
            <a:alphaModFix/>
          </a:blip>
          <a:srcRect/>
          <a:stretch/>
        </p:blipFill>
        <p:spPr>
          <a:xfrm>
            <a:off x="6931166" y="2638425"/>
            <a:ext cx="3085818" cy="3101975"/>
          </a:xfrm>
          <a:prstGeom prst="rect">
            <a:avLst/>
          </a:prstGeom>
          <a:noFill/>
          <a:ln>
            <a:noFill/>
          </a:ln>
        </p:spPr>
      </p:pic>
    </p:spTree>
    <p:extLst>
      <p:ext uri="{BB962C8B-B14F-4D97-AF65-F5344CB8AC3E}">
        <p14:creationId xmlns:p14="http://schemas.microsoft.com/office/powerpoint/2010/main" val="3060318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O EXAMPLES</a:t>
            </a:r>
            <a:endParaRPr/>
          </a:p>
        </p:txBody>
      </p:sp>
      <p:sp>
        <p:nvSpPr>
          <p:cNvPr id="298" name="Google Shape;298;p27"/>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100000"/>
              </a:lnSpc>
              <a:spcBef>
                <a:spcPts val="0"/>
              </a:spcBef>
              <a:spcAft>
                <a:spcPts val="0"/>
              </a:spcAft>
              <a:buSzPct val="100000"/>
              <a:buChar char="•"/>
            </a:pPr>
            <a:r>
              <a:rPr lang="en-US" sz="2400"/>
              <a:t>Prove that f(n) = 3n + 5 is O(n).</a:t>
            </a:r>
            <a:endParaRPr/>
          </a:p>
          <a:p>
            <a:pPr marL="0" lvl="0" indent="0" algn="l" rtl="0">
              <a:lnSpc>
                <a:spcPct val="100000"/>
              </a:lnSpc>
              <a:spcBef>
                <a:spcPts val="0"/>
              </a:spcBef>
              <a:spcAft>
                <a:spcPts val="0"/>
              </a:spcAft>
              <a:buSzPct val="100000"/>
              <a:buNone/>
            </a:pPr>
            <a:r>
              <a:rPr lang="en-US"/>
              <a:t>	</a:t>
            </a:r>
            <a:endParaRPr/>
          </a:p>
          <a:p>
            <a:pPr marL="0" lvl="0" indent="0" algn="l" rtl="0">
              <a:lnSpc>
                <a:spcPct val="100000"/>
              </a:lnSpc>
              <a:spcBef>
                <a:spcPts val="0"/>
              </a:spcBef>
              <a:spcAft>
                <a:spcPts val="0"/>
              </a:spcAft>
              <a:buSzPct val="100000"/>
              <a:buNone/>
            </a:pPr>
            <a:r>
              <a:rPr lang="en-US"/>
              <a:t>		</a:t>
            </a:r>
            <a:r>
              <a:rPr lang="en-US" sz="2400"/>
              <a:t>f(n) = 3n + 5</a:t>
            </a:r>
            <a:endParaRPr/>
          </a:p>
          <a:p>
            <a:pPr marL="0" lvl="0" indent="0" algn="l" rtl="0">
              <a:lnSpc>
                <a:spcPct val="100000"/>
              </a:lnSpc>
              <a:spcBef>
                <a:spcPts val="0"/>
              </a:spcBef>
              <a:spcAft>
                <a:spcPts val="0"/>
              </a:spcAft>
              <a:buSzPct val="100000"/>
              <a:buNone/>
            </a:pPr>
            <a:r>
              <a:rPr lang="en-US" sz="2400"/>
              <a:t>		       ≤ 3n + n , where n ≥ 5</a:t>
            </a:r>
            <a:endParaRPr/>
          </a:p>
          <a:p>
            <a:pPr marL="0" lvl="0" indent="0" algn="l" rtl="0">
              <a:lnSpc>
                <a:spcPct val="100000"/>
              </a:lnSpc>
              <a:spcBef>
                <a:spcPts val="0"/>
              </a:spcBef>
              <a:spcAft>
                <a:spcPts val="0"/>
              </a:spcAft>
              <a:buSzPct val="100000"/>
              <a:buNone/>
            </a:pPr>
            <a:r>
              <a:rPr lang="en-US" sz="2400"/>
              <a:t>		       ≤ 4n</a:t>
            </a:r>
            <a:endParaRPr/>
          </a:p>
          <a:p>
            <a:pPr marL="0" lvl="0" indent="0" algn="l" rtl="0">
              <a:lnSpc>
                <a:spcPct val="100000"/>
              </a:lnSpc>
              <a:spcBef>
                <a:spcPts val="0"/>
              </a:spcBef>
              <a:spcAft>
                <a:spcPts val="0"/>
              </a:spcAft>
              <a:buSzPct val="100000"/>
              <a:buNone/>
            </a:pPr>
            <a:r>
              <a:rPr lang="en-US" sz="2400"/>
              <a:t>		       ≤ C g(n) , where C=4 &amp; n</a:t>
            </a:r>
            <a:r>
              <a:rPr lang="en-US" sz="2400" baseline="-25000"/>
              <a:t>0</a:t>
            </a:r>
            <a:r>
              <a:rPr lang="en-US" sz="2400"/>
              <a:t>=5	</a:t>
            </a:r>
            <a:r>
              <a:rPr lang="en-US" sz="2000"/>
              <a:t> </a:t>
            </a:r>
            <a:endParaRPr/>
          </a:p>
          <a:p>
            <a:pPr marL="0" lvl="0" indent="0" algn="l" rtl="0">
              <a:lnSpc>
                <a:spcPct val="100000"/>
              </a:lnSpc>
              <a:spcBef>
                <a:spcPts val="0"/>
              </a:spcBef>
              <a:spcAft>
                <a:spcPts val="0"/>
              </a:spcAft>
              <a:buSzPct val="100000"/>
              <a:buNone/>
            </a:pPr>
            <a:endParaRPr/>
          </a:p>
          <a:p>
            <a:pPr marL="228600" lvl="0" indent="-228600" algn="l" rtl="0">
              <a:lnSpc>
                <a:spcPct val="100000"/>
              </a:lnSpc>
              <a:spcBef>
                <a:spcPts val="0"/>
              </a:spcBef>
              <a:spcAft>
                <a:spcPts val="0"/>
              </a:spcAft>
              <a:buSzPct val="100000"/>
              <a:buChar char="•"/>
            </a:pPr>
            <a:r>
              <a:rPr lang="en-US" sz="2200"/>
              <a:t>Hence, f(n) = 3n + 5 is O(n) is proved.	</a:t>
            </a:r>
            <a:endParaRPr/>
          </a:p>
          <a:p>
            <a:pPr marL="228600" lvl="0" indent="-228600" algn="l" rtl="0">
              <a:lnSpc>
                <a:spcPct val="100000"/>
              </a:lnSpc>
              <a:spcBef>
                <a:spcPts val="0"/>
              </a:spcBef>
              <a:spcAft>
                <a:spcPts val="0"/>
              </a:spcAft>
              <a:buSzPct val="100000"/>
              <a:buChar char="•"/>
            </a:pPr>
            <a:r>
              <a:rPr lang="en-US" sz="2200"/>
              <a:t>Similarly, Prove for the followings:</a:t>
            </a:r>
            <a:endParaRPr/>
          </a:p>
          <a:p>
            <a:pPr marL="457200" lvl="1" indent="-228600" algn="l" rtl="0">
              <a:lnSpc>
                <a:spcPct val="100000"/>
              </a:lnSpc>
              <a:spcBef>
                <a:spcPts val="0"/>
              </a:spcBef>
              <a:spcAft>
                <a:spcPts val="0"/>
              </a:spcAft>
              <a:buSzPct val="100000"/>
              <a:buChar char="•"/>
            </a:pPr>
            <a:r>
              <a:rPr lang="en-US" sz="2000"/>
              <a:t>f(n) = 27n</a:t>
            </a:r>
            <a:r>
              <a:rPr lang="en-US" sz="2000" baseline="30000"/>
              <a:t>2</a:t>
            </a:r>
            <a:r>
              <a:rPr lang="en-US" sz="2000"/>
              <a:t> + 16n is O(n</a:t>
            </a:r>
            <a:r>
              <a:rPr lang="en-US" sz="2000" baseline="30000"/>
              <a:t>2</a:t>
            </a:r>
            <a:r>
              <a:rPr lang="en-US" sz="2000"/>
              <a:t>).</a:t>
            </a:r>
            <a:endParaRPr/>
          </a:p>
          <a:p>
            <a:pPr marL="457200" lvl="1" indent="-228600" algn="l" rtl="0">
              <a:lnSpc>
                <a:spcPct val="100000"/>
              </a:lnSpc>
              <a:spcBef>
                <a:spcPts val="0"/>
              </a:spcBef>
              <a:spcAft>
                <a:spcPts val="0"/>
              </a:spcAft>
              <a:buSzPct val="100000"/>
              <a:buChar char="•"/>
            </a:pPr>
            <a:r>
              <a:rPr lang="en-US" sz="2000"/>
              <a:t>f(n) = 2n</a:t>
            </a:r>
            <a:r>
              <a:rPr lang="en-US" sz="2000" baseline="30000"/>
              <a:t>3</a:t>
            </a:r>
            <a:r>
              <a:rPr lang="en-US" sz="2000"/>
              <a:t> + n</a:t>
            </a:r>
            <a:r>
              <a:rPr lang="en-US" sz="2000" baseline="30000"/>
              <a:t>2 </a:t>
            </a:r>
            <a:r>
              <a:rPr lang="en-US" sz="2000"/>
              <a:t>+ 2n is O(n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4n</a:t>
            </a:r>
            <a:r>
              <a:rPr lang="en-US" sz="2000" baseline="30000"/>
              <a:t>3</a:t>
            </a:r>
            <a:r>
              <a:rPr lang="en-US" sz="2000"/>
              <a:t> + 2n + 3 is O(n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2</a:t>
            </a:r>
            <a:r>
              <a:rPr lang="en-US" sz="2000" baseline="30000"/>
              <a:t>n</a:t>
            </a:r>
            <a:r>
              <a:rPr lang="en-US" sz="2000"/>
              <a:t> + 6n</a:t>
            </a:r>
            <a:r>
              <a:rPr lang="en-US" sz="2000" baseline="30000"/>
              <a:t>2 </a:t>
            </a:r>
            <a:r>
              <a:rPr lang="en-US" sz="2000"/>
              <a:t>+ 3n is O(2</a:t>
            </a:r>
            <a:r>
              <a:rPr lang="en-US" sz="2000" baseline="30000"/>
              <a:t>n</a:t>
            </a:r>
            <a:r>
              <a:rPr lang="en-US" sz="2000"/>
              <a:t>).</a:t>
            </a:r>
            <a:endParaRPr/>
          </a:p>
        </p:txBody>
      </p:sp>
      <p:sp>
        <p:nvSpPr>
          <p:cNvPr id="299" name="Google Shape;299;p2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56</a:t>
            </a:fld>
            <a:endParaRPr/>
          </a:p>
        </p:txBody>
      </p:sp>
    </p:spTree>
    <p:extLst>
      <p:ext uri="{BB962C8B-B14F-4D97-AF65-F5344CB8AC3E}">
        <p14:creationId xmlns:p14="http://schemas.microsoft.com/office/powerpoint/2010/main" val="19243851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O EXAMPLES – </a:t>
            </a:r>
            <a:br>
              <a:rPr lang="en-US"/>
            </a:br>
            <a:r>
              <a:rPr lang="en-US"/>
              <a:t>INCORRECT BOUND</a:t>
            </a:r>
            <a:endParaRPr/>
          </a:p>
        </p:txBody>
      </p:sp>
      <p:sp>
        <p:nvSpPr>
          <p:cNvPr id="305" name="Google Shape;305;p28"/>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100000"/>
              </a:lnSpc>
              <a:spcBef>
                <a:spcPts val="0"/>
              </a:spcBef>
              <a:spcAft>
                <a:spcPts val="0"/>
              </a:spcAft>
              <a:buSzPct val="100000"/>
              <a:buChar char="•"/>
            </a:pPr>
            <a:r>
              <a:rPr lang="en-US" sz="2400"/>
              <a:t>Prove that f(n) = 7n + 5 ≠ O(1).</a:t>
            </a:r>
            <a:endParaRPr/>
          </a:p>
          <a:p>
            <a:pPr marL="228600" lvl="0" indent="-99060" algn="l" rtl="0">
              <a:lnSpc>
                <a:spcPct val="100000"/>
              </a:lnSpc>
              <a:spcBef>
                <a:spcPts val="0"/>
              </a:spcBef>
              <a:spcAft>
                <a:spcPts val="0"/>
              </a:spcAft>
              <a:buSzPct val="100000"/>
              <a:buNone/>
            </a:pPr>
            <a:endParaRPr sz="2400"/>
          </a:p>
          <a:p>
            <a:pPr marL="228600" lvl="0" indent="-228600" algn="l" rtl="0">
              <a:lnSpc>
                <a:spcPct val="100000"/>
              </a:lnSpc>
              <a:spcBef>
                <a:spcPts val="0"/>
              </a:spcBef>
              <a:spcAft>
                <a:spcPts val="0"/>
              </a:spcAft>
              <a:buSzPct val="100000"/>
              <a:buChar char="•"/>
            </a:pPr>
            <a:r>
              <a:rPr lang="en-US" sz="2200"/>
              <a:t>Proof by contradiction:</a:t>
            </a:r>
            <a:endParaRPr/>
          </a:p>
          <a:p>
            <a:pPr marL="228600" lvl="0" indent="-228600" algn="l" rtl="0">
              <a:lnSpc>
                <a:spcPct val="100000"/>
              </a:lnSpc>
              <a:spcBef>
                <a:spcPts val="0"/>
              </a:spcBef>
              <a:spcAft>
                <a:spcPts val="0"/>
              </a:spcAft>
              <a:buSzPct val="100000"/>
              <a:buChar char="•"/>
            </a:pPr>
            <a:r>
              <a:rPr lang="en-US" sz="2200"/>
              <a:t>Assume that 7n + 5 = O(1). So, we must have</a:t>
            </a:r>
            <a:endParaRPr/>
          </a:p>
          <a:p>
            <a:pPr marL="0" lvl="0" indent="0" algn="l" rtl="0">
              <a:lnSpc>
                <a:spcPct val="100000"/>
              </a:lnSpc>
              <a:spcBef>
                <a:spcPts val="0"/>
              </a:spcBef>
              <a:spcAft>
                <a:spcPts val="0"/>
              </a:spcAft>
              <a:buSzPct val="100000"/>
              <a:buNone/>
            </a:pPr>
            <a:r>
              <a:rPr lang="en-US" sz="2200"/>
              <a:t>	  7n + 5  ≤  C.1 for n  ≥ n0.</a:t>
            </a:r>
            <a:endParaRPr/>
          </a:p>
          <a:p>
            <a:pPr marL="0" lvl="0" indent="0" algn="l" rtl="0">
              <a:lnSpc>
                <a:spcPct val="100000"/>
              </a:lnSpc>
              <a:spcBef>
                <a:spcPts val="0"/>
              </a:spcBef>
              <a:spcAft>
                <a:spcPts val="0"/>
              </a:spcAft>
              <a:buSzPct val="100000"/>
              <a:buNone/>
            </a:pPr>
            <a:r>
              <a:rPr lang="en-US" sz="2200"/>
              <a:t>	  above statement is not true for large values of n </a:t>
            </a:r>
            <a:endParaRPr/>
          </a:p>
          <a:p>
            <a:pPr marL="228600" lvl="0" indent="-228600" algn="l" rtl="0">
              <a:lnSpc>
                <a:spcPct val="100000"/>
              </a:lnSpc>
              <a:spcBef>
                <a:spcPts val="0"/>
              </a:spcBef>
              <a:spcAft>
                <a:spcPts val="0"/>
              </a:spcAft>
              <a:buSzPct val="100000"/>
              <a:buChar char="•"/>
            </a:pPr>
            <a:r>
              <a:rPr lang="en-US" sz="2200"/>
              <a:t>Hence, our assumption is false.</a:t>
            </a:r>
            <a:endParaRPr/>
          </a:p>
          <a:p>
            <a:pPr marL="228600" lvl="0" indent="-228600" algn="l" rtl="0">
              <a:lnSpc>
                <a:spcPct val="100000"/>
              </a:lnSpc>
              <a:spcBef>
                <a:spcPts val="0"/>
              </a:spcBef>
              <a:spcAft>
                <a:spcPts val="0"/>
              </a:spcAft>
              <a:buSzPct val="100000"/>
              <a:buChar char="•"/>
            </a:pPr>
            <a:r>
              <a:rPr lang="en-US" sz="2200"/>
              <a:t>Hence, f(n) = 3n + 5 is O(n) is proved.	</a:t>
            </a:r>
            <a:endParaRPr/>
          </a:p>
          <a:p>
            <a:pPr marL="0" lvl="0" indent="0" algn="l" rtl="0">
              <a:lnSpc>
                <a:spcPct val="100000"/>
              </a:lnSpc>
              <a:spcBef>
                <a:spcPts val="0"/>
              </a:spcBef>
              <a:spcAft>
                <a:spcPts val="0"/>
              </a:spcAft>
              <a:buSzPct val="100000"/>
              <a:buNone/>
            </a:pPr>
            <a:endParaRPr sz="2200"/>
          </a:p>
          <a:p>
            <a:pPr marL="228600" lvl="0" indent="-228600" algn="l" rtl="0">
              <a:lnSpc>
                <a:spcPct val="100000"/>
              </a:lnSpc>
              <a:spcBef>
                <a:spcPts val="0"/>
              </a:spcBef>
              <a:spcAft>
                <a:spcPts val="0"/>
              </a:spcAft>
              <a:buSzPct val="100000"/>
              <a:buChar char="•"/>
            </a:pPr>
            <a:r>
              <a:rPr lang="en-US" sz="2200"/>
              <a:t>Similarly, Prove for the followings:</a:t>
            </a:r>
            <a:endParaRPr/>
          </a:p>
          <a:p>
            <a:pPr marL="457200" lvl="1" indent="-228600" algn="l" rtl="0">
              <a:lnSpc>
                <a:spcPct val="100000"/>
              </a:lnSpc>
              <a:spcBef>
                <a:spcPts val="0"/>
              </a:spcBef>
              <a:spcAft>
                <a:spcPts val="0"/>
              </a:spcAft>
              <a:buSzPct val="100000"/>
              <a:buChar char="•"/>
            </a:pPr>
            <a:r>
              <a:rPr lang="en-US" sz="2000"/>
              <a:t>f(n) = 10n</a:t>
            </a:r>
            <a:r>
              <a:rPr lang="en-US" sz="2000" baseline="30000"/>
              <a:t>2</a:t>
            </a:r>
            <a:r>
              <a:rPr lang="en-US" sz="2000"/>
              <a:t> + 7 ≠ O(n).</a:t>
            </a:r>
            <a:endParaRPr/>
          </a:p>
          <a:p>
            <a:pPr marL="457200" lvl="1" indent="-228600" algn="l" rtl="0">
              <a:lnSpc>
                <a:spcPct val="100000"/>
              </a:lnSpc>
              <a:spcBef>
                <a:spcPts val="0"/>
              </a:spcBef>
              <a:spcAft>
                <a:spcPts val="0"/>
              </a:spcAft>
              <a:buSzPct val="100000"/>
              <a:buChar char="•"/>
            </a:pPr>
            <a:r>
              <a:rPr lang="en-US" sz="2000"/>
              <a:t>f(n) = 27n</a:t>
            </a:r>
            <a:r>
              <a:rPr lang="en-US" sz="2000" baseline="30000"/>
              <a:t>2</a:t>
            </a:r>
            <a:r>
              <a:rPr lang="en-US" sz="2000"/>
              <a:t> + 16n + 25 ≠  O(n).</a:t>
            </a:r>
            <a:endParaRPr/>
          </a:p>
          <a:p>
            <a:pPr marL="457200" lvl="1" indent="-228600" algn="l" rtl="0">
              <a:lnSpc>
                <a:spcPct val="100000"/>
              </a:lnSpc>
              <a:spcBef>
                <a:spcPts val="0"/>
              </a:spcBef>
              <a:spcAft>
                <a:spcPts val="0"/>
              </a:spcAft>
              <a:buSzPct val="100000"/>
              <a:buChar char="•"/>
            </a:pPr>
            <a:r>
              <a:rPr lang="en-US" sz="2000"/>
              <a:t>f(n) = 3n</a:t>
            </a:r>
            <a:r>
              <a:rPr lang="en-US" sz="2000" baseline="30000"/>
              <a:t>3</a:t>
            </a:r>
            <a:r>
              <a:rPr lang="en-US" sz="2000"/>
              <a:t> + 4n ≠ O(n</a:t>
            </a:r>
            <a:r>
              <a:rPr lang="en-US" sz="2000" baseline="30000"/>
              <a:t>2</a:t>
            </a:r>
            <a:r>
              <a:rPr lang="en-US" sz="2000"/>
              <a:t>).</a:t>
            </a:r>
            <a:endParaRPr/>
          </a:p>
        </p:txBody>
      </p:sp>
      <p:sp>
        <p:nvSpPr>
          <p:cNvPr id="306" name="Google Shape;306;p2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57</a:t>
            </a:fld>
            <a:endParaRPr/>
          </a:p>
        </p:txBody>
      </p:sp>
    </p:spTree>
    <p:extLst>
      <p:ext uri="{BB962C8B-B14F-4D97-AF65-F5344CB8AC3E}">
        <p14:creationId xmlns:p14="http://schemas.microsoft.com/office/powerpoint/2010/main" val="12964224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9"/>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Ω NOTATION</a:t>
            </a:r>
            <a:endParaRPr/>
          </a:p>
        </p:txBody>
      </p:sp>
      <p:sp>
        <p:nvSpPr>
          <p:cNvPr id="312" name="Google Shape;312;p29"/>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b="1">
                <a:solidFill>
                  <a:srgbClr val="0070C0"/>
                </a:solidFill>
              </a:rPr>
              <a:t>Definition:</a:t>
            </a:r>
            <a:r>
              <a:rPr lang="en-US">
                <a:solidFill>
                  <a:srgbClr val="0070C0"/>
                </a:solidFill>
              </a:rPr>
              <a:t> </a:t>
            </a:r>
            <a:r>
              <a:rPr lang="en-US"/>
              <a:t>Let f and g be functions from the integers or the real numbers to the real numbers. We say that f(n) is Ω(g(n)), if there are exist constants C and  n</a:t>
            </a:r>
            <a:r>
              <a:rPr lang="en-US" baseline="-25000"/>
              <a:t>0</a:t>
            </a:r>
            <a:r>
              <a:rPr lang="en-US"/>
              <a:t> such that,</a:t>
            </a:r>
            <a:endParaRPr/>
          </a:p>
          <a:p>
            <a:pPr marL="228600" lvl="0" indent="-158750" algn="l" rtl="0">
              <a:lnSpc>
                <a:spcPct val="100000"/>
              </a:lnSpc>
              <a:spcBef>
                <a:spcPts val="0"/>
              </a:spcBef>
              <a:spcAft>
                <a:spcPts val="0"/>
              </a:spcAft>
              <a:buSzPts val="1100"/>
              <a:buNone/>
            </a:pPr>
            <a:endParaRPr sz="1100"/>
          </a:p>
          <a:p>
            <a:pPr marL="0" lvl="0" indent="0" algn="l" rtl="0">
              <a:lnSpc>
                <a:spcPct val="100000"/>
              </a:lnSpc>
              <a:spcBef>
                <a:spcPts val="0"/>
              </a:spcBef>
              <a:spcAft>
                <a:spcPts val="0"/>
              </a:spcAft>
              <a:buSzPts val="1800"/>
              <a:buNone/>
            </a:pPr>
            <a:r>
              <a:rPr lang="en-US"/>
              <a:t>		f(n) ≥ C g(n)</a:t>
            </a:r>
            <a:endParaRPr/>
          </a:p>
          <a:p>
            <a:pPr marL="228600" lvl="0" indent="-158750" algn="l" rtl="0">
              <a:lnSpc>
                <a:spcPct val="100000"/>
              </a:lnSpc>
              <a:spcBef>
                <a:spcPts val="0"/>
              </a:spcBef>
              <a:spcAft>
                <a:spcPts val="0"/>
              </a:spcAft>
              <a:buSzPts val="1100"/>
              <a:buNone/>
            </a:pPr>
            <a:endParaRPr sz="1100"/>
          </a:p>
          <a:p>
            <a:pPr marL="228600" lvl="0" indent="-228600" algn="l" rtl="0">
              <a:lnSpc>
                <a:spcPct val="100000"/>
              </a:lnSpc>
              <a:spcBef>
                <a:spcPts val="0"/>
              </a:spcBef>
              <a:spcAft>
                <a:spcPts val="0"/>
              </a:spcAft>
              <a:buSzPts val="1800"/>
              <a:buChar char="•"/>
            </a:pPr>
            <a:r>
              <a:rPr lang="en-US"/>
              <a:t>whenever n &gt;= n</a:t>
            </a:r>
            <a:r>
              <a:rPr lang="en-US" baseline="-25000"/>
              <a:t>0</a:t>
            </a:r>
            <a:r>
              <a:rPr lang="en-US"/>
              <a:t> .</a:t>
            </a:r>
            <a:endParaRPr/>
          </a:p>
          <a:p>
            <a:pPr marL="228600" lvl="0" indent="-114300" algn="l" rtl="0">
              <a:lnSpc>
                <a:spcPct val="100000"/>
              </a:lnSpc>
              <a:spcBef>
                <a:spcPts val="1000"/>
              </a:spcBef>
              <a:spcAft>
                <a:spcPts val="0"/>
              </a:spcAft>
              <a:buSzPts val="1800"/>
              <a:buNone/>
            </a:pPr>
            <a:endParaRPr/>
          </a:p>
        </p:txBody>
      </p:sp>
      <p:sp>
        <p:nvSpPr>
          <p:cNvPr id="313" name="Google Shape;313;p2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58</a:t>
            </a:fld>
            <a:endParaRPr/>
          </a:p>
        </p:txBody>
      </p:sp>
    </p:spTree>
    <p:extLst>
      <p:ext uri="{BB962C8B-B14F-4D97-AF65-F5344CB8AC3E}">
        <p14:creationId xmlns:p14="http://schemas.microsoft.com/office/powerpoint/2010/main" val="23006962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Ω NOTATION</a:t>
            </a:r>
            <a:endParaRPr/>
          </a:p>
        </p:txBody>
      </p:sp>
      <p:sp>
        <p:nvSpPr>
          <p:cNvPr id="319" name="Google Shape;319;p30"/>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Graphically, it can be represented as given in figure.</a:t>
            </a:r>
            <a:endParaRPr/>
          </a:p>
          <a:p>
            <a:pPr marL="228600" lvl="0" indent="-228600" algn="l" rtl="0">
              <a:lnSpc>
                <a:spcPct val="100000"/>
              </a:lnSpc>
              <a:spcBef>
                <a:spcPts val="0"/>
              </a:spcBef>
              <a:spcAft>
                <a:spcPts val="0"/>
              </a:spcAft>
              <a:buSzPts val="1800"/>
              <a:buChar char="•"/>
            </a:pPr>
            <a:r>
              <a:rPr lang="en-US"/>
              <a:t>The idea behind the big- Ω notation is to establish an </a:t>
            </a:r>
            <a:r>
              <a:rPr lang="en-US" b="1">
                <a:solidFill>
                  <a:srgbClr val="0070C0"/>
                </a:solidFill>
              </a:rPr>
              <a:t>lower boundary</a:t>
            </a:r>
            <a:r>
              <a:rPr lang="en-US"/>
              <a:t> for the growth of a function f(n) for large n.</a:t>
            </a:r>
            <a:endParaRPr/>
          </a:p>
          <a:p>
            <a:pPr marL="228600" lvl="0" indent="-196850" algn="l" rtl="0">
              <a:lnSpc>
                <a:spcPct val="100000"/>
              </a:lnSpc>
              <a:spcBef>
                <a:spcPts val="0"/>
              </a:spcBef>
              <a:spcAft>
                <a:spcPts val="0"/>
              </a:spcAft>
              <a:buSzPts val="500"/>
              <a:buNone/>
            </a:pPr>
            <a:endParaRPr sz="500"/>
          </a:p>
          <a:p>
            <a:pPr marL="228600" lvl="0" indent="-196850" algn="l" rtl="0">
              <a:lnSpc>
                <a:spcPct val="100000"/>
              </a:lnSpc>
              <a:spcBef>
                <a:spcPts val="0"/>
              </a:spcBef>
              <a:spcAft>
                <a:spcPts val="0"/>
              </a:spcAft>
              <a:buSzPts val="500"/>
              <a:buNone/>
            </a:pPr>
            <a:endParaRPr sz="500"/>
          </a:p>
          <a:p>
            <a:pPr marL="228600" lvl="0" indent="-228600" algn="l" rtl="0">
              <a:lnSpc>
                <a:spcPct val="100000"/>
              </a:lnSpc>
              <a:spcBef>
                <a:spcPts val="0"/>
              </a:spcBef>
              <a:spcAft>
                <a:spcPts val="0"/>
              </a:spcAft>
              <a:buSzPts val="1800"/>
              <a:buChar char="•"/>
            </a:pPr>
            <a:r>
              <a:rPr lang="en-US"/>
              <a:t>It indicates the best case.</a:t>
            </a:r>
            <a:endParaRPr/>
          </a:p>
        </p:txBody>
      </p:sp>
      <p:sp>
        <p:nvSpPr>
          <p:cNvPr id="320" name="Google Shape;320;p30"/>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59</a:t>
            </a:fld>
            <a:endParaRPr/>
          </a:p>
        </p:txBody>
      </p:sp>
      <p:pic>
        <p:nvPicPr>
          <p:cNvPr id="321" name="Google Shape;321;p30" descr="graph_Omega"/>
          <p:cNvPicPr preferRelativeResize="0">
            <a:picLocks noGrp="1"/>
          </p:cNvPicPr>
          <p:nvPr>
            <p:ph type="body" idx="2"/>
          </p:nvPr>
        </p:nvPicPr>
        <p:blipFill rotWithShape="1">
          <a:blip r:embed="rId3">
            <a:alphaModFix/>
          </a:blip>
          <a:srcRect/>
          <a:stretch/>
        </p:blipFill>
        <p:spPr>
          <a:xfrm>
            <a:off x="7003868" y="2638425"/>
            <a:ext cx="2940414" cy="3101975"/>
          </a:xfrm>
          <a:prstGeom prst="rect">
            <a:avLst/>
          </a:prstGeom>
          <a:noFill/>
          <a:ln>
            <a:noFill/>
          </a:ln>
        </p:spPr>
      </p:pic>
    </p:spTree>
    <p:extLst>
      <p:ext uri="{BB962C8B-B14F-4D97-AF65-F5344CB8AC3E}">
        <p14:creationId xmlns:p14="http://schemas.microsoft.com/office/powerpoint/2010/main" val="7827397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Ω EXAMPLES</a:t>
            </a:r>
            <a:endParaRPr/>
          </a:p>
        </p:txBody>
      </p:sp>
      <p:sp>
        <p:nvSpPr>
          <p:cNvPr id="327" name="Google Shape;327;p31"/>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100000"/>
              </a:lnSpc>
              <a:spcBef>
                <a:spcPts val="0"/>
              </a:spcBef>
              <a:spcAft>
                <a:spcPts val="0"/>
              </a:spcAft>
              <a:buSzPct val="100000"/>
              <a:buChar char="•"/>
            </a:pPr>
            <a:r>
              <a:rPr lang="en-US" sz="2400"/>
              <a:t>Prove that f(n) = 3n + 5 is Ω(n).</a:t>
            </a:r>
            <a:endParaRPr/>
          </a:p>
          <a:p>
            <a:pPr marL="0" lvl="0" indent="0" algn="l" rtl="0">
              <a:lnSpc>
                <a:spcPct val="100000"/>
              </a:lnSpc>
              <a:spcBef>
                <a:spcPts val="0"/>
              </a:spcBef>
              <a:spcAft>
                <a:spcPts val="0"/>
              </a:spcAft>
              <a:buSzPct val="100000"/>
              <a:buNone/>
            </a:pPr>
            <a:r>
              <a:rPr lang="en-US"/>
              <a:t>	</a:t>
            </a:r>
            <a:endParaRPr/>
          </a:p>
          <a:p>
            <a:pPr marL="0" lvl="0" indent="0" algn="l" rtl="0">
              <a:lnSpc>
                <a:spcPct val="100000"/>
              </a:lnSpc>
              <a:spcBef>
                <a:spcPts val="0"/>
              </a:spcBef>
              <a:spcAft>
                <a:spcPts val="0"/>
              </a:spcAft>
              <a:buSzPct val="100000"/>
              <a:buNone/>
            </a:pPr>
            <a:r>
              <a:rPr lang="en-US"/>
              <a:t>		</a:t>
            </a:r>
            <a:r>
              <a:rPr lang="en-US" sz="2400"/>
              <a:t>f(n) = 3n + 5</a:t>
            </a:r>
            <a:endParaRPr/>
          </a:p>
          <a:p>
            <a:pPr marL="0" lvl="0" indent="0" algn="l" rtl="0">
              <a:lnSpc>
                <a:spcPct val="100000"/>
              </a:lnSpc>
              <a:spcBef>
                <a:spcPts val="0"/>
              </a:spcBef>
              <a:spcAft>
                <a:spcPts val="0"/>
              </a:spcAft>
              <a:buSzPct val="100000"/>
              <a:buNone/>
            </a:pPr>
            <a:r>
              <a:rPr lang="en-US" sz="2400"/>
              <a:t>		       ≥ 3n , where n ≥ 1</a:t>
            </a:r>
            <a:endParaRPr/>
          </a:p>
          <a:p>
            <a:pPr marL="0" lvl="0" indent="0" algn="l" rtl="0">
              <a:lnSpc>
                <a:spcPct val="100000"/>
              </a:lnSpc>
              <a:spcBef>
                <a:spcPts val="0"/>
              </a:spcBef>
              <a:spcAft>
                <a:spcPts val="0"/>
              </a:spcAft>
              <a:buSzPct val="100000"/>
              <a:buNone/>
            </a:pPr>
            <a:r>
              <a:rPr lang="en-US" sz="2400"/>
              <a:t>		       ≥ C g(n) , where C=3 &amp; n</a:t>
            </a:r>
            <a:r>
              <a:rPr lang="en-US" sz="2400" baseline="-25000"/>
              <a:t>0</a:t>
            </a:r>
            <a:r>
              <a:rPr lang="en-US" sz="2400"/>
              <a:t>=1	</a:t>
            </a:r>
            <a:r>
              <a:rPr lang="en-US" sz="2000"/>
              <a:t> </a:t>
            </a:r>
            <a:endParaRPr/>
          </a:p>
          <a:p>
            <a:pPr marL="0" lvl="0" indent="0" algn="l" rtl="0">
              <a:lnSpc>
                <a:spcPct val="100000"/>
              </a:lnSpc>
              <a:spcBef>
                <a:spcPts val="0"/>
              </a:spcBef>
              <a:spcAft>
                <a:spcPts val="0"/>
              </a:spcAft>
              <a:buSzPct val="100000"/>
              <a:buNone/>
            </a:pPr>
            <a:endParaRPr/>
          </a:p>
          <a:p>
            <a:pPr marL="228600" lvl="0" indent="-228600" algn="l" rtl="0">
              <a:lnSpc>
                <a:spcPct val="100000"/>
              </a:lnSpc>
              <a:spcBef>
                <a:spcPts val="0"/>
              </a:spcBef>
              <a:spcAft>
                <a:spcPts val="0"/>
              </a:spcAft>
              <a:buSzPct val="100000"/>
              <a:buChar char="•"/>
            </a:pPr>
            <a:r>
              <a:rPr lang="en-US" sz="2200"/>
              <a:t>Hence, f(n) = 3n + 5 is </a:t>
            </a:r>
            <a:r>
              <a:rPr lang="en-US" sz="2000"/>
              <a:t>Ω</a:t>
            </a:r>
            <a:r>
              <a:rPr lang="en-US" sz="2200"/>
              <a:t>(n) is proved.	</a:t>
            </a:r>
            <a:endParaRPr/>
          </a:p>
          <a:p>
            <a:pPr marL="228600" lvl="0" indent="-228600" algn="l" rtl="0">
              <a:lnSpc>
                <a:spcPct val="100000"/>
              </a:lnSpc>
              <a:spcBef>
                <a:spcPts val="0"/>
              </a:spcBef>
              <a:spcAft>
                <a:spcPts val="0"/>
              </a:spcAft>
              <a:buSzPct val="100000"/>
              <a:buChar char="•"/>
            </a:pPr>
            <a:r>
              <a:rPr lang="en-US" sz="2200"/>
              <a:t>Similarly, Prove for the followings:</a:t>
            </a:r>
            <a:endParaRPr/>
          </a:p>
          <a:p>
            <a:pPr marL="457200" lvl="1" indent="-228600" algn="l" rtl="0">
              <a:lnSpc>
                <a:spcPct val="100000"/>
              </a:lnSpc>
              <a:spcBef>
                <a:spcPts val="0"/>
              </a:spcBef>
              <a:spcAft>
                <a:spcPts val="0"/>
              </a:spcAft>
              <a:buSzPct val="100000"/>
              <a:buChar char="•"/>
            </a:pPr>
            <a:r>
              <a:rPr lang="en-US" sz="2000"/>
              <a:t>f(n) = 27n</a:t>
            </a:r>
            <a:r>
              <a:rPr lang="en-US" sz="2000" baseline="30000"/>
              <a:t>2</a:t>
            </a:r>
            <a:r>
              <a:rPr lang="en-US" sz="2000"/>
              <a:t> + 16n is Ω(n</a:t>
            </a:r>
            <a:r>
              <a:rPr lang="en-US" sz="2000" baseline="30000"/>
              <a:t>2</a:t>
            </a:r>
            <a:r>
              <a:rPr lang="en-US" sz="2000"/>
              <a:t>).</a:t>
            </a:r>
            <a:endParaRPr/>
          </a:p>
          <a:p>
            <a:pPr marL="457200" lvl="1" indent="-228600" algn="l" rtl="0">
              <a:lnSpc>
                <a:spcPct val="100000"/>
              </a:lnSpc>
              <a:spcBef>
                <a:spcPts val="0"/>
              </a:spcBef>
              <a:spcAft>
                <a:spcPts val="0"/>
              </a:spcAft>
              <a:buSzPct val="100000"/>
              <a:buChar char="•"/>
            </a:pPr>
            <a:r>
              <a:rPr lang="en-US" sz="2000"/>
              <a:t>f(n) = 2n</a:t>
            </a:r>
            <a:r>
              <a:rPr lang="en-US" sz="2000" baseline="30000"/>
              <a:t>3</a:t>
            </a:r>
            <a:r>
              <a:rPr lang="en-US" sz="2000"/>
              <a:t> + n</a:t>
            </a:r>
            <a:r>
              <a:rPr lang="en-US" sz="2000" baseline="30000"/>
              <a:t>2 </a:t>
            </a:r>
            <a:r>
              <a:rPr lang="en-US" sz="2000"/>
              <a:t>+ 2n is Ω(n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4n</a:t>
            </a:r>
            <a:r>
              <a:rPr lang="en-US" sz="2000" baseline="30000"/>
              <a:t>3</a:t>
            </a:r>
            <a:r>
              <a:rPr lang="en-US" sz="2000"/>
              <a:t> + 2n + 3 is Ω(n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2</a:t>
            </a:r>
            <a:r>
              <a:rPr lang="en-US" sz="2000" baseline="30000"/>
              <a:t>n</a:t>
            </a:r>
            <a:r>
              <a:rPr lang="en-US" sz="2000"/>
              <a:t> + 6n</a:t>
            </a:r>
            <a:r>
              <a:rPr lang="en-US" sz="2000" baseline="30000"/>
              <a:t>2 </a:t>
            </a:r>
            <a:r>
              <a:rPr lang="en-US" sz="2000"/>
              <a:t>+ 3n is Ω(2</a:t>
            </a:r>
            <a:r>
              <a:rPr lang="en-US" sz="2000" baseline="30000"/>
              <a:t>n</a:t>
            </a:r>
            <a:r>
              <a:rPr lang="en-US" sz="2000"/>
              <a:t>).</a:t>
            </a:r>
            <a:endParaRPr/>
          </a:p>
        </p:txBody>
      </p:sp>
      <p:sp>
        <p:nvSpPr>
          <p:cNvPr id="328" name="Google Shape;328;p31"/>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60</a:t>
            </a:fld>
            <a:endParaRPr/>
          </a:p>
        </p:txBody>
      </p:sp>
    </p:spTree>
    <p:extLst>
      <p:ext uri="{BB962C8B-B14F-4D97-AF65-F5344CB8AC3E}">
        <p14:creationId xmlns:p14="http://schemas.microsoft.com/office/powerpoint/2010/main" val="27020065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Ω EXAMPLES –</a:t>
            </a:r>
            <a:br>
              <a:rPr lang="en-US"/>
            </a:br>
            <a:r>
              <a:rPr lang="en-US"/>
              <a:t>INCORRECT BOUND</a:t>
            </a:r>
            <a:endParaRPr/>
          </a:p>
        </p:txBody>
      </p:sp>
      <p:sp>
        <p:nvSpPr>
          <p:cNvPr id="334" name="Google Shape;334;p32"/>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100000"/>
              </a:lnSpc>
              <a:spcBef>
                <a:spcPts val="0"/>
              </a:spcBef>
              <a:spcAft>
                <a:spcPts val="0"/>
              </a:spcAft>
              <a:buSzPct val="100000"/>
              <a:buChar char="•"/>
            </a:pPr>
            <a:r>
              <a:rPr lang="en-US" sz="2400"/>
              <a:t>Prove that f(n) = 7n + 5 ≠ Ω(n</a:t>
            </a:r>
            <a:r>
              <a:rPr lang="en-US" sz="2400" baseline="30000"/>
              <a:t>2</a:t>
            </a:r>
            <a:r>
              <a:rPr lang="en-US" sz="2400"/>
              <a:t>).</a:t>
            </a:r>
            <a:endParaRPr/>
          </a:p>
          <a:p>
            <a:pPr marL="228600" lvl="0" indent="-110490" algn="l" rtl="0">
              <a:lnSpc>
                <a:spcPct val="100000"/>
              </a:lnSpc>
              <a:spcBef>
                <a:spcPts val="0"/>
              </a:spcBef>
              <a:spcAft>
                <a:spcPts val="0"/>
              </a:spcAft>
              <a:buSzPct val="100000"/>
              <a:buNone/>
            </a:pPr>
            <a:endParaRPr sz="2400"/>
          </a:p>
          <a:p>
            <a:pPr marL="228600" lvl="0" indent="-228600" algn="l" rtl="0">
              <a:lnSpc>
                <a:spcPct val="100000"/>
              </a:lnSpc>
              <a:spcBef>
                <a:spcPts val="0"/>
              </a:spcBef>
              <a:spcAft>
                <a:spcPts val="0"/>
              </a:spcAft>
              <a:buSzPct val="100000"/>
              <a:buChar char="•"/>
            </a:pPr>
            <a:r>
              <a:rPr lang="en-US" sz="2200"/>
              <a:t>Proof by contradiction:</a:t>
            </a:r>
            <a:endParaRPr/>
          </a:p>
          <a:p>
            <a:pPr marL="228600" lvl="0" indent="-228600" algn="l" rtl="0">
              <a:lnSpc>
                <a:spcPct val="100000"/>
              </a:lnSpc>
              <a:spcBef>
                <a:spcPts val="0"/>
              </a:spcBef>
              <a:spcAft>
                <a:spcPts val="0"/>
              </a:spcAft>
              <a:buSzPct val="100000"/>
              <a:buChar char="•"/>
            </a:pPr>
            <a:r>
              <a:rPr lang="en-US" sz="2200"/>
              <a:t>Assume that 7n + 5 = </a:t>
            </a:r>
            <a:r>
              <a:rPr lang="en-US" sz="2000"/>
              <a:t>Ω</a:t>
            </a:r>
            <a:r>
              <a:rPr lang="en-US" sz="2200"/>
              <a:t>(</a:t>
            </a:r>
            <a:r>
              <a:rPr lang="en-US" sz="2000"/>
              <a:t>n</a:t>
            </a:r>
            <a:r>
              <a:rPr lang="en-US" sz="2000" baseline="30000"/>
              <a:t>2</a:t>
            </a:r>
            <a:r>
              <a:rPr lang="en-US" sz="2200"/>
              <a:t>). So, we must have</a:t>
            </a:r>
            <a:endParaRPr/>
          </a:p>
          <a:p>
            <a:pPr marL="0" lvl="0" indent="0" algn="l" rtl="0">
              <a:lnSpc>
                <a:spcPct val="100000"/>
              </a:lnSpc>
              <a:spcBef>
                <a:spcPts val="0"/>
              </a:spcBef>
              <a:spcAft>
                <a:spcPts val="0"/>
              </a:spcAft>
              <a:buSzPct val="100000"/>
              <a:buNone/>
            </a:pPr>
            <a:r>
              <a:rPr lang="en-US" sz="2200"/>
              <a:t>	  7n + 5  ≥  C </a:t>
            </a:r>
            <a:r>
              <a:rPr lang="en-US" sz="2000"/>
              <a:t>n</a:t>
            </a:r>
            <a:r>
              <a:rPr lang="en-US" sz="2000" baseline="30000"/>
              <a:t>2</a:t>
            </a:r>
            <a:r>
              <a:rPr lang="en-US" sz="2200"/>
              <a:t> for n  ≥ n0.</a:t>
            </a:r>
            <a:endParaRPr/>
          </a:p>
          <a:p>
            <a:pPr marL="0" lvl="0" indent="0" algn="l" rtl="0">
              <a:lnSpc>
                <a:spcPct val="100000"/>
              </a:lnSpc>
              <a:spcBef>
                <a:spcPts val="0"/>
              </a:spcBef>
              <a:spcAft>
                <a:spcPts val="0"/>
              </a:spcAft>
              <a:buSzPct val="100000"/>
              <a:buNone/>
            </a:pPr>
            <a:r>
              <a:rPr lang="en-US" sz="2200"/>
              <a:t>	  c</a:t>
            </a:r>
            <a:r>
              <a:rPr lang="en-US" sz="2000"/>
              <a:t> n</a:t>
            </a:r>
            <a:r>
              <a:rPr lang="en-US" sz="2000" baseline="30000"/>
              <a:t>2 </a:t>
            </a:r>
            <a:r>
              <a:rPr lang="en-US" sz="2000"/>
              <a:t> / (7n + 5) ≤ 1.</a:t>
            </a:r>
            <a:endParaRPr sz="2200"/>
          </a:p>
          <a:p>
            <a:pPr marL="0" lvl="0" indent="0" algn="l" rtl="0">
              <a:lnSpc>
                <a:spcPct val="100000"/>
              </a:lnSpc>
              <a:spcBef>
                <a:spcPts val="0"/>
              </a:spcBef>
              <a:spcAft>
                <a:spcPts val="0"/>
              </a:spcAft>
              <a:buSzPct val="100000"/>
              <a:buNone/>
            </a:pPr>
            <a:r>
              <a:rPr lang="en-US" sz="2200"/>
              <a:t>	  above statement is not true for n. </a:t>
            </a:r>
            <a:endParaRPr/>
          </a:p>
          <a:p>
            <a:pPr marL="228600" lvl="0" indent="-228600" algn="l" rtl="0">
              <a:lnSpc>
                <a:spcPct val="100000"/>
              </a:lnSpc>
              <a:spcBef>
                <a:spcPts val="0"/>
              </a:spcBef>
              <a:spcAft>
                <a:spcPts val="0"/>
              </a:spcAft>
              <a:buSzPct val="100000"/>
              <a:buChar char="•"/>
            </a:pPr>
            <a:r>
              <a:rPr lang="en-US" sz="2200"/>
              <a:t>Hence, our assumption is false.</a:t>
            </a:r>
            <a:endParaRPr/>
          </a:p>
          <a:p>
            <a:pPr marL="228600" lvl="0" indent="-228600" algn="l" rtl="0">
              <a:lnSpc>
                <a:spcPct val="100000"/>
              </a:lnSpc>
              <a:spcBef>
                <a:spcPts val="0"/>
              </a:spcBef>
              <a:spcAft>
                <a:spcPts val="0"/>
              </a:spcAft>
              <a:buSzPct val="100000"/>
              <a:buChar char="•"/>
            </a:pPr>
            <a:r>
              <a:rPr lang="en-US" sz="2200"/>
              <a:t>Hence, f(n) = 3n + 5 is </a:t>
            </a:r>
            <a:r>
              <a:rPr lang="en-US" sz="2400"/>
              <a:t>Ω</a:t>
            </a:r>
            <a:r>
              <a:rPr lang="en-US" sz="2200"/>
              <a:t>(n) is proved.	</a:t>
            </a:r>
            <a:endParaRPr/>
          </a:p>
          <a:p>
            <a:pPr marL="0" lvl="0" indent="0" algn="l" rtl="0">
              <a:lnSpc>
                <a:spcPct val="100000"/>
              </a:lnSpc>
              <a:spcBef>
                <a:spcPts val="0"/>
              </a:spcBef>
              <a:spcAft>
                <a:spcPts val="0"/>
              </a:spcAft>
              <a:buSzPct val="100000"/>
              <a:buNone/>
            </a:pPr>
            <a:endParaRPr sz="2200"/>
          </a:p>
          <a:p>
            <a:pPr marL="228600" lvl="0" indent="-228600" algn="l" rtl="0">
              <a:lnSpc>
                <a:spcPct val="100000"/>
              </a:lnSpc>
              <a:spcBef>
                <a:spcPts val="0"/>
              </a:spcBef>
              <a:spcAft>
                <a:spcPts val="0"/>
              </a:spcAft>
              <a:buSzPct val="100000"/>
              <a:buChar char="•"/>
            </a:pPr>
            <a:r>
              <a:rPr lang="en-US" sz="2200"/>
              <a:t>Similarly, Prove for the followings:</a:t>
            </a:r>
            <a:endParaRPr/>
          </a:p>
          <a:p>
            <a:pPr marL="457200" lvl="1" indent="-228600" algn="l" rtl="0">
              <a:lnSpc>
                <a:spcPct val="100000"/>
              </a:lnSpc>
              <a:spcBef>
                <a:spcPts val="0"/>
              </a:spcBef>
              <a:spcAft>
                <a:spcPts val="0"/>
              </a:spcAft>
              <a:buSzPct val="100000"/>
              <a:buChar char="•"/>
            </a:pPr>
            <a:r>
              <a:rPr lang="en-US" sz="2000"/>
              <a:t>f(n) = 10n</a:t>
            </a:r>
            <a:r>
              <a:rPr lang="en-US" sz="2000" baseline="30000"/>
              <a:t>2</a:t>
            </a:r>
            <a:r>
              <a:rPr lang="en-US" sz="2000"/>
              <a:t> + 7 ≠ Ω(n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27n</a:t>
            </a:r>
            <a:r>
              <a:rPr lang="en-US" sz="2000" baseline="30000"/>
              <a:t>2</a:t>
            </a:r>
            <a:r>
              <a:rPr lang="en-US" sz="2000"/>
              <a:t> + 16n + 25 ≠ Ω(n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3n</a:t>
            </a:r>
            <a:r>
              <a:rPr lang="en-US" sz="2000" baseline="30000"/>
              <a:t>3</a:t>
            </a:r>
            <a:r>
              <a:rPr lang="en-US" sz="2000"/>
              <a:t> + 4n ≠ Ω(2</a:t>
            </a:r>
            <a:r>
              <a:rPr lang="en-US" sz="2000" baseline="30000"/>
              <a:t>n</a:t>
            </a:r>
            <a:r>
              <a:rPr lang="en-US" sz="2000"/>
              <a:t>).</a:t>
            </a:r>
            <a:endParaRPr/>
          </a:p>
        </p:txBody>
      </p:sp>
      <p:sp>
        <p:nvSpPr>
          <p:cNvPr id="335" name="Google Shape;335;p3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61</a:t>
            </a:fld>
            <a:endParaRPr/>
          </a:p>
        </p:txBody>
      </p:sp>
    </p:spTree>
    <p:extLst>
      <p:ext uri="{BB962C8B-B14F-4D97-AF65-F5344CB8AC3E}">
        <p14:creationId xmlns:p14="http://schemas.microsoft.com/office/powerpoint/2010/main" val="26046823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3"/>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ϴ NOTATION</a:t>
            </a:r>
            <a:endParaRPr/>
          </a:p>
        </p:txBody>
      </p:sp>
      <p:sp>
        <p:nvSpPr>
          <p:cNvPr id="341" name="Google Shape;341;p33"/>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b="1">
                <a:solidFill>
                  <a:srgbClr val="0070C0"/>
                </a:solidFill>
              </a:rPr>
              <a:t>Definition:</a:t>
            </a:r>
            <a:r>
              <a:rPr lang="en-US">
                <a:solidFill>
                  <a:srgbClr val="0070C0"/>
                </a:solidFill>
              </a:rPr>
              <a:t> </a:t>
            </a:r>
            <a:r>
              <a:rPr lang="en-US"/>
              <a:t>Let f and g be functions from the integers or the real numbers to the real numbers. We say that f(n) is ϴ(g(n)), if there are exist constants C</a:t>
            </a:r>
            <a:r>
              <a:rPr lang="en-US" baseline="-25000"/>
              <a:t>1</a:t>
            </a:r>
            <a:r>
              <a:rPr lang="en-US"/>
              <a:t>, C</a:t>
            </a:r>
            <a:r>
              <a:rPr lang="en-US" baseline="-25000"/>
              <a:t>2</a:t>
            </a:r>
            <a:r>
              <a:rPr lang="en-US"/>
              <a:t> and  n</a:t>
            </a:r>
            <a:r>
              <a:rPr lang="en-US" baseline="-25000"/>
              <a:t>0</a:t>
            </a:r>
            <a:r>
              <a:rPr lang="en-US"/>
              <a:t> such that,</a:t>
            </a:r>
            <a:endParaRPr/>
          </a:p>
          <a:p>
            <a:pPr marL="228600" lvl="0" indent="-158750" algn="l" rtl="0">
              <a:lnSpc>
                <a:spcPct val="100000"/>
              </a:lnSpc>
              <a:spcBef>
                <a:spcPts val="0"/>
              </a:spcBef>
              <a:spcAft>
                <a:spcPts val="0"/>
              </a:spcAft>
              <a:buSzPts val="1100"/>
              <a:buNone/>
            </a:pPr>
            <a:endParaRPr sz="1100"/>
          </a:p>
          <a:p>
            <a:pPr marL="0" lvl="0" indent="0" algn="l" rtl="0">
              <a:lnSpc>
                <a:spcPct val="100000"/>
              </a:lnSpc>
              <a:spcBef>
                <a:spcPts val="0"/>
              </a:spcBef>
              <a:spcAft>
                <a:spcPts val="0"/>
              </a:spcAft>
              <a:buSzPts val="1800"/>
              <a:buNone/>
            </a:pPr>
            <a:r>
              <a:rPr lang="en-US"/>
              <a:t>		 C</a:t>
            </a:r>
            <a:r>
              <a:rPr lang="en-US" baseline="-25000"/>
              <a:t>1 </a:t>
            </a:r>
            <a:r>
              <a:rPr lang="en-US"/>
              <a:t>g(n) ≤ f(n) ≤ C</a:t>
            </a:r>
            <a:r>
              <a:rPr lang="en-US" baseline="-25000"/>
              <a:t>2 </a:t>
            </a:r>
            <a:r>
              <a:rPr lang="en-US"/>
              <a:t>g(n)</a:t>
            </a:r>
            <a:endParaRPr/>
          </a:p>
          <a:p>
            <a:pPr marL="0" lvl="0" indent="0" algn="l" rtl="0">
              <a:lnSpc>
                <a:spcPct val="100000"/>
              </a:lnSpc>
              <a:spcBef>
                <a:spcPts val="0"/>
              </a:spcBef>
              <a:spcAft>
                <a:spcPts val="0"/>
              </a:spcAft>
              <a:buSzPts val="1100"/>
              <a:buNone/>
            </a:pPr>
            <a:endParaRPr sz="1100"/>
          </a:p>
          <a:p>
            <a:pPr marL="228600" lvl="0" indent="-228600" algn="l" rtl="0">
              <a:lnSpc>
                <a:spcPct val="100000"/>
              </a:lnSpc>
              <a:spcBef>
                <a:spcPts val="0"/>
              </a:spcBef>
              <a:spcAft>
                <a:spcPts val="0"/>
              </a:spcAft>
              <a:buSzPts val="1800"/>
              <a:buChar char="•"/>
            </a:pPr>
            <a:r>
              <a:rPr lang="en-US"/>
              <a:t>whenever n &gt;= n</a:t>
            </a:r>
            <a:r>
              <a:rPr lang="en-US" baseline="-25000"/>
              <a:t>0</a:t>
            </a:r>
            <a:r>
              <a:rPr lang="en-US"/>
              <a:t> .</a:t>
            </a:r>
            <a:endParaRPr/>
          </a:p>
          <a:p>
            <a:pPr marL="228600" lvl="0" indent="-114300" algn="l" rtl="0">
              <a:lnSpc>
                <a:spcPct val="100000"/>
              </a:lnSpc>
              <a:spcBef>
                <a:spcPts val="1000"/>
              </a:spcBef>
              <a:spcAft>
                <a:spcPts val="0"/>
              </a:spcAft>
              <a:buSzPts val="1800"/>
              <a:buNone/>
            </a:pPr>
            <a:endParaRPr/>
          </a:p>
        </p:txBody>
      </p:sp>
      <p:sp>
        <p:nvSpPr>
          <p:cNvPr id="342" name="Google Shape;342;p33"/>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62</a:t>
            </a:fld>
            <a:endParaRPr/>
          </a:p>
        </p:txBody>
      </p:sp>
    </p:spTree>
    <p:extLst>
      <p:ext uri="{BB962C8B-B14F-4D97-AF65-F5344CB8AC3E}">
        <p14:creationId xmlns:p14="http://schemas.microsoft.com/office/powerpoint/2010/main" val="21804064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ϴ NOTATION</a:t>
            </a:r>
            <a:endParaRPr/>
          </a:p>
        </p:txBody>
      </p:sp>
      <p:sp>
        <p:nvSpPr>
          <p:cNvPr id="348" name="Google Shape;348;p34"/>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Graphically, it can be represented as given in figure.</a:t>
            </a:r>
            <a:endParaRPr/>
          </a:p>
          <a:p>
            <a:pPr marL="228600" lvl="0" indent="-114300" algn="l" rtl="0">
              <a:lnSpc>
                <a:spcPct val="100000"/>
              </a:lnSpc>
              <a:spcBef>
                <a:spcPts val="1000"/>
              </a:spcBef>
              <a:spcAft>
                <a:spcPts val="0"/>
              </a:spcAft>
              <a:buSzPts val="1800"/>
              <a:buNone/>
            </a:pPr>
            <a:endParaRPr/>
          </a:p>
        </p:txBody>
      </p:sp>
      <p:sp>
        <p:nvSpPr>
          <p:cNvPr id="349" name="Google Shape;349;p3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63</a:t>
            </a:fld>
            <a:endParaRPr/>
          </a:p>
        </p:txBody>
      </p:sp>
      <p:pic>
        <p:nvPicPr>
          <p:cNvPr id="350" name="Google Shape;350;p34" descr="graph_thet"/>
          <p:cNvPicPr preferRelativeResize="0">
            <a:picLocks noGrp="1"/>
          </p:cNvPicPr>
          <p:nvPr>
            <p:ph type="body" idx="2"/>
          </p:nvPr>
        </p:nvPicPr>
        <p:blipFill rotWithShape="1">
          <a:blip r:embed="rId3">
            <a:alphaModFix/>
          </a:blip>
          <a:srcRect/>
          <a:stretch/>
        </p:blipFill>
        <p:spPr>
          <a:xfrm>
            <a:off x="6978765" y="2638425"/>
            <a:ext cx="2990621" cy="3101975"/>
          </a:xfrm>
          <a:prstGeom prst="rect">
            <a:avLst/>
          </a:prstGeom>
          <a:noFill/>
          <a:ln>
            <a:noFill/>
          </a:ln>
        </p:spPr>
      </p:pic>
    </p:spTree>
    <p:extLst>
      <p:ext uri="{BB962C8B-B14F-4D97-AF65-F5344CB8AC3E}">
        <p14:creationId xmlns:p14="http://schemas.microsoft.com/office/powerpoint/2010/main" val="37467232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RELATION BETWEEN O, Ω AND ϴ</a:t>
            </a:r>
            <a:endParaRPr/>
          </a:p>
        </p:txBody>
      </p:sp>
      <p:sp>
        <p:nvSpPr>
          <p:cNvPr id="356" name="Google Shape;356;p3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For any two functions </a:t>
            </a:r>
            <a:r>
              <a:rPr lang="en-US" i="1"/>
              <a:t>g</a:t>
            </a:r>
            <a:r>
              <a:rPr lang="en-US"/>
              <a:t>(</a:t>
            </a:r>
            <a:r>
              <a:rPr lang="en-US" i="1"/>
              <a:t>n</a:t>
            </a:r>
            <a:r>
              <a:rPr lang="en-US"/>
              <a:t>) and </a:t>
            </a:r>
            <a:r>
              <a:rPr lang="en-US" i="1"/>
              <a:t>f</a:t>
            </a:r>
            <a:r>
              <a:rPr lang="en-US"/>
              <a:t>(</a:t>
            </a:r>
            <a:r>
              <a:rPr lang="en-US" i="1"/>
              <a:t>n</a:t>
            </a:r>
            <a:r>
              <a:rPr lang="en-US"/>
              <a:t>),   </a:t>
            </a:r>
            <a:r>
              <a:rPr lang="en-US" b="1" i="1"/>
              <a:t>f</a:t>
            </a:r>
            <a:r>
              <a:rPr lang="en-US" b="1"/>
              <a:t>(</a:t>
            </a:r>
            <a:r>
              <a:rPr lang="en-US" b="1" i="1"/>
              <a:t>n</a:t>
            </a:r>
            <a:r>
              <a:rPr lang="en-US" b="1"/>
              <a:t>) = Θ(</a:t>
            </a:r>
            <a:r>
              <a:rPr lang="en-US" b="1" i="1"/>
              <a:t>g</a:t>
            </a:r>
            <a:r>
              <a:rPr lang="en-US" b="1"/>
              <a:t>(</a:t>
            </a:r>
            <a:r>
              <a:rPr lang="en-US" b="1" i="1"/>
              <a:t>n</a:t>
            </a:r>
            <a:r>
              <a:rPr lang="en-US" b="1"/>
              <a:t>))</a:t>
            </a:r>
            <a:r>
              <a:rPr lang="en-US"/>
              <a:t> iff </a:t>
            </a:r>
            <a:endParaRPr/>
          </a:p>
          <a:p>
            <a:pPr marL="228600" lvl="0" indent="-228600" algn="l" rtl="0">
              <a:lnSpc>
                <a:spcPct val="100000"/>
              </a:lnSpc>
              <a:spcBef>
                <a:spcPts val="1000"/>
              </a:spcBef>
              <a:spcAft>
                <a:spcPts val="0"/>
              </a:spcAft>
              <a:buSzPts val="1800"/>
              <a:buChar char="•"/>
            </a:pPr>
            <a:r>
              <a:rPr lang="en-US" b="1" i="1"/>
              <a:t>	f</a:t>
            </a:r>
            <a:r>
              <a:rPr lang="en-US" b="1"/>
              <a:t>(</a:t>
            </a:r>
            <a:r>
              <a:rPr lang="en-US" b="1" i="1"/>
              <a:t>n</a:t>
            </a:r>
            <a:r>
              <a:rPr lang="en-US" b="1"/>
              <a:t>) = </a:t>
            </a:r>
            <a:r>
              <a:rPr lang="en-US" b="1" i="1"/>
              <a:t>O</a:t>
            </a:r>
            <a:r>
              <a:rPr lang="en-US" b="1"/>
              <a:t>(</a:t>
            </a:r>
            <a:r>
              <a:rPr lang="en-US" b="1" i="1"/>
              <a:t>g</a:t>
            </a:r>
            <a:r>
              <a:rPr lang="en-US" b="1"/>
              <a:t>(</a:t>
            </a:r>
            <a:r>
              <a:rPr lang="en-US" b="1" i="1"/>
              <a:t>n</a:t>
            </a:r>
            <a:r>
              <a:rPr lang="en-US" b="1"/>
              <a:t>)) and </a:t>
            </a:r>
            <a:r>
              <a:rPr lang="en-US" b="1" i="1"/>
              <a:t>f</a:t>
            </a:r>
            <a:r>
              <a:rPr lang="en-US" b="1"/>
              <a:t>(</a:t>
            </a:r>
            <a:r>
              <a:rPr lang="en-US" b="1" i="1"/>
              <a:t>n</a:t>
            </a:r>
            <a:r>
              <a:rPr lang="en-US" b="1"/>
              <a:t>) = Ω(</a:t>
            </a:r>
            <a:r>
              <a:rPr lang="en-US" b="1" i="1"/>
              <a:t>g</a:t>
            </a:r>
            <a:r>
              <a:rPr lang="en-US" b="1"/>
              <a:t>(</a:t>
            </a:r>
            <a:r>
              <a:rPr lang="en-US" b="1" i="1"/>
              <a:t>n</a:t>
            </a:r>
            <a:r>
              <a:rPr lang="en-US" b="1"/>
              <a:t>))</a:t>
            </a:r>
            <a:r>
              <a:rPr lang="en-US"/>
              <a:t>.</a:t>
            </a:r>
            <a:endParaRPr/>
          </a:p>
          <a:p>
            <a:pPr marL="228600" lvl="0" indent="-228600" algn="l" rtl="0">
              <a:lnSpc>
                <a:spcPct val="100000"/>
              </a:lnSpc>
              <a:spcBef>
                <a:spcPts val="1000"/>
              </a:spcBef>
              <a:spcAft>
                <a:spcPts val="0"/>
              </a:spcAft>
              <a:buSzPts val="1800"/>
              <a:buChar char="•"/>
            </a:pPr>
            <a:r>
              <a:rPr lang="en-US" b="1"/>
              <a:t>I.e., Θ(</a:t>
            </a:r>
            <a:r>
              <a:rPr lang="en-US" b="1" i="1"/>
              <a:t>g</a:t>
            </a:r>
            <a:r>
              <a:rPr lang="en-US" b="1"/>
              <a:t>(</a:t>
            </a:r>
            <a:r>
              <a:rPr lang="en-US" b="1" i="1"/>
              <a:t>n</a:t>
            </a:r>
            <a:r>
              <a:rPr lang="en-US" b="1"/>
              <a:t>)) = </a:t>
            </a:r>
            <a:r>
              <a:rPr lang="en-US" b="1" i="1"/>
              <a:t>O</a:t>
            </a:r>
            <a:r>
              <a:rPr lang="en-US" b="1"/>
              <a:t>(</a:t>
            </a:r>
            <a:r>
              <a:rPr lang="en-US" b="1" i="1"/>
              <a:t>g</a:t>
            </a:r>
            <a:r>
              <a:rPr lang="en-US" b="1"/>
              <a:t>(</a:t>
            </a:r>
            <a:r>
              <a:rPr lang="en-US" b="1" i="1"/>
              <a:t>n</a:t>
            </a:r>
            <a:r>
              <a:rPr lang="en-US" b="1"/>
              <a:t>)) </a:t>
            </a:r>
            <a:r>
              <a:rPr lang="en-US" b="1">
                <a:latin typeface="Noto Sans Symbols"/>
                <a:ea typeface="Noto Sans Symbols"/>
                <a:cs typeface="Noto Sans Symbols"/>
                <a:sym typeface="Noto Sans Symbols"/>
              </a:rPr>
              <a:t>∩</a:t>
            </a:r>
            <a:r>
              <a:rPr lang="en-US" b="1"/>
              <a:t> </a:t>
            </a:r>
            <a:r>
              <a:rPr lang="en-US" b="1">
                <a:latin typeface="Noto Sans Symbols"/>
                <a:ea typeface="Noto Sans Symbols"/>
                <a:cs typeface="Noto Sans Symbols"/>
                <a:sym typeface="Noto Sans Symbols"/>
              </a:rPr>
              <a:t>Ω</a:t>
            </a:r>
            <a:r>
              <a:rPr lang="en-US" b="1"/>
              <a:t>(</a:t>
            </a:r>
            <a:r>
              <a:rPr lang="en-US" b="1" i="1"/>
              <a:t>g</a:t>
            </a:r>
            <a:r>
              <a:rPr lang="en-US" b="1"/>
              <a:t>(</a:t>
            </a:r>
            <a:r>
              <a:rPr lang="en-US" b="1" i="1"/>
              <a:t>n</a:t>
            </a:r>
            <a:r>
              <a:rPr lang="en-US" b="1"/>
              <a:t>))</a:t>
            </a:r>
            <a:endParaRPr/>
          </a:p>
          <a:p>
            <a:pPr marL="228600" lvl="0" indent="-114300" algn="l" rtl="0">
              <a:lnSpc>
                <a:spcPct val="100000"/>
              </a:lnSpc>
              <a:spcBef>
                <a:spcPts val="1000"/>
              </a:spcBef>
              <a:spcAft>
                <a:spcPts val="0"/>
              </a:spcAft>
              <a:buSzPts val="1800"/>
              <a:buNone/>
            </a:pPr>
            <a:endParaRPr/>
          </a:p>
        </p:txBody>
      </p:sp>
      <p:sp>
        <p:nvSpPr>
          <p:cNvPr id="357" name="Google Shape;357;p3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64</a:t>
            </a:fld>
            <a:endParaRPr/>
          </a:p>
        </p:txBody>
      </p:sp>
      <p:pic>
        <p:nvPicPr>
          <p:cNvPr id="358" name="Google Shape;358;p35" descr="graph_thet"/>
          <p:cNvPicPr preferRelativeResize="0"/>
          <p:nvPr/>
        </p:nvPicPr>
        <p:blipFill rotWithShape="1">
          <a:blip r:embed="rId3">
            <a:alphaModFix/>
          </a:blip>
          <a:srcRect/>
          <a:stretch/>
        </p:blipFill>
        <p:spPr>
          <a:xfrm>
            <a:off x="2231136" y="3893185"/>
            <a:ext cx="2065333" cy="2324735"/>
          </a:xfrm>
          <a:prstGeom prst="rect">
            <a:avLst/>
          </a:prstGeom>
          <a:noFill/>
          <a:ln>
            <a:noFill/>
          </a:ln>
        </p:spPr>
      </p:pic>
      <p:pic>
        <p:nvPicPr>
          <p:cNvPr id="359" name="Google Shape;359;p35" descr="graph_O"/>
          <p:cNvPicPr preferRelativeResize="0"/>
          <p:nvPr/>
        </p:nvPicPr>
        <p:blipFill rotWithShape="1">
          <a:blip r:embed="rId4">
            <a:alphaModFix/>
          </a:blip>
          <a:srcRect/>
          <a:stretch/>
        </p:blipFill>
        <p:spPr>
          <a:xfrm>
            <a:off x="5153916" y="3893184"/>
            <a:ext cx="2065333" cy="2324735"/>
          </a:xfrm>
          <a:prstGeom prst="rect">
            <a:avLst/>
          </a:prstGeom>
          <a:noFill/>
          <a:ln>
            <a:noFill/>
          </a:ln>
        </p:spPr>
      </p:pic>
      <p:pic>
        <p:nvPicPr>
          <p:cNvPr id="360" name="Google Shape;360;p35" descr="graph_Omega"/>
          <p:cNvPicPr preferRelativeResize="0"/>
          <p:nvPr/>
        </p:nvPicPr>
        <p:blipFill rotWithShape="1">
          <a:blip r:embed="rId5">
            <a:alphaModFix/>
          </a:blip>
          <a:srcRect/>
          <a:stretch/>
        </p:blipFill>
        <p:spPr>
          <a:xfrm>
            <a:off x="8076696" y="3893183"/>
            <a:ext cx="2065333" cy="2324735"/>
          </a:xfrm>
          <a:prstGeom prst="rect">
            <a:avLst/>
          </a:prstGeom>
          <a:noFill/>
          <a:ln>
            <a:noFill/>
          </a:ln>
        </p:spPr>
      </p:pic>
    </p:spTree>
    <p:extLst>
      <p:ext uri="{BB962C8B-B14F-4D97-AF65-F5344CB8AC3E}">
        <p14:creationId xmlns:p14="http://schemas.microsoft.com/office/powerpoint/2010/main" val="37201191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PROBLEM STATEMENTS</a:t>
            </a:r>
            <a:endParaRPr/>
          </a:p>
        </p:txBody>
      </p:sp>
      <p:sp>
        <p:nvSpPr>
          <p:cNvPr id="366" name="Google Shape;366;p37"/>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Sorting </a:t>
            </a:r>
            <a:endParaRPr/>
          </a:p>
          <a:p>
            <a:pPr marL="228600" lvl="0" indent="-228600" algn="l" rtl="0">
              <a:lnSpc>
                <a:spcPct val="100000"/>
              </a:lnSpc>
              <a:spcBef>
                <a:spcPts val="1000"/>
              </a:spcBef>
              <a:spcAft>
                <a:spcPts val="0"/>
              </a:spcAft>
              <a:buSzPts val="1800"/>
              <a:buChar char="•"/>
            </a:pPr>
            <a:r>
              <a:rPr lang="en-US"/>
              <a:t>Searching </a:t>
            </a:r>
            <a:endParaRPr/>
          </a:p>
          <a:p>
            <a:pPr marL="228600" lvl="0" indent="-228600" algn="l" rtl="0">
              <a:lnSpc>
                <a:spcPct val="100000"/>
              </a:lnSpc>
              <a:spcBef>
                <a:spcPts val="1000"/>
              </a:spcBef>
              <a:spcAft>
                <a:spcPts val="0"/>
              </a:spcAft>
              <a:buSzPts val="1800"/>
              <a:buChar char="•"/>
            </a:pPr>
            <a:r>
              <a:rPr lang="en-US"/>
              <a:t>String processing </a:t>
            </a:r>
            <a:endParaRPr/>
          </a:p>
          <a:p>
            <a:pPr marL="228600" lvl="0" indent="-228600" algn="l" rtl="0">
              <a:lnSpc>
                <a:spcPct val="100000"/>
              </a:lnSpc>
              <a:spcBef>
                <a:spcPts val="1000"/>
              </a:spcBef>
              <a:spcAft>
                <a:spcPts val="0"/>
              </a:spcAft>
              <a:buSzPts val="1800"/>
              <a:buChar char="•"/>
            </a:pPr>
            <a:r>
              <a:rPr lang="en-US"/>
              <a:t>Graph problems </a:t>
            </a:r>
            <a:endParaRPr/>
          </a:p>
          <a:p>
            <a:pPr marL="228600" lvl="0" indent="-228600" algn="l" rtl="0">
              <a:lnSpc>
                <a:spcPct val="100000"/>
              </a:lnSpc>
              <a:spcBef>
                <a:spcPts val="1000"/>
              </a:spcBef>
              <a:spcAft>
                <a:spcPts val="0"/>
              </a:spcAft>
              <a:buSzPts val="1800"/>
              <a:buChar char="•"/>
            </a:pPr>
            <a:r>
              <a:rPr lang="en-US"/>
              <a:t>Combinatorial problems </a:t>
            </a:r>
            <a:endParaRPr/>
          </a:p>
          <a:p>
            <a:pPr marL="228600" lvl="0" indent="-228600" algn="l" rtl="0">
              <a:lnSpc>
                <a:spcPct val="100000"/>
              </a:lnSpc>
              <a:spcBef>
                <a:spcPts val="1000"/>
              </a:spcBef>
              <a:spcAft>
                <a:spcPts val="0"/>
              </a:spcAft>
              <a:buSzPts val="1800"/>
              <a:buChar char="•"/>
            </a:pPr>
            <a:r>
              <a:rPr lang="en-US"/>
              <a:t>Geometric problems </a:t>
            </a:r>
            <a:endParaRPr/>
          </a:p>
          <a:p>
            <a:pPr marL="228600" lvl="0" indent="-228600" algn="l" rtl="0">
              <a:lnSpc>
                <a:spcPct val="100000"/>
              </a:lnSpc>
              <a:spcBef>
                <a:spcPts val="1000"/>
              </a:spcBef>
              <a:spcAft>
                <a:spcPts val="0"/>
              </a:spcAft>
              <a:buSzPts val="1800"/>
              <a:buChar char="•"/>
            </a:pPr>
            <a:r>
              <a:rPr lang="en-US"/>
              <a:t>Numerical problems</a:t>
            </a:r>
            <a:endParaRPr/>
          </a:p>
          <a:p>
            <a:pPr marL="228600" lvl="0" indent="-114300" algn="l" rtl="0">
              <a:lnSpc>
                <a:spcPct val="100000"/>
              </a:lnSpc>
              <a:spcBef>
                <a:spcPts val="1000"/>
              </a:spcBef>
              <a:spcAft>
                <a:spcPts val="0"/>
              </a:spcAft>
              <a:buSzPts val="1800"/>
              <a:buNone/>
            </a:pPr>
            <a:endParaRPr/>
          </a:p>
        </p:txBody>
      </p:sp>
      <p:sp>
        <p:nvSpPr>
          <p:cNvPr id="367" name="Google Shape;367;p3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65</a:t>
            </a:fld>
            <a:endParaRPr/>
          </a:p>
        </p:txBody>
      </p:sp>
    </p:spTree>
    <p:extLst>
      <p:ext uri="{BB962C8B-B14F-4D97-AF65-F5344CB8AC3E}">
        <p14:creationId xmlns:p14="http://schemas.microsoft.com/office/powerpoint/2010/main" val="3861305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BIG – ϴ NOTATION - EXAMPLES</a:t>
            </a:r>
            <a:endParaRPr/>
          </a:p>
        </p:txBody>
      </p:sp>
      <p:sp>
        <p:nvSpPr>
          <p:cNvPr id="373" name="Google Shape;373;p36"/>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100000"/>
              </a:lnSpc>
              <a:spcBef>
                <a:spcPts val="0"/>
              </a:spcBef>
              <a:spcAft>
                <a:spcPts val="0"/>
              </a:spcAft>
              <a:buSzPct val="100000"/>
              <a:buChar char="•"/>
            </a:pPr>
            <a:r>
              <a:rPr lang="en-US" sz="2000"/>
              <a:t>Prove that f(n) = 3n + 5 is ϴ(n).</a:t>
            </a:r>
            <a:endParaRPr/>
          </a:p>
          <a:p>
            <a:pPr marL="0" lvl="0" indent="0" algn="l" rtl="0">
              <a:lnSpc>
                <a:spcPct val="100000"/>
              </a:lnSpc>
              <a:spcBef>
                <a:spcPts val="0"/>
              </a:spcBef>
              <a:spcAft>
                <a:spcPts val="0"/>
              </a:spcAft>
              <a:buSzPct val="100000"/>
              <a:buNone/>
            </a:pPr>
            <a:endParaRPr sz="2000"/>
          </a:p>
          <a:p>
            <a:pPr marL="228600" lvl="0" indent="-228600" algn="l" rtl="0">
              <a:lnSpc>
                <a:spcPct val="100000"/>
              </a:lnSpc>
              <a:spcBef>
                <a:spcPts val="0"/>
              </a:spcBef>
              <a:spcAft>
                <a:spcPts val="0"/>
              </a:spcAft>
              <a:buSzPct val="100000"/>
              <a:buChar char="•"/>
            </a:pPr>
            <a:r>
              <a:rPr lang="en-US" sz="2000"/>
              <a:t>We can say that       3n 	 ≤ 3n + 5</a:t>
            </a:r>
            <a:endParaRPr/>
          </a:p>
          <a:p>
            <a:pPr marL="0" lvl="0" indent="0" algn="l" rtl="0">
              <a:lnSpc>
                <a:spcPct val="100000"/>
              </a:lnSpc>
              <a:spcBef>
                <a:spcPts val="0"/>
              </a:spcBef>
              <a:spcAft>
                <a:spcPts val="0"/>
              </a:spcAft>
              <a:buSzPct val="100000"/>
              <a:buNone/>
            </a:pPr>
            <a:r>
              <a:rPr lang="en-US" sz="2000"/>
              <a:t>                        	        C</a:t>
            </a:r>
            <a:r>
              <a:rPr lang="en-US" sz="2000" baseline="-25000"/>
              <a:t>1</a:t>
            </a:r>
            <a:r>
              <a:rPr lang="en-US" sz="2000"/>
              <a:t> n ≤ f(n), where C</a:t>
            </a:r>
            <a:r>
              <a:rPr lang="en-US" sz="2000" baseline="-25000"/>
              <a:t>1</a:t>
            </a:r>
            <a:r>
              <a:rPr lang="en-US" sz="2000"/>
              <a:t> = 3</a:t>
            </a:r>
            <a:endParaRPr/>
          </a:p>
          <a:p>
            <a:pPr marL="0" lvl="0" indent="0" algn="l" rtl="0">
              <a:lnSpc>
                <a:spcPct val="100000"/>
              </a:lnSpc>
              <a:spcBef>
                <a:spcPts val="0"/>
              </a:spcBef>
              <a:spcAft>
                <a:spcPts val="0"/>
              </a:spcAft>
              <a:buSzPct val="100000"/>
              <a:buNone/>
            </a:pPr>
            <a:endParaRPr sz="1100"/>
          </a:p>
          <a:p>
            <a:pPr marL="228600" lvl="0" indent="-228600" algn="l" rtl="0">
              <a:lnSpc>
                <a:spcPct val="100000"/>
              </a:lnSpc>
              <a:spcBef>
                <a:spcPts val="0"/>
              </a:spcBef>
              <a:spcAft>
                <a:spcPts val="0"/>
              </a:spcAft>
              <a:buSzPct val="100000"/>
              <a:buChar char="•"/>
            </a:pPr>
            <a:r>
              <a:rPr lang="en-US" sz="2000"/>
              <a:t>similarly, f(n) = 3n + 5</a:t>
            </a:r>
            <a:endParaRPr/>
          </a:p>
          <a:p>
            <a:pPr marL="0" lvl="0" indent="0" algn="l" rtl="0">
              <a:lnSpc>
                <a:spcPct val="100000"/>
              </a:lnSpc>
              <a:spcBef>
                <a:spcPts val="0"/>
              </a:spcBef>
              <a:spcAft>
                <a:spcPts val="0"/>
              </a:spcAft>
              <a:buSzPct val="100000"/>
              <a:buNone/>
            </a:pPr>
            <a:r>
              <a:rPr lang="en-US" sz="2000"/>
              <a:t>		       ≤ 3n + n , where n ≥ 5</a:t>
            </a:r>
            <a:endParaRPr/>
          </a:p>
          <a:p>
            <a:pPr marL="0" lvl="0" indent="0" algn="l" rtl="0">
              <a:lnSpc>
                <a:spcPct val="100000"/>
              </a:lnSpc>
              <a:spcBef>
                <a:spcPts val="0"/>
              </a:spcBef>
              <a:spcAft>
                <a:spcPts val="0"/>
              </a:spcAft>
              <a:buSzPct val="100000"/>
              <a:buNone/>
            </a:pPr>
            <a:r>
              <a:rPr lang="en-US" sz="2000"/>
              <a:t>		       ≤ 4n</a:t>
            </a:r>
            <a:endParaRPr/>
          </a:p>
          <a:p>
            <a:pPr marL="0" lvl="0" indent="0" algn="l" rtl="0">
              <a:lnSpc>
                <a:spcPct val="100000"/>
              </a:lnSpc>
              <a:spcBef>
                <a:spcPts val="0"/>
              </a:spcBef>
              <a:spcAft>
                <a:spcPts val="0"/>
              </a:spcAft>
              <a:buSzPct val="100000"/>
              <a:buNone/>
            </a:pPr>
            <a:r>
              <a:rPr lang="en-US" sz="2000"/>
              <a:t>		       ≤ C</a:t>
            </a:r>
            <a:r>
              <a:rPr lang="en-US" sz="2000" baseline="-25000"/>
              <a:t>2</a:t>
            </a:r>
            <a:r>
              <a:rPr lang="en-US" sz="2000"/>
              <a:t> g(n) , where C</a:t>
            </a:r>
            <a:r>
              <a:rPr lang="en-US" sz="2000" baseline="-25000"/>
              <a:t>2</a:t>
            </a:r>
            <a:r>
              <a:rPr lang="en-US" sz="2000"/>
              <a:t>=4 </a:t>
            </a:r>
            <a:endParaRPr/>
          </a:p>
          <a:p>
            <a:pPr marL="0" lvl="0" indent="0" algn="l" rtl="0">
              <a:lnSpc>
                <a:spcPct val="100000"/>
              </a:lnSpc>
              <a:spcBef>
                <a:spcPts val="0"/>
              </a:spcBef>
              <a:spcAft>
                <a:spcPts val="0"/>
              </a:spcAft>
              <a:buSzPct val="100000"/>
              <a:buNone/>
            </a:pPr>
            <a:endParaRPr sz="1200"/>
          </a:p>
          <a:p>
            <a:pPr marL="228600" lvl="0" indent="-228600" algn="l" rtl="0">
              <a:lnSpc>
                <a:spcPct val="100000"/>
              </a:lnSpc>
              <a:spcBef>
                <a:spcPts val="0"/>
              </a:spcBef>
              <a:spcAft>
                <a:spcPts val="0"/>
              </a:spcAft>
              <a:buSzPct val="100000"/>
              <a:buChar char="•"/>
            </a:pPr>
            <a:r>
              <a:rPr lang="en-US" sz="2200"/>
              <a:t>Hence, f(n) = 3n + 5 is </a:t>
            </a:r>
            <a:r>
              <a:rPr lang="en-US" sz="2400"/>
              <a:t>ϴ</a:t>
            </a:r>
            <a:r>
              <a:rPr lang="en-US" sz="2200"/>
              <a:t>(n) is proved.	</a:t>
            </a:r>
            <a:endParaRPr/>
          </a:p>
          <a:p>
            <a:pPr marL="228600" lvl="0" indent="-228600" algn="l" rtl="0">
              <a:lnSpc>
                <a:spcPct val="100000"/>
              </a:lnSpc>
              <a:spcBef>
                <a:spcPts val="0"/>
              </a:spcBef>
              <a:spcAft>
                <a:spcPts val="0"/>
              </a:spcAft>
              <a:buSzPct val="100000"/>
              <a:buChar char="•"/>
            </a:pPr>
            <a:r>
              <a:rPr lang="en-US" sz="2200"/>
              <a:t>Similarly, Prove for the followings:</a:t>
            </a:r>
            <a:endParaRPr/>
          </a:p>
          <a:p>
            <a:pPr marL="457200" lvl="1" indent="-228600" algn="l" rtl="0">
              <a:lnSpc>
                <a:spcPct val="100000"/>
              </a:lnSpc>
              <a:spcBef>
                <a:spcPts val="0"/>
              </a:spcBef>
              <a:spcAft>
                <a:spcPts val="0"/>
              </a:spcAft>
              <a:buSzPct val="100000"/>
              <a:buChar char="•"/>
            </a:pPr>
            <a:r>
              <a:rPr lang="en-US" sz="2000"/>
              <a:t>f(n) = 27n</a:t>
            </a:r>
            <a:r>
              <a:rPr lang="en-US" sz="2000" baseline="30000"/>
              <a:t>2</a:t>
            </a:r>
            <a:r>
              <a:rPr lang="en-US" sz="2000"/>
              <a:t> + 16n is ϴ(n</a:t>
            </a:r>
            <a:r>
              <a:rPr lang="en-US" sz="2000" baseline="30000"/>
              <a:t>2</a:t>
            </a:r>
            <a:r>
              <a:rPr lang="en-US" sz="2000"/>
              <a:t>).</a:t>
            </a:r>
            <a:endParaRPr/>
          </a:p>
          <a:p>
            <a:pPr marL="457200" lvl="1" indent="-228600" algn="l" rtl="0">
              <a:lnSpc>
                <a:spcPct val="100000"/>
              </a:lnSpc>
              <a:spcBef>
                <a:spcPts val="0"/>
              </a:spcBef>
              <a:spcAft>
                <a:spcPts val="0"/>
              </a:spcAft>
              <a:buSzPct val="100000"/>
              <a:buChar char="•"/>
            </a:pPr>
            <a:r>
              <a:rPr lang="en-US" sz="2000"/>
              <a:t>f(n) = 2n</a:t>
            </a:r>
            <a:r>
              <a:rPr lang="en-US" sz="2000" baseline="30000"/>
              <a:t>3</a:t>
            </a:r>
            <a:r>
              <a:rPr lang="en-US" sz="2000"/>
              <a:t> + n</a:t>
            </a:r>
            <a:r>
              <a:rPr lang="en-US" sz="2000" baseline="30000"/>
              <a:t>2 </a:t>
            </a:r>
            <a:r>
              <a:rPr lang="en-US" sz="2000"/>
              <a:t>+ 2n is ϴ(n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4n</a:t>
            </a:r>
            <a:r>
              <a:rPr lang="en-US" sz="2000" baseline="30000"/>
              <a:t>3</a:t>
            </a:r>
            <a:r>
              <a:rPr lang="en-US" sz="2000"/>
              <a:t> + 2n + 3 is ϴ(n</a:t>
            </a:r>
            <a:r>
              <a:rPr lang="en-US" sz="2000" baseline="30000"/>
              <a:t>3</a:t>
            </a:r>
            <a:r>
              <a:rPr lang="en-US" sz="2000"/>
              <a:t>).</a:t>
            </a:r>
            <a:endParaRPr/>
          </a:p>
          <a:p>
            <a:pPr marL="457200" lvl="1" indent="-228600" algn="l" rtl="0">
              <a:lnSpc>
                <a:spcPct val="100000"/>
              </a:lnSpc>
              <a:spcBef>
                <a:spcPts val="0"/>
              </a:spcBef>
              <a:spcAft>
                <a:spcPts val="0"/>
              </a:spcAft>
              <a:buSzPct val="100000"/>
              <a:buChar char="•"/>
            </a:pPr>
            <a:r>
              <a:rPr lang="en-US" sz="2000"/>
              <a:t>f(n) = 2</a:t>
            </a:r>
            <a:r>
              <a:rPr lang="en-US" sz="2000" baseline="30000"/>
              <a:t>n</a:t>
            </a:r>
            <a:r>
              <a:rPr lang="en-US" sz="2000"/>
              <a:t> + 6n</a:t>
            </a:r>
            <a:r>
              <a:rPr lang="en-US" sz="2000" baseline="30000"/>
              <a:t>2 </a:t>
            </a:r>
            <a:r>
              <a:rPr lang="en-US" sz="2000"/>
              <a:t>+ 3n is ϴ(2</a:t>
            </a:r>
            <a:r>
              <a:rPr lang="en-US" sz="2000" baseline="30000"/>
              <a:t>n</a:t>
            </a:r>
            <a:r>
              <a:rPr lang="en-US" sz="2000"/>
              <a:t>).</a:t>
            </a:r>
            <a:endParaRPr/>
          </a:p>
        </p:txBody>
      </p:sp>
      <p:sp>
        <p:nvSpPr>
          <p:cNvPr id="374" name="Google Shape;374;p3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66</a:t>
            </a:fld>
            <a:endParaRPr/>
          </a:p>
        </p:txBody>
      </p:sp>
    </p:spTree>
    <p:extLst>
      <p:ext uri="{BB962C8B-B14F-4D97-AF65-F5344CB8AC3E}">
        <p14:creationId xmlns:p14="http://schemas.microsoft.com/office/powerpoint/2010/main" val="19317958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DESIGN TECHNIQUE FOR ALGORITHMS</a:t>
            </a:r>
            <a:endParaRPr/>
          </a:p>
        </p:txBody>
      </p:sp>
      <p:sp>
        <p:nvSpPr>
          <p:cNvPr id="380" name="Google Shape;380;p38"/>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SzPts val="1800"/>
              <a:buChar char="•"/>
            </a:pPr>
            <a:r>
              <a:rPr lang="en-US"/>
              <a:t>Iterative Algorithm</a:t>
            </a:r>
            <a:endParaRPr/>
          </a:p>
          <a:p>
            <a:pPr marL="228600" lvl="0" indent="-228600" algn="l" rtl="0">
              <a:lnSpc>
                <a:spcPct val="100000"/>
              </a:lnSpc>
              <a:spcBef>
                <a:spcPts val="1000"/>
              </a:spcBef>
              <a:spcAft>
                <a:spcPts val="0"/>
              </a:spcAft>
              <a:buSzPts val="1800"/>
              <a:buChar char="•"/>
            </a:pPr>
            <a:r>
              <a:rPr lang="en-US"/>
              <a:t>Divide and Conquer</a:t>
            </a:r>
            <a:endParaRPr/>
          </a:p>
          <a:p>
            <a:pPr marL="228600" lvl="0" indent="-228600" algn="l" rtl="0">
              <a:lnSpc>
                <a:spcPct val="100000"/>
              </a:lnSpc>
              <a:spcBef>
                <a:spcPts val="1000"/>
              </a:spcBef>
              <a:spcAft>
                <a:spcPts val="0"/>
              </a:spcAft>
              <a:buSzPts val="1800"/>
              <a:buChar char="•"/>
            </a:pPr>
            <a:r>
              <a:rPr lang="en-US"/>
              <a:t>Greedy Technique</a:t>
            </a:r>
            <a:endParaRPr/>
          </a:p>
          <a:p>
            <a:pPr marL="228600" lvl="0" indent="-228600" algn="l" rtl="0">
              <a:lnSpc>
                <a:spcPct val="100000"/>
              </a:lnSpc>
              <a:spcBef>
                <a:spcPts val="1000"/>
              </a:spcBef>
              <a:spcAft>
                <a:spcPts val="0"/>
              </a:spcAft>
              <a:buSzPts val="1800"/>
              <a:buChar char="•"/>
            </a:pPr>
            <a:r>
              <a:rPr lang="en-US"/>
              <a:t>Dynamic Programming</a:t>
            </a:r>
            <a:endParaRPr/>
          </a:p>
          <a:p>
            <a:pPr marL="228600" lvl="0" indent="-228600" algn="l" rtl="0">
              <a:lnSpc>
                <a:spcPct val="100000"/>
              </a:lnSpc>
              <a:spcBef>
                <a:spcPts val="1000"/>
              </a:spcBef>
              <a:spcAft>
                <a:spcPts val="0"/>
              </a:spcAft>
              <a:buSzPts val="1800"/>
              <a:buChar char="•"/>
            </a:pPr>
            <a:r>
              <a:rPr lang="en-US"/>
              <a:t>Branch and Bound</a:t>
            </a:r>
            <a:endParaRPr/>
          </a:p>
          <a:p>
            <a:pPr marL="228600" lvl="0" indent="-228600" algn="l" rtl="0">
              <a:lnSpc>
                <a:spcPct val="100000"/>
              </a:lnSpc>
              <a:spcBef>
                <a:spcPts val="1000"/>
              </a:spcBef>
              <a:spcAft>
                <a:spcPts val="0"/>
              </a:spcAft>
              <a:buSzPts val="1800"/>
              <a:buChar char="•"/>
            </a:pPr>
            <a:r>
              <a:rPr lang="en-US"/>
              <a:t>Randomized Algorithm</a:t>
            </a:r>
            <a:endParaRPr/>
          </a:p>
          <a:p>
            <a:pPr marL="228600" lvl="0" indent="-228600" algn="l" rtl="0">
              <a:lnSpc>
                <a:spcPct val="100000"/>
              </a:lnSpc>
              <a:spcBef>
                <a:spcPts val="1000"/>
              </a:spcBef>
              <a:spcAft>
                <a:spcPts val="0"/>
              </a:spcAft>
              <a:buSzPts val="1800"/>
              <a:buChar char="•"/>
            </a:pPr>
            <a:r>
              <a:rPr lang="en-US"/>
              <a:t>Backtracking Algorithm</a:t>
            </a:r>
            <a:endParaRPr/>
          </a:p>
          <a:p>
            <a:pPr marL="228600" lvl="0" indent="-228600" algn="l" rtl="0">
              <a:lnSpc>
                <a:spcPct val="100000"/>
              </a:lnSpc>
              <a:spcBef>
                <a:spcPts val="1000"/>
              </a:spcBef>
              <a:spcAft>
                <a:spcPts val="0"/>
              </a:spcAft>
              <a:buSzPts val="1800"/>
              <a:buChar char="•"/>
            </a:pPr>
            <a:r>
              <a:rPr lang="en-US"/>
              <a:t>Approximation Algorithm</a:t>
            </a:r>
            <a:endParaRPr/>
          </a:p>
        </p:txBody>
      </p:sp>
      <p:sp>
        <p:nvSpPr>
          <p:cNvPr id="381" name="Google Shape;381;p3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67</a:t>
            </a:fld>
            <a:endParaRPr/>
          </a:p>
        </p:txBody>
      </p:sp>
    </p:spTree>
    <p:extLst>
      <p:ext uri="{BB962C8B-B14F-4D97-AF65-F5344CB8AC3E}">
        <p14:creationId xmlns:p14="http://schemas.microsoft.com/office/powerpoint/2010/main" val="29608166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9"/>
          <p:cNvSpPr txBox="1">
            <a:spLocks noGrp="1"/>
          </p:cNvSpPr>
          <p:nvPr>
            <p:ph type="ctrTitle"/>
          </p:nvPr>
        </p:nvSpPr>
        <p:spPr>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p>
            <a:pPr marL="0" lvl="0" indent="0" algn="ctr" rtl="0">
              <a:lnSpc>
                <a:spcPct val="90000"/>
              </a:lnSpc>
              <a:spcBef>
                <a:spcPts val="0"/>
              </a:spcBef>
              <a:spcAft>
                <a:spcPts val="0"/>
              </a:spcAft>
              <a:buClr>
                <a:srgbClr val="262626"/>
              </a:buClr>
              <a:buSzPts val="3800"/>
              <a:buFont typeface="Bookman Old Style"/>
              <a:buNone/>
            </a:pPr>
            <a:r>
              <a:rPr lang="en-US"/>
              <a:t>SOLVING LINEAR </a:t>
            </a:r>
            <a:br>
              <a:rPr lang="en-US"/>
            </a:br>
            <a:r>
              <a:rPr lang="en-US"/>
              <a:t>RECURRENCE RELATIONS </a:t>
            </a:r>
            <a:endParaRPr/>
          </a:p>
        </p:txBody>
      </p:sp>
      <p:sp>
        <p:nvSpPr>
          <p:cNvPr id="387" name="Google Shape;387;p39"/>
          <p:cNvSpPr>
            <a:spLocks noGrp="1"/>
          </p:cNvSpPr>
          <p:nvPr>
            <p:ph type="sldNum" idx="12"/>
          </p:nvPr>
        </p:nvSpPr>
        <p:spPr>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9325929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RECURRENCE RELATION</a:t>
            </a:r>
            <a:endParaRPr/>
          </a:p>
        </p:txBody>
      </p:sp>
      <p:sp>
        <p:nvSpPr>
          <p:cNvPr id="394" name="Google Shape;394;p40"/>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1800"/>
              <a:buChar char="•"/>
            </a:pPr>
            <a:r>
              <a:rPr lang="en-US"/>
              <a:t>A recurrence is an equation or inequality that describes a function in terms of its values on smaller inputs.</a:t>
            </a:r>
            <a:endParaRPr/>
          </a:p>
          <a:p>
            <a:pPr marL="228600" lvl="0" indent="-228600" algn="just" rtl="0">
              <a:lnSpc>
                <a:spcPct val="100000"/>
              </a:lnSpc>
              <a:spcBef>
                <a:spcPts val="1000"/>
              </a:spcBef>
              <a:spcAft>
                <a:spcPts val="0"/>
              </a:spcAft>
              <a:buSzPts val="1800"/>
              <a:buChar char="•"/>
            </a:pPr>
            <a:r>
              <a:rPr lang="en-US"/>
              <a:t>Running time of recursive algorithms can be obtained by solving recurrence.</a:t>
            </a:r>
            <a:endParaRPr/>
          </a:p>
        </p:txBody>
      </p:sp>
      <p:sp>
        <p:nvSpPr>
          <p:cNvPr id="395" name="Google Shape;395;p40"/>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69</a:t>
            </a:fld>
            <a:endParaRPr/>
          </a:p>
        </p:txBody>
      </p:sp>
    </p:spTree>
    <p:extLst>
      <p:ext uri="{BB962C8B-B14F-4D97-AF65-F5344CB8AC3E}">
        <p14:creationId xmlns:p14="http://schemas.microsoft.com/office/powerpoint/2010/main" val="34293145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LINEAR HOMOGENEOUS RECURRENCES</a:t>
            </a:r>
            <a:endParaRPr/>
          </a:p>
        </p:txBody>
      </p:sp>
      <p:pic>
        <p:nvPicPr>
          <p:cNvPr id="401" name="Google Shape;401;p42"/>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02" name="Google Shape;402;p4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39215863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3"/>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LINEAR HOMOGENEOUS RECURRENCES</a:t>
            </a:r>
            <a:endParaRPr/>
          </a:p>
        </p:txBody>
      </p:sp>
      <p:pic>
        <p:nvPicPr>
          <p:cNvPr id="408" name="Google Shape;408;p43"/>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09" name="Google Shape;409;p43"/>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16005432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4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STEPS</a:t>
            </a:r>
            <a:endParaRPr/>
          </a:p>
        </p:txBody>
      </p:sp>
      <p:pic>
        <p:nvPicPr>
          <p:cNvPr id="415" name="Google Shape;415;p44"/>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16" name="Google Shape;416;p4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33555952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STEPS</a:t>
            </a:r>
            <a:endParaRPr/>
          </a:p>
        </p:txBody>
      </p:sp>
      <p:sp>
        <p:nvSpPr>
          <p:cNvPr id="422" name="Google Shape;422;p4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For roots, we have two possibilities.</a:t>
            </a:r>
            <a:endParaRPr/>
          </a:p>
        </p:txBody>
      </p:sp>
      <p:sp>
        <p:nvSpPr>
          <p:cNvPr id="423" name="Google Shape;423;p4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73</a:t>
            </a:fld>
            <a:endParaRPr/>
          </a:p>
        </p:txBody>
      </p:sp>
      <p:pic>
        <p:nvPicPr>
          <p:cNvPr id="424" name="Google Shape;424;p45"/>
          <p:cNvPicPr preferRelativeResize="0"/>
          <p:nvPr/>
        </p:nvPicPr>
        <p:blipFill rotWithShape="1">
          <a:blip r:embed="rId3">
            <a:alphaModFix/>
          </a:blip>
          <a:srcRect/>
          <a:stretch/>
        </p:blipFill>
        <p:spPr>
          <a:xfrm>
            <a:off x="2526890" y="2995833"/>
            <a:ext cx="7583129" cy="3200919"/>
          </a:xfrm>
          <a:prstGeom prst="rect">
            <a:avLst/>
          </a:prstGeom>
          <a:noFill/>
          <a:ln>
            <a:noFill/>
          </a:ln>
        </p:spPr>
      </p:pic>
    </p:spTree>
    <p:extLst>
      <p:ext uri="{BB962C8B-B14F-4D97-AF65-F5344CB8AC3E}">
        <p14:creationId xmlns:p14="http://schemas.microsoft.com/office/powerpoint/2010/main" val="33010645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STEPS</a:t>
            </a:r>
            <a:endParaRPr/>
          </a:p>
        </p:txBody>
      </p:sp>
      <p:pic>
        <p:nvPicPr>
          <p:cNvPr id="430" name="Google Shape;430;p46"/>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31" name="Google Shape;431;p4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22021282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EXAMPLE 1</a:t>
            </a:r>
            <a:endParaRPr/>
          </a:p>
        </p:txBody>
      </p:sp>
      <p:sp>
        <p:nvSpPr>
          <p:cNvPr id="437" name="Google Shape;437;p47"/>
          <p:cNvSpPr txBox="1">
            <a:spLocks noGrp="1"/>
          </p:cNvSpPr>
          <p:nvPr>
            <p:ph type="body" idx="1"/>
          </p:nvPr>
        </p:nvSpPr>
        <p:spPr>
          <a:xfrm>
            <a:off x="2231136" y="2638044"/>
            <a:ext cx="7729728" cy="3101983"/>
          </a:xfrm>
          <a:prstGeom prst="rect">
            <a:avLst/>
          </a:prstGeom>
          <a:blipFill rotWithShape="1">
            <a:blip r:embed="rId3">
              <a:alphaModFix/>
            </a:blip>
            <a:stretch>
              <a:fillRect/>
            </a:stretch>
          </a:blip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 </a:t>
            </a:r>
            <a:endParaRPr/>
          </a:p>
        </p:txBody>
      </p:sp>
      <p:sp>
        <p:nvSpPr>
          <p:cNvPr id="438" name="Google Shape;438;p4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75</a:t>
            </a:fld>
            <a:endParaRPr/>
          </a:p>
        </p:txBody>
      </p:sp>
    </p:spTree>
    <p:extLst>
      <p:ext uri="{BB962C8B-B14F-4D97-AF65-F5344CB8AC3E}">
        <p14:creationId xmlns:p14="http://schemas.microsoft.com/office/powerpoint/2010/main" val="28318794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4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EXAMPLE</a:t>
            </a:r>
            <a:endParaRPr/>
          </a:p>
        </p:txBody>
      </p:sp>
      <p:pic>
        <p:nvPicPr>
          <p:cNvPr id="444" name="Google Shape;444;p48"/>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45" name="Google Shape;445;p4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76</a:t>
            </a:fld>
            <a:endParaRPr/>
          </a:p>
        </p:txBody>
      </p:sp>
      <p:pic>
        <p:nvPicPr>
          <p:cNvPr id="446" name="Google Shape;446;p48"/>
          <p:cNvPicPr preferRelativeResize="0"/>
          <p:nvPr/>
        </p:nvPicPr>
        <p:blipFill rotWithShape="1">
          <a:blip r:embed="rId4">
            <a:alphaModFix/>
          </a:blip>
          <a:srcRect/>
          <a:stretch/>
        </p:blipFill>
        <p:spPr>
          <a:xfrm>
            <a:off x="3346852" y="4382237"/>
            <a:ext cx="5498296" cy="1721091"/>
          </a:xfrm>
          <a:prstGeom prst="rect">
            <a:avLst/>
          </a:prstGeom>
          <a:noFill/>
          <a:ln>
            <a:noFill/>
          </a:ln>
        </p:spPr>
      </p:pic>
    </p:spTree>
    <p:extLst>
      <p:ext uri="{BB962C8B-B14F-4D97-AF65-F5344CB8AC3E}">
        <p14:creationId xmlns:p14="http://schemas.microsoft.com/office/powerpoint/2010/main" val="12367024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LINEAR RECURRENCES</a:t>
            </a:r>
            <a:endParaRPr/>
          </a:p>
        </p:txBody>
      </p:sp>
      <p:sp>
        <p:nvSpPr>
          <p:cNvPr id="452" name="Google Shape;452;p41"/>
          <p:cNvSpPr txBox="1">
            <a:spLocks noGrp="1"/>
          </p:cNvSpPr>
          <p:nvPr>
            <p:ph type="body" idx="1"/>
          </p:nvPr>
        </p:nvSpPr>
        <p:spPr>
          <a:xfrm>
            <a:off x="2231136" y="2638044"/>
            <a:ext cx="7729728" cy="3101983"/>
          </a:xfrm>
          <a:prstGeom prst="rect">
            <a:avLst/>
          </a:prstGeom>
          <a:blipFill rotWithShape="1">
            <a:blip r:embed="rId3">
              <a:alphaModFix/>
            </a:blip>
            <a:stretch>
              <a:fillRect l="-390" t="-1370"/>
            </a:stretch>
          </a:blip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 </a:t>
            </a:r>
            <a:endParaRPr/>
          </a:p>
        </p:txBody>
      </p:sp>
      <p:sp>
        <p:nvSpPr>
          <p:cNvPr id="453" name="Google Shape;453;p41"/>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77</a:t>
            </a:fld>
            <a:endParaRPr/>
          </a:p>
        </p:txBody>
      </p:sp>
    </p:spTree>
    <p:extLst>
      <p:ext uri="{BB962C8B-B14F-4D97-AF65-F5344CB8AC3E}">
        <p14:creationId xmlns:p14="http://schemas.microsoft.com/office/powerpoint/2010/main" val="36775747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9"/>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INHOMOGENEOUS RECURRENCE </a:t>
            </a:r>
            <a:endParaRPr/>
          </a:p>
        </p:txBody>
      </p:sp>
      <p:pic>
        <p:nvPicPr>
          <p:cNvPr id="459" name="Google Shape;459;p49"/>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60" name="Google Shape;460;p4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11703897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5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STEPS</a:t>
            </a:r>
            <a:endParaRPr/>
          </a:p>
        </p:txBody>
      </p:sp>
      <p:pic>
        <p:nvPicPr>
          <p:cNvPr id="466" name="Google Shape;466;p50"/>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67" name="Google Shape;467;p50"/>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2286670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5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STEPS</a:t>
            </a:r>
            <a:endParaRPr/>
          </a:p>
        </p:txBody>
      </p:sp>
      <p:sp>
        <p:nvSpPr>
          <p:cNvPr id="473" name="Google Shape;473;p51"/>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Solve characteristic equation and find roots.</a:t>
            </a:r>
            <a:endParaRPr/>
          </a:p>
        </p:txBody>
      </p:sp>
      <p:sp>
        <p:nvSpPr>
          <p:cNvPr id="474" name="Google Shape;474;p51"/>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80</a:t>
            </a:fld>
            <a:endParaRPr/>
          </a:p>
        </p:txBody>
      </p:sp>
      <p:pic>
        <p:nvPicPr>
          <p:cNvPr id="475" name="Google Shape;475;p51"/>
          <p:cNvPicPr preferRelativeResize="0"/>
          <p:nvPr/>
        </p:nvPicPr>
        <p:blipFill rotWithShape="1">
          <a:blip r:embed="rId3">
            <a:alphaModFix/>
          </a:blip>
          <a:srcRect/>
          <a:stretch/>
        </p:blipFill>
        <p:spPr>
          <a:xfrm>
            <a:off x="2526890" y="2927008"/>
            <a:ext cx="7583129" cy="3200919"/>
          </a:xfrm>
          <a:prstGeom prst="rect">
            <a:avLst/>
          </a:prstGeom>
          <a:noFill/>
          <a:ln>
            <a:noFill/>
          </a:ln>
        </p:spPr>
      </p:pic>
    </p:spTree>
    <p:extLst>
      <p:ext uri="{BB962C8B-B14F-4D97-AF65-F5344CB8AC3E}">
        <p14:creationId xmlns:p14="http://schemas.microsoft.com/office/powerpoint/2010/main" val="30058720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STEPS</a:t>
            </a:r>
            <a:endParaRPr/>
          </a:p>
        </p:txBody>
      </p:sp>
      <p:sp>
        <p:nvSpPr>
          <p:cNvPr id="481" name="Google Shape;481;p52"/>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81</a:t>
            </a:fld>
            <a:endParaRPr/>
          </a:p>
        </p:txBody>
      </p:sp>
      <p:pic>
        <p:nvPicPr>
          <p:cNvPr id="482" name="Google Shape;482;p52"/>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Tree>
    <p:extLst>
      <p:ext uri="{BB962C8B-B14F-4D97-AF65-F5344CB8AC3E}">
        <p14:creationId xmlns:p14="http://schemas.microsoft.com/office/powerpoint/2010/main" val="37330743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3"/>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EXAMPLE</a:t>
            </a:r>
            <a:endParaRPr/>
          </a:p>
        </p:txBody>
      </p:sp>
      <p:pic>
        <p:nvPicPr>
          <p:cNvPr id="488" name="Google Shape;488;p53"/>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89" name="Google Shape;489;p53"/>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82</a:t>
            </a:fld>
            <a:endParaRPr/>
          </a:p>
        </p:txBody>
      </p:sp>
      <p:pic>
        <p:nvPicPr>
          <p:cNvPr id="490" name="Google Shape;490;p53"/>
          <p:cNvPicPr preferRelativeResize="0"/>
          <p:nvPr/>
        </p:nvPicPr>
        <p:blipFill rotWithShape="1">
          <a:blip r:embed="rId4">
            <a:alphaModFix/>
          </a:blip>
          <a:srcRect r="12076"/>
          <a:stretch/>
        </p:blipFill>
        <p:spPr>
          <a:xfrm>
            <a:off x="2231137" y="4179292"/>
            <a:ext cx="7729728" cy="1591936"/>
          </a:xfrm>
          <a:prstGeom prst="rect">
            <a:avLst/>
          </a:prstGeom>
          <a:noFill/>
          <a:ln>
            <a:noFill/>
          </a:ln>
        </p:spPr>
      </p:pic>
    </p:spTree>
    <p:extLst>
      <p:ext uri="{BB962C8B-B14F-4D97-AF65-F5344CB8AC3E}">
        <p14:creationId xmlns:p14="http://schemas.microsoft.com/office/powerpoint/2010/main" val="13857523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EXAMPLE</a:t>
            </a:r>
            <a:endParaRPr/>
          </a:p>
        </p:txBody>
      </p:sp>
      <p:pic>
        <p:nvPicPr>
          <p:cNvPr id="496" name="Google Shape;496;p54"/>
          <p:cNvPicPr preferRelativeResize="0">
            <a:picLocks noGrp="1"/>
          </p:cNvPicPr>
          <p:nvPr>
            <p:ph type="body" idx="1"/>
          </p:nvPr>
        </p:nvPicPr>
        <p:blipFill rotWithShape="1">
          <a:blip r:embed="rId3">
            <a:alphaModFix/>
          </a:blip>
          <a:srcRect/>
          <a:stretch/>
        </p:blipFill>
        <p:spPr>
          <a:xfrm>
            <a:off x="2231136" y="2638044"/>
            <a:ext cx="7729800" cy="3102000"/>
          </a:xfrm>
          <a:prstGeom prst="rect">
            <a:avLst/>
          </a:prstGeom>
          <a:noFill/>
          <a:ln>
            <a:noFill/>
          </a:ln>
        </p:spPr>
      </p:pic>
      <p:sp>
        <p:nvSpPr>
          <p:cNvPr id="497" name="Google Shape;497;p54"/>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39728530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MASTER METHOD</a:t>
            </a:r>
            <a:endParaRPr/>
          </a:p>
        </p:txBody>
      </p:sp>
      <p:sp>
        <p:nvSpPr>
          <p:cNvPr id="503" name="Google Shape;503;p55"/>
          <p:cNvSpPr txBox="1">
            <a:spLocks noGrp="1"/>
          </p:cNvSpPr>
          <p:nvPr>
            <p:ph type="body" idx="1"/>
          </p:nvPr>
        </p:nvSpPr>
        <p:spPr>
          <a:xfrm>
            <a:off x="2231136" y="2638044"/>
            <a:ext cx="7729728" cy="3101983"/>
          </a:xfrm>
          <a:prstGeom prst="rect">
            <a:avLst/>
          </a:prstGeom>
          <a:blipFill rotWithShape="1">
            <a:blip r:embed="rId3">
              <a:alphaModFix/>
            </a:blip>
            <a:stretch>
              <a:fillRect l="-469"/>
            </a:stretch>
          </a:blip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 </a:t>
            </a:r>
            <a:endParaRPr/>
          </a:p>
        </p:txBody>
      </p:sp>
      <p:sp>
        <p:nvSpPr>
          <p:cNvPr id="504" name="Google Shape;504;p55"/>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84</a:t>
            </a:fld>
            <a:endParaRPr/>
          </a:p>
        </p:txBody>
      </p:sp>
      <p:pic>
        <p:nvPicPr>
          <p:cNvPr id="505" name="Google Shape;505;p55"/>
          <p:cNvPicPr preferRelativeResize="0"/>
          <p:nvPr/>
        </p:nvPicPr>
        <p:blipFill rotWithShape="1">
          <a:blip r:embed="rId4">
            <a:alphaModFix/>
          </a:blip>
          <a:srcRect t="32358"/>
          <a:stretch/>
        </p:blipFill>
        <p:spPr>
          <a:xfrm>
            <a:off x="2513064" y="4041058"/>
            <a:ext cx="6457950" cy="1945756"/>
          </a:xfrm>
          <a:prstGeom prst="rect">
            <a:avLst/>
          </a:prstGeom>
          <a:noFill/>
          <a:ln>
            <a:noFill/>
          </a:ln>
        </p:spPr>
      </p:pic>
    </p:spTree>
    <p:extLst>
      <p:ext uri="{BB962C8B-B14F-4D97-AF65-F5344CB8AC3E}">
        <p14:creationId xmlns:p14="http://schemas.microsoft.com/office/powerpoint/2010/main" val="27175817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EXAMPLE</a:t>
            </a:r>
            <a:endParaRPr/>
          </a:p>
        </p:txBody>
      </p:sp>
      <p:sp>
        <p:nvSpPr>
          <p:cNvPr id="511" name="Google Shape;511;p56"/>
          <p:cNvSpPr txBox="1">
            <a:spLocks noGrp="1"/>
          </p:cNvSpPr>
          <p:nvPr>
            <p:ph type="body" idx="1"/>
          </p:nvPr>
        </p:nvSpPr>
        <p:spPr>
          <a:xfrm>
            <a:off x="1581912" y="2638044"/>
            <a:ext cx="4271771" cy="3101982"/>
          </a:xfrm>
          <a:prstGeom prst="rect">
            <a:avLst/>
          </a:prstGeom>
          <a:blipFill rotWithShape="1">
            <a:blip r:embed="rId3">
              <a:alphaModFix/>
            </a:blip>
            <a:stretch>
              <a:fillRect l="-1140"/>
            </a:stretch>
          </a:blip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 </a:t>
            </a:r>
            <a:endParaRPr/>
          </a:p>
        </p:txBody>
      </p:sp>
      <p:sp>
        <p:nvSpPr>
          <p:cNvPr id="512" name="Google Shape;512;p56"/>
          <p:cNvSpPr txBox="1">
            <a:spLocks noGrp="1"/>
          </p:cNvSpPr>
          <p:nvPr>
            <p:ph type="body" idx="2"/>
          </p:nvPr>
        </p:nvSpPr>
        <p:spPr>
          <a:xfrm>
            <a:off x="6338315" y="2638044"/>
            <a:ext cx="4270247" cy="3101982"/>
          </a:xfrm>
          <a:prstGeom prst="rect">
            <a:avLst/>
          </a:prstGeom>
          <a:blipFill rotWithShape="1">
            <a:blip r:embed="rId4">
              <a:alphaModFix/>
            </a:blip>
            <a:stretch>
              <a:fillRect l="-1140"/>
            </a:stretch>
          </a:blip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 </a:t>
            </a:r>
            <a:endParaRPr/>
          </a:p>
        </p:txBody>
      </p:sp>
      <p:sp>
        <p:nvSpPr>
          <p:cNvPr id="513" name="Google Shape;513;p56"/>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85</a:t>
            </a:fld>
            <a:endParaRPr/>
          </a:p>
        </p:txBody>
      </p:sp>
    </p:spTree>
    <p:extLst>
      <p:ext uri="{BB962C8B-B14F-4D97-AF65-F5344CB8AC3E}">
        <p14:creationId xmlns:p14="http://schemas.microsoft.com/office/powerpoint/2010/main" val="27258488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7"/>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RECURSION TREE</a:t>
            </a:r>
            <a:endParaRPr/>
          </a:p>
        </p:txBody>
      </p:sp>
      <p:sp>
        <p:nvSpPr>
          <p:cNvPr id="519" name="Google Shape;519;p57"/>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b="1"/>
              <a:t>Steps to solve recurrence relation using recursion tree method:</a:t>
            </a:r>
            <a:endParaRPr/>
          </a:p>
          <a:p>
            <a:pPr marL="571500" lvl="1" indent="-342900" algn="just" rtl="0">
              <a:lnSpc>
                <a:spcPct val="100000"/>
              </a:lnSpc>
              <a:spcBef>
                <a:spcPts val="1000"/>
              </a:spcBef>
              <a:spcAft>
                <a:spcPts val="0"/>
              </a:spcAft>
              <a:buSzPts val="1600"/>
              <a:buFont typeface="Bookman Old Style"/>
              <a:buAutoNum type="arabicPeriod"/>
            </a:pPr>
            <a:r>
              <a:rPr lang="en-US"/>
              <a:t>Draw a recursive tree for given recurrence relation</a:t>
            </a:r>
            <a:endParaRPr/>
          </a:p>
          <a:p>
            <a:pPr marL="571500" lvl="1" indent="-342900" algn="just" rtl="0">
              <a:lnSpc>
                <a:spcPct val="100000"/>
              </a:lnSpc>
              <a:spcBef>
                <a:spcPts val="1000"/>
              </a:spcBef>
              <a:spcAft>
                <a:spcPts val="0"/>
              </a:spcAft>
              <a:buSzPts val="1600"/>
              <a:buFont typeface="Bookman Old Style"/>
              <a:buAutoNum type="arabicPeriod"/>
            </a:pPr>
            <a:r>
              <a:rPr lang="en-US"/>
              <a:t>Calculate the cost at each level.</a:t>
            </a:r>
            <a:endParaRPr/>
          </a:p>
          <a:p>
            <a:pPr marL="571500" lvl="1" indent="-342900" algn="just" rtl="0">
              <a:lnSpc>
                <a:spcPct val="100000"/>
              </a:lnSpc>
              <a:spcBef>
                <a:spcPts val="1000"/>
              </a:spcBef>
              <a:spcAft>
                <a:spcPts val="0"/>
              </a:spcAft>
              <a:buSzPts val="1600"/>
              <a:buFont typeface="Bookman Old Style"/>
              <a:buAutoNum type="arabicPeriod"/>
            </a:pPr>
            <a:r>
              <a:rPr lang="en-US"/>
              <a:t>Calculate height</a:t>
            </a:r>
            <a:endParaRPr/>
          </a:p>
          <a:p>
            <a:pPr marL="571500" lvl="1" indent="-342900" algn="just" rtl="0">
              <a:lnSpc>
                <a:spcPct val="100000"/>
              </a:lnSpc>
              <a:spcBef>
                <a:spcPts val="1000"/>
              </a:spcBef>
              <a:spcAft>
                <a:spcPts val="0"/>
              </a:spcAft>
              <a:buSzPts val="1600"/>
              <a:buFont typeface="Bookman Old Style"/>
              <a:buAutoNum type="arabicPeriod"/>
            </a:pPr>
            <a:r>
              <a:rPr lang="en-US"/>
              <a:t>Sum up the cost of all the levels in the recursive tree</a:t>
            </a:r>
            <a:endParaRPr/>
          </a:p>
        </p:txBody>
      </p:sp>
      <p:sp>
        <p:nvSpPr>
          <p:cNvPr id="520" name="Google Shape;520;p57"/>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86</a:t>
            </a:fld>
            <a:endParaRPr/>
          </a:p>
        </p:txBody>
      </p:sp>
    </p:spTree>
    <p:extLst>
      <p:ext uri="{BB962C8B-B14F-4D97-AF65-F5344CB8AC3E}">
        <p14:creationId xmlns:p14="http://schemas.microsoft.com/office/powerpoint/2010/main" val="42521729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5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EXAMPLES</a:t>
            </a:r>
            <a:endParaRPr/>
          </a:p>
        </p:txBody>
      </p:sp>
      <p:sp>
        <p:nvSpPr>
          <p:cNvPr id="526" name="Google Shape;526;p58"/>
          <p:cNvSpPr txBox="1">
            <a:spLocks noGrp="1"/>
          </p:cNvSpPr>
          <p:nvPr>
            <p:ph type="body" idx="1"/>
          </p:nvPr>
        </p:nvSpPr>
        <p:spPr>
          <a:xfrm>
            <a:off x="2231136" y="2638044"/>
            <a:ext cx="7729728" cy="3101983"/>
          </a:xfrm>
          <a:prstGeom prst="rect">
            <a:avLst/>
          </a:prstGeom>
          <a:blipFill rotWithShape="1">
            <a:blip r:embed="rId3">
              <a:alphaModFix/>
            </a:blip>
            <a:stretch>
              <a:fillRect l="-469" t="-193"/>
            </a:stretch>
          </a:blip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US"/>
              <a:t> </a:t>
            </a:r>
            <a:endParaRPr/>
          </a:p>
        </p:txBody>
      </p:sp>
      <p:sp>
        <p:nvSpPr>
          <p:cNvPr id="527" name="Google Shape;527;p58"/>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87</a:t>
            </a:fld>
            <a:endParaRPr/>
          </a:p>
        </p:txBody>
      </p:sp>
    </p:spTree>
    <p:extLst>
      <p:ext uri="{BB962C8B-B14F-4D97-AF65-F5344CB8AC3E}">
        <p14:creationId xmlns:p14="http://schemas.microsoft.com/office/powerpoint/2010/main" val="11411435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g26e03725c7d_0_16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Iteration Method</a:t>
            </a:r>
            <a:endParaRPr/>
          </a:p>
        </p:txBody>
      </p:sp>
      <p:sp>
        <p:nvSpPr>
          <p:cNvPr id="534" name="Google Shape;534;g26e03725c7d_0_16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US"/>
              <a:t>We solve recurrence relations using the iteration method. In this method, we keep substituting the smaller terms again and again until we reach the base condition. Thus the base term can be replaced by its value, and we get the value of the expression.</a:t>
            </a:r>
            <a:endParaRPr/>
          </a:p>
        </p:txBody>
      </p:sp>
      <p:sp>
        <p:nvSpPr>
          <p:cNvPr id="535" name="Google Shape;535;g26e03725c7d_0_16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41458464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g26e03725c7d_0_177"/>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Example - 1</a:t>
            </a:r>
            <a:endParaRPr/>
          </a:p>
        </p:txBody>
      </p:sp>
      <p:sp>
        <p:nvSpPr>
          <p:cNvPr id="542" name="Google Shape;542;g26e03725c7d_0_177"/>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1200" b="1">
                <a:solidFill>
                  <a:schemeClr val="dk1"/>
                </a:solidFill>
                <a:latin typeface="Times New Roman"/>
                <a:ea typeface="Times New Roman"/>
                <a:cs typeface="Times New Roman"/>
                <a:sym typeface="Times New Roman"/>
              </a:rPr>
              <a:t>T(N) = T(N-1) + 1, T(1) = 1</a:t>
            </a:r>
            <a:endParaRPr sz="1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Solution: </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Here T(N) = T(N-1) + 1 implies T(N-1) = T(N-2) + 1.</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Thus T(N) = (T(N-2) + 1 )  + 1</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T(N) = T(N-2) + 2</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T(N) = T(N-3) + 3</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From the above pattern, we get T(N) = T(N- (N-1)) + (N-1)</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800"/>
              <a:buNone/>
            </a:pPr>
            <a:r>
              <a:rPr lang="en-US" sz="1200">
                <a:solidFill>
                  <a:schemeClr val="dk1"/>
                </a:solidFill>
                <a:latin typeface="Times New Roman"/>
                <a:ea typeface="Times New Roman"/>
                <a:cs typeface="Times New Roman"/>
                <a:sym typeface="Times New Roman"/>
              </a:rPr>
              <a:t>Thus T(N) = T(1) + (N-1) and since T(1)=1, T(N)=N.</a:t>
            </a:r>
            <a:endParaRPr/>
          </a:p>
        </p:txBody>
      </p:sp>
      <p:sp>
        <p:nvSpPr>
          <p:cNvPr id="543" name="Google Shape;543;g26e03725c7d_0_177"/>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89</a:t>
            </a:fld>
            <a:endParaRPr/>
          </a:p>
        </p:txBody>
      </p:sp>
    </p:spTree>
    <p:extLst>
      <p:ext uri="{BB962C8B-B14F-4D97-AF65-F5344CB8AC3E}">
        <p14:creationId xmlns:p14="http://schemas.microsoft.com/office/powerpoint/2010/main" val="10128684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g26e03725c7d_0_18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Example - 2</a:t>
            </a:r>
            <a:endParaRPr/>
          </a:p>
        </p:txBody>
      </p:sp>
      <p:sp>
        <p:nvSpPr>
          <p:cNvPr id="550" name="Google Shape;550;g26e03725c7d_0_18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1200"/>
              </a:spcBef>
              <a:spcAft>
                <a:spcPts val="0"/>
              </a:spcAft>
              <a:buClr>
                <a:schemeClr val="dk1"/>
              </a:buClr>
              <a:buSzPts val="935"/>
              <a:buFont typeface="Arial"/>
              <a:buNone/>
            </a:pPr>
            <a:r>
              <a:rPr lang="en-US" sz="1220" b="1">
                <a:solidFill>
                  <a:schemeClr val="dk1"/>
                </a:solidFill>
                <a:latin typeface="Times New Roman"/>
                <a:ea typeface="Times New Roman"/>
                <a:cs typeface="Times New Roman"/>
                <a:sym typeface="Times New Roman"/>
              </a:rPr>
              <a:t>T(N) = T(N-1) + c, T(1) = c, c is constant</a:t>
            </a:r>
            <a:endParaRPr sz="1220" b="1">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Solution: </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Here T(N) = T(N-1) + c implies T(N-1) = T(N-2) + c.</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Thus T(N) = (T(N-2) + c )  + c</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T(N) = T(N-2) + 2c</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T(N) = T(N-3) + 3c</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From the above pattern, we get T(N) = T(N- (N-1)) + (N-1)*c</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Thus T(N) = T(1) + (N-1)*c and since T(1)=c, T(N)=N*c.</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Clr>
                <a:schemeClr val="dk1"/>
              </a:buClr>
              <a:buSzPts val="935"/>
              <a:buFont typeface="Arial"/>
              <a:buNone/>
            </a:pPr>
            <a:r>
              <a:rPr lang="en-US" sz="1220">
                <a:solidFill>
                  <a:schemeClr val="dk1"/>
                </a:solidFill>
                <a:latin typeface="Times New Roman"/>
                <a:ea typeface="Times New Roman"/>
                <a:cs typeface="Times New Roman"/>
                <a:sym typeface="Times New Roman"/>
              </a:rPr>
              <a:t>Now, as c is constant T(N) = O(N).</a:t>
            </a:r>
            <a:endParaRPr sz="1220">
              <a:solidFill>
                <a:schemeClr val="dk1"/>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935"/>
              <a:buNone/>
            </a:pPr>
            <a:r>
              <a:rPr lang="en-US" sz="1220">
                <a:solidFill>
                  <a:schemeClr val="dk1"/>
                </a:solidFill>
                <a:latin typeface="Times New Roman"/>
                <a:ea typeface="Times New Roman"/>
                <a:cs typeface="Times New Roman"/>
                <a:sym typeface="Times New Roman"/>
              </a:rPr>
              <a:t>Thus we found that T(N) = O(N) using the iteration method.</a:t>
            </a:r>
            <a:endParaRPr sz="1729"/>
          </a:p>
        </p:txBody>
      </p:sp>
      <p:sp>
        <p:nvSpPr>
          <p:cNvPr id="551" name="Google Shape;551;g26e03725c7d_0_18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90</a:t>
            </a:fld>
            <a:endParaRPr/>
          </a:p>
        </p:txBody>
      </p:sp>
    </p:spTree>
    <p:extLst>
      <p:ext uri="{BB962C8B-B14F-4D97-AF65-F5344CB8AC3E}">
        <p14:creationId xmlns:p14="http://schemas.microsoft.com/office/powerpoint/2010/main" val="34959864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g26e03725c7d_0_19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Example - 3</a:t>
            </a:r>
            <a:endParaRPr/>
          </a:p>
        </p:txBody>
      </p:sp>
      <p:sp>
        <p:nvSpPr>
          <p:cNvPr id="558" name="Google Shape;558;g26e03725c7d_0_193"/>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1500" b="1">
                <a:solidFill>
                  <a:schemeClr val="dk1"/>
                </a:solidFill>
                <a:latin typeface="Times New Roman"/>
                <a:ea typeface="Times New Roman"/>
                <a:cs typeface="Times New Roman"/>
                <a:sym typeface="Times New Roman"/>
              </a:rPr>
              <a:t>T(N) = 2*T(N-1) , T(1) = 1</a:t>
            </a:r>
            <a:endParaRPr sz="15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Solution: </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Here T(N) = 2x T(N-1)  implies T(N-1) = 2xT(N-2).</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T(N) = 2 x (2 x T(N-2) ) = 4  x T(N-2) = 2</a:t>
            </a:r>
            <a:r>
              <a:rPr lang="en-US" baseline="30000">
                <a:solidFill>
                  <a:schemeClr val="dk1"/>
                </a:solidFill>
                <a:latin typeface="Times New Roman"/>
                <a:ea typeface="Times New Roman"/>
                <a:cs typeface="Times New Roman"/>
                <a:sym typeface="Times New Roman"/>
              </a:rPr>
              <a:t>2</a:t>
            </a:r>
            <a:r>
              <a:rPr lang="en-US" sz="1500">
                <a:solidFill>
                  <a:schemeClr val="dk1"/>
                </a:solidFill>
                <a:latin typeface="Times New Roman"/>
                <a:ea typeface="Times New Roman"/>
                <a:cs typeface="Times New Roman"/>
                <a:sym typeface="Times New Roman"/>
              </a:rPr>
              <a:t> x T(N-2)</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T(N) = 8 x T(N-3)  = 2</a:t>
            </a:r>
            <a:r>
              <a:rPr lang="en-US" baseline="30000">
                <a:solidFill>
                  <a:schemeClr val="dk1"/>
                </a:solidFill>
                <a:latin typeface="Times New Roman"/>
                <a:ea typeface="Times New Roman"/>
                <a:cs typeface="Times New Roman"/>
                <a:sym typeface="Times New Roman"/>
              </a:rPr>
              <a:t>3</a:t>
            </a:r>
            <a:r>
              <a:rPr lang="en-US" sz="1500">
                <a:solidFill>
                  <a:schemeClr val="dk1"/>
                </a:solidFill>
                <a:latin typeface="Times New Roman"/>
                <a:ea typeface="Times New Roman"/>
                <a:cs typeface="Times New Roman"/>
                <a:sym typeface="Times New Roman"/>
              </a:rPr>
              <a:t> x T(N-3)</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Thus from the above patterns we get T(N) = 2</a:t>
            </a:r>
            <a:r>
              <a:rPr lang="en-US" baseline="30000">
                <a:solidFill>
                  <a:schemeClr val="dk1"/>
                </a:solidFill>
                <a:latin typeface="Times New Roman"/>
                <a:ea typeface="Times New Roman"/>
                <a:cs typeface="Times New Roman"/>
                <a:sym typeface="Times New Roman"/>
              </a:rPr>
              <a:t>N-1</a:t>
            </a:r>
            <a:r>
              <a:rPr lang="en-US" sz="1500">
                <a:solidFill>
                  <a:schemeClr val="dk1"/>
                </a:solidFill>
                <a:latin typeface="Times New Roman"/>
                <a:ea typeface="Times New Roman"/>
                <a:cs typeface="Times New Roman"/>
                <a:sym typeface="Times New Roman"/>
              </a:rPr>
              <a:t> x T(N- (N-1)) = 2</a:t>
            </a:r>
            <a:r>
              <a:rPr lang="en-US" baseline="30000">
                <a:solidFill>
                  <a:schemeClr val="dk1"/>
                </a:solidFill>
                <a:latin typeface="Times New Roman"/>
                <a:ea typeface="Times New Roman"/>
                <a:cs typeface="Times New Roman"/>
                <a:sym typeface="Times New Roman"/>
              </a:rPr>
              <a:t>N-1</a:t>
            </a:r>
            <a:r>
              <a:rPr lang="en-US" sz="1500">
                <a:solidFill>
                  <a:schemeClr val="dk1"/>
                </a:solidFill>
                <a:latin typeface="Times New Roman"/>
                <a:ea typeface="Times New Roman"/>
                <a:cs typeface="Times New Roman"/>
                <a:sym typeface="Times New Roman"/>
              </a:rPr>
              <a:t>  x T(1) = 2</a:t>
            </a:r>
            <a:r>
              <a:rPr lang="en-US" baseline="30000">
                <a:solidFill>
                  <a:schemeClr val="dk1"/>
                </a:solidFill>
                <a:latin typeface="Times New Roman"/>
                <a:ea typeface="Times New Roman"/>
                <a:cs typeface="Times New Roman"/>
                <a:sym typeface="Times New Roman"/>
              </a:rPr>
              <a:t>N-1</a:t>
            </a:r>
            <a:r>
              <a:rPr lang="en-US"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800"/>
              <a:buNone/>
            </a:pPr>
            <a:r>
              <a:rPr lang="en-US" sz="1500">
                <a:solidFill>
                  <a:schemeClr val="dk1"/>
                </a:solidFill>
                <a:latin typeface="Times New Roman"/>
                <a:ea typeface="Times New Roman"/>
                <a:cs typeface="Times New Roman"/>
                <a:sym typeface="Times New Roman"/>
              </a:rPr>
              <a:t>Thus T(N) = 2</a:t>
            </a:r>
            <a:r>
              <a:rPr lang="en-US" baseline="30000">
                <a:solidFill>
                  <a:schemeClr val="dk1"/>
                </a:solidFill>
                <a:latin typeface="Times New Roman"/>
                <a:ea typeface="Times New Roman"/>
                <a:cs typeface="Times New Roman"/>
                <a:sym typeface="Times New Roman"/>
              </a:rPr>
              <a:t>N-1</a:t>
            </a:r>
            <a:r>
              <a:rPr lang="en-US" sz="1500">
                <a:solidFill>
                  <a:schemeClr val="dk1"/>
                </a:solidFill>
                <a:latin typeface="Times New Roman"/>
                <a:ea typeface="Times New Roman"/>
                <a:cs typeface="Times New Roman"/>
                <a:sym typeface="Times New Roman"/>
              </a:rPr>
              <a:t> </a:t>
            </a:r>
            <a:endParaRPr sz="2100"/>
          </a:p>
        </p:txBody>
      </p:sp>
      <p:sp>
        <p:nvSpPr>
          <p:cNvPr id="559" name="Google Shape;559;g26e03725c7d_0_19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91</a:t>
            </a:fld>
            <a:endParaRPr/>
          </a:p>
        </p:txBody>
      </p:sp>
    </p:spTree>
    <p:extLst>
      <p:ext uri="{BB962C8B-B14F-4D97-AF65-F5344CB8AC3E}">
        <p14:creationId xmlns:p14="http://schemas.microsoft.com/office/powerpoint/2010/main" val="34394002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9"/>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Bookman Old Style"/>
              <a:buNone/>
            </a:pPr>
            <a:r>
              <a:rPr lang="en-US"/>
              <a:t>SORTING ALGORITHMS</a:t>
            </a:r>
            <a:endParaRPr/>
          </a:p>
        </p:txBody>
      </p:sp>
      <p:sp>
        <p:nvSpPr>
          <p:cNvPr id="565" name="Google Shape;565;p59"/>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a:t>Bubble sort</a:t>
            </a:r>
            <a:endParaRPr/>
          </a:p>
          <a:p>
            <a:pPr marL="457200" lvl="0" indent="-342900" algn="l" rtl="0">
              <a:lnSpc>
                <a:spcPct val="100000"/>
              </a:lnSpc>
              <a:spcBef>
                <a:spcPts val="0"/>
              </a:spcBef>
              <a:spcAft>
                <a:spcPts val="0"/>
              </a:spcAft>
              <a:buSzPts val="1800"/>
              <a:buChar char="•"/>
            </a:pPr>
            <a:r>
              <a:rPr lang="en-US"/>
              <a:t>Selection sort</a:t>
            </a:r>
            <a:endParaRPr/>
          </a:p>
          <a:p>
            <a:pPr marL="457200" lvl="0" indent="-342900" algn="l" rtl="0">
              <a:lnSpc>
                <a:spcPct val="100000"/>
              </a:lnSpc>
              <a:spcBef>
                <a:spcPts val="0"/>
              </a:spcBef>
              <a:spcAft>
                <a:spcPts val="0"/>
              </a:spcAft>
              <a:buSzPts val="1800"/>
              <a:buChar char="•"/>
            </a:pPr>
            <a:r>
              <a:rPr lang="en-US"/>
              <a:t>Insertion sort</a:t>
            </a:r>
            <a:endParaRPr/>
          </a:p>
          <a:p>
            <a:pPr marL="457200" lvl="0" indent="-342900" algn="l" rtl="0">
              <a:lnSpc>
                <a:spcPct val="100000"/>
              </a:lnSpc>
              <a:spcBef>
                <a:spcPts val="0"/>
              </a:spcBef>
              <a:spcAft>
                <a:spcPts val="0"/>
              </a:spcAft>
              <a:buSzPts val="1800"/>
              <a:buChar char="•"/>
            </a:pPr>
            <a:r>
              <a:rPr lang="en-US"/>
              <a:t>Shell sort </a:t>
            </a:r>
            <a:endParaRPr/>
          </a:p>
          <a:p>
            <a:pPr marL="457200" lvl="0" indent="-342900" algn="l" rtl="0">
              <a:lnSpc>
                <a:spcPct val="100000"/>
              </a:lnSpc>
              <a:spcBef>
                <a:spcPts val="0"/>
              </a:spcBef>
              <a:spcAft>
                <a:spcPts val="0"/>
              </a:spcAft>
              <a:buSzPts val="1800"/>
              <a:buChar char="•"/>
            </a:pPr>
            <a:r>
              <a:rPr lang="en-US"/>
              <a:t>Heap sort</a:t>
            </a:r>
            <a:endParaRPr/>
          </a:p>
          <a:p>
            <a:pPr marL="457200" lvl="0" indent="-342900" algn="l" rtl="0">
              <a:lnSpc>
                <a:spcPct val="100000"/>
              </a:lnSpc>
              <a:spcBef>
                <a:spcPts val="0"/>
              </a:spcBef>
              <a:spcAft>
                <a:spcPts val="0"/>
              </a:spcAft>
              <a:buSzPts val="1800"/>
              <a:buChar char="•"/>
            </a:pPr>
            <a:r>
              <a:rPr lang="en-US"/>
              <a:t>Bucket sort</a:t>
            </a:r>
            <a:endParaRPr/>
          </a:p>
          <a:p>
            <a:pPr marL="457200" lvl="0" indent="-342900" algn="l" rtl="0">
              <a:lnSpc>
                <a:spcPct val="100000"/>
              </a:lnSpc>
              <a:spcBef>
                <a:spcPts val="0"/>
              </a:spcBef>
              <a:spcAft>
                <a:spcPts val="0"/>
              </a:spcAft>
              <a:buSzPts val="1800"/>
              <a:buChar char="•"/>
            </a:pPr>
            <a:r>
              <a:rPr lang="en-US"/>
              <a:t>Radix sort </a:t>
            </a:r>
            <a:endParaRPr/>
          </a:p>
          <a:p>
            <a:pPr marL="457200" lvl="0" indent="-342900" algn="l" rtl="0">
              <a:lnSpc>
                <a:spcPct val="100000"/>
              </a:lnSpc>
              <a:spcBef>
                <a:spcPts val="0"/>
              </a:spcBef>
              <a:spcAft>
                <a:spcPts val="0"/>
              </a:spcAft>
              <a:buSzPts val="1800"/>
              <a:buChar char="•"/>
            </a:pPr>
            <a:r>
              <a:rPr lang="en-US"/>
              <a:t>Counting sort</a:t>
            </a:r>
            <a:endParaRPr/>
          </a:p>
          <a:p>
            <a:pPr marL="457200" lvl="0" indent="-342900" algn="l" rtl="0">
              <a:lnSpc>
                <a:spcPct val="100000"/>
              </a:lnSpc>
              <a:spcBef>
                <a:spcPts val="0"/>
              </a:spcBef>
              <a:spcAft>
                <a:spcPts val="0"/>
              </a:spcAft>
              <a:buSzPts val="1800"/>
              <a:buChar char="•"/>
            </a:pPr>
            <a:r>
              <a:rPr lang="en-US"/>
              <a:t>Merge Sort</a:t>
            </a:r>
            <a:endParaRPr/>
          </a:p>
          <a:p>
            <a:pPr marL="457200" lvl="0" indent="-342900" algn="l" rtl="0">
              <a:lnSpc>
                <a:spcPct val="100000"/>
              </a:lnSpc>
              <a:spcBef>
                <a:spcPts val="0"/>
              </a:spcBef>
              <a:spcAft>
                <a:spcPts val="0"/>
              </a:spcAft>
              <a:buSzPts val="1800"/>
              <a:buChar char="•"/>
            </a:pPr>
            <a:r>
              <a:rPr lang="en-US"/>
              <a:t>Quick Sort</a:t>
            </a:r>
            <a:endParaRPr/>
          </a:p>
        </p:txBody>
      </p:sp>
      <p:sp>
        <p:nvSpPr>
          <p:cNvPr id="566" name="Google Shape;566;p59"/>
          <p:cNvSpPr>
            <a:spLocks noGrp="1"/>
          </p:cNvSpPr>
          <p:nvPr>
            <p:ph type="sldNum" idx="12"/>
          </p:nvPr>
        </p:nvSpPr>
        <p:spPr>
          <a:xfrm>
            <a:off x="10758922" y="6217920"/>
            <a:ext cx="365760" cy="36576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SzPts val="1100"/>
              <a:buNone/>
            </a:pPr>
            <a:fld id="{00000000-1234-1234-1234-123412341234}" type="slidenum">
              <a:rPr lang="en-US"/>
              <a:t>92</a:t>
            </a:fld>
            <a:endParaRPr/>
          </a:p>
        </p:txBody>
      </p:sp>
    </p:spTree>
    <p:extLst>
      <p:ext uri="{BB962C8B-B14F-4D97-AF65-F5344CB8AC3E}">
        <p14:creationId xmlns:p14="http://schemas.microsoft.com/office/powerpoint/2010/main" val="17999951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g2681517d28c_0_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Bubble sort</a:t>
            </a:r>
            <a:endParaRPr/>
          </a:p>
        </p:txBody>
      </p:sp>
      <p:sp>
        <p:nvSpPr>
          <p:cNvPr id="573" name="Google Shape;573;g2681517d28c_0_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93</a:t>
            </a:fld>
            <a:endParaRPr/>
          </a:p>
        </p:txBody>
      </p:sp>
      <p:pic>
        <p:nvPicPr>
          <p:cNvPr id="574" name="Google Shape;574;g2681517d28c_0_2"/>
          <p:cNvPicPr preferRelativeResize="0"/>
          <p:nvPr/>
        </p:nvPicPr>
        <p:blipFill rotWithShape="1">
          <a:blip r:embed="rId3">
            <a:alphaModFix/>
          </a:blip>
          <a:srcRect b="8958"/>
          <a:stretch/>
        </p:blipFill>
        <p:spPr>
          <a:xfrm>
            <a:off x="1931688" y="2476675"/>
            <a:ext cx="8328675" cy="3563750"/>
          </a:xfrm>
          <a:prstGeom prst="rect">
            <a:avLst/>
          </a:prstGeom>
          <a:noFill/>
          <a:ln>
            <a:noFill/>
          </a:ln>
        </p:spPr>
      </p:pic>
      <p:sp>
        <p:nvSpPr>
          <p:cNvPr id="575" name="Google Shape;575;g2681517d28c_0_2"/>
          <p:cNvSpPr txBox="1">
            <a:spLocks noGrp="1"/>
          </p:cNvSpPr>
          <p:nvPr>
            <p:ph type="body" idx="1"/>
          </p:nvPr>
        </p:nvSpPr>
        <p:spPr>
          <a:xfrm>
            <a:off x="2231136" y="2638044"/>
            <a:ext cx="7729800" cy="3102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extLst>
      <p:ext uri="{BB962C8B-B14F-4D97-AF65-F5344CB8AC3E}">
        <p14:creationId xmlns:p14="http://schemas.microsoft.com/office/powerpoint/2010/main" val="5603410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g2681517d28c_0_1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Bubble sort</a:t>
            </a:r>
            <a:endParaRPr/>
          </a:p>
        </p:txBody>
      </p:sp>
      <p:sp>
        <p:nvSpPr>
          <p:cNvPr id="582" name="Google Shape;582;g2681517d28c_0_1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sp>
        <p:nvSpPr>
          <p:cNvPr id="583" name="Google Shape;583;g2681517d28c_0_1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94</a:t>
            </a:fld>
            <a:endParaRPr/>
          </a:p>
        </p:txBody>
      </p:sp>
      <p:pic>
        <p:nvPicPr>
          <p:cNvPr id="584" name="Google Shape;584;g2681517d28c_0_15"/>
          <p:cNvPicPr preferRelativeResize="0"/>
          <p:nvPr/>
        </p:nvPicPr>
        <p:blipFill rotWithShape="1">
          <a:blip r:embed="rId3">
            <a:alphaModFix/>
          </a:blip>
          <a:srcRect b="8298"/>
          <a:stretch/>
        </p:blipFill>
        <p:spPr>
          <a:xfrm>
            <a:off x="1598350" y="2433450"/>
            <a:ext cx="8995350" cy="3876975"/>
          </a:xfrm>
          <a:prstGeom prst="rect">
            <a:avLst/>
          </a:prstGeom>
          <a:noFill/>
          <a:ln>
            <a:noFill/>
          </a:ln>
        </p:spPr>
      </p:pic>
    </p:spTree>
    <p:extLst>
      <p:ext uri="{BB962C8B-B14F-4D97-AF65-F5344CB8AC3E}">
        <p14:creationId xmlns:p14="http://schemas.microsoft.com/office/powerpoint/2010/main" val="28380419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g2681517d28c_0_24"/>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Bubble sort</a:t>
            </a:r>
            <a:endParaRPr/>
          </a:p>
        </p:txBody>
      </p:sp>
      <p:sp>
        <p:nvSpPr>
          <p:cNvPr id="591" name="Google Shape;591;g2681517d28c_0_24"/>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sp>
        <p:nvSpPr>
          <p:cNvPr id="592" name="Google Shape;592;g2681517d28c_0_2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95</a:t>
            </a:fld>
            <a:endParaRPr/>
          </a:p>
        </p:txBody>
      </p:sp>
      <p:pic>
        <p:nvPicPr>
          <p:cNvPr id="593" name="Google Shape;593;g2681517d28c_0_24"/>
          <p:cNvPicPr preferRelativeResize="0"/>
          <p:nvPr/>
        </p:nvPicPr>
        <p:blipFill rotWithShape="1">
          <a:blip r:embed="rId3">
            <a:alphaModFix/>
          </a:blip>
          <a:srcRect b="8389"/>
          <a:stretch/>
        </p:blipFill>
        <p:spPr>
          <a:xfrm>
            <a:off x="1525832" y="2478375"/>
            <a:ext cx="9140330" cy="3935500"/>
          </a:xfrm>
          <a:prstGeom prst="rect">
            <a:avLst/>
          </a:prstGeom>
          <a:noFill/>
          <a:ln>
            <a:noFill/>
          </a:ln>
        </p:spPr>
      </p:pic>
    </p:spTree>
    <p:extLst>
      <p:ext uri="{BB962C8B-B14F-4D97-AF65-F5344CB8AC3E}">
        <p14:creationId xmlns:p14="http://schemas.microsoft.com/office/powerpoint/2010/main" val="30607428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g2681517d28c_0_3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Bubble sort</a:t>
            </a:r>
            <a:endParaRPr/>
          </a:p>
        </p:txBody>
      </p:sp>
      <p:sp>
        <p:nvSpPr>
          <p:cNvPr id="600" name="Google Shape;600;g2681517d28c_0_3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1000"/>
              </a:spcBef>
              <a:spcAft>
                <a:spcPts val="0"/>
              </a:spcAft>
              <a:buClr>
                <a:schemeClr val="dk1"/>
              </a:buClr>
              <a:buSzPts val="275"/>
              <a:buFont typeface="Arial"/>
              <a:buNone/>
            </a:pPr>
            <a:r>
              <a:rPr lang="en-US" sz="1350"/>
              <a:t>void bubbleSort(int arr[], int n)</a:t>
            </a:r>
            <a:endParaRPr sz="1350"/>
          </a:p>
          <a:p>
            <a:pPr marL="0" lvl="0" indent="0" algn="l" rtl="0">
              <a:lnSpc>
                <a:spcPct val="80000"/>
              </a:lnSpc>
              <a:spcBef>
                <a:spcPts val="1000"/>
              </a:spcBef>
              <a:spcAft>
                <a:spcPts val="0"/>
              </a:spcAft>
              <a:buClr>
                <a:schemeClr val="dk1"/>
              </a:buClr>
              <a:buSzPts val="275"/>
              <a:buFont typeface="Arial"/>
              <a:buNone/>
            </a:pPr>
            <a:r>
              <a:rPr lang="en-US" sz="1350"/>
              <a:t>{</a:t>
            </a:r>
            <a:endParaRPr sz="1350"/>
          </a:p>
          <a:p>
            <a:pPr marL="0" lvl="0" indent="0" algn="l" rtl="0">
              <a:lnSpc>
                <a:spcPct val="80000"/>
              </a:lnSpc>
              <a:spcBef>
                <a:spcPts val="1000"/>
              </a:spcBef>
              <a:spcAft>
                <a:spcPts val="0"/>
              </a:spcAft>
              <a:buClr>
                <a:schemeClr val="dk1"/>
              </a:buClr>
              <a:buSzPts val="275"/>
              <a:buFont typeface="Arial"/>
              <a:buNone/>
            </a:pPr>
            <a:r>
              <a:rPr lang="en-US" sz="1350"/>
              <a:t>    int i, j;</a:t>
            </a:r>
            <a:endParaRPr sz="1350"/>
          </a:p>
          <a:p>
            <a:pPr marL="0" lvl="0" indent="0" algn="l" rtl="0">
              <a:lnSpc>
                <a:spcPct val="80000"/>
              </a:lnSpc>
              <a:spcBef>
                <a:spcPts val="1000"/>
              </a:spcBef>
              <a:spcAft>
                <a:spcPts val="0"/>
              </a:spcAft>
              <a:buClr>
                <a:schemeClr val="dk1"/>
              </a:buClr>
              <a:buSzPts val="275"/>
              <a:buFont typeface="Arial"/>
              <a:buNone/>
            </a:pPr>
            <a:r>
              <a:rPr lang="en-US" sz="1350"/>
              <a:t>    bool swapped;</a:t>
            </a:r>
            <a:endParaRPr sz="1350"/>
          </a:p>
          <a:p>
            <a:pPr marL="0" lvl="0" indent="0" algn="l" rtl="0">
              <a:lnSpc>
                <a:spcPct val="80000"/>
              </a:lnSpc>
              <a:spcBef>
                <a:spcPts val="1000"/>
              </a:spcBef>
              <a:spcAft>
                <a:spcPts val="0"/>
              </a:spcAft>
              <a:buClr>
                <a:schemeClr val="dk1"/>
              </a:buClr>
              <a:buSzPts val="275"/>
              <a:buFont typeface="Arial"/>
              <a:buNone/>
            </a:pPr>
            <a:r>
              <a:rPr lang="en-US" sz="1350"/>
              <a:t>    for (i = 0; i &lt; n - 1; i++) {</a:t>
            </a:r>
            <a:endParaRPr sz="1350"/>
          </a:p>
          <a:p>
            <a:pPr marL="0" lvl="0" indent="0" algn="l" rtl="0">
              <a:lnSpc>
                <a:spcPct val="80000"/>
              </a:lnSpc>
              <a:spcBef>
                <a:spcPts val="1000"/>
              </a:spcBef>
              <a:spcAft>
                <a:spcPts val="0"/>
              </a:spcAft>
              <a:buClr>
                <a:schemeClr val="dk1"/>
              </a:buClr>
              <a:buSzPts val="275"/>
              <a:buFont typeface="Arial"/>
              <a:buNone/>
            </a:pPr>
            <a:r>
              <a:rPr lang="en-US" sz="1350"/>
              <a:t>        swapped = false;</a:t>
            </a:r>
            <a:endParaRPr sz="1350"/>
          </a:p>
          <a:p>
            <a:pPr marL="0" lvl="0" indent="0" algn="l" rtl="0">
              <a:lnSpc>
                <a:spcPct val="80000"/>
              </a:lnSpc>
              <a:spcBef>
                <a:spcPts val="1000"/>
              </a:spcBef>
              <a:spcAft>
                <a:spcPts val="0"/>
              </a:spcAft>
              <a:buClr>
                <a:schemeClr val="dk1"/>
              </a:buClr>
              <a:buSzPts val="275"/>
              <a:buFont typeface="Arial"/>
              <a:buNone/>
            </a:pPr>
            <a:r>
              <a:rPr lang="en-US" sz="1350"/>
              <a:t>        for (j = 0; j &lt; n - i - 1; j++) {</a:t>
            </a:r>
            <a:endParaRPr sz="1350"/>
          </a:p>
          <a:p>
            <a:pPr marL="0" lvl="0" indent="0" algn="l" rtl="0">
              <a:lnSpc>
                <a:spcPct val="80000"/>
              </a:lnSpc>
              <a:spcBef>
                <a:spcPts val="1000"/>
              </a:spcBef>
              <a:spcAft>
                <a:spcPts val="0"/>
              </a:spcAft>
              <a:buClr>
                <a:schemeClr val="dk1"/>
              </a:buClr>
              <a:buSzPts val="275"/>
              <a:buFont typeface="Arial"/>
              <a:buNone/>
            </a:pPr>
            <a:r>
              <a:rPr lang="en-US" sz="1350"/>
              <a:t>            if (arr[j] &gt; arr[j + 1]) {</a:t>
            </a:r>
            <a:endParaRPr sz="1350"/>
          </a:p>
          <a:p>
            <a:pPr marL="0" lvl="0" indent="0" algn="l" rtl="0">
              <a:lnSpc>
                <a:spcPct val="80000"/>
              </a:lnSpc>
              <a:spcBef>
                <a:spcPts val="1000"/>
              </a:spcBef>
              <a:spcAft>
                <a:spcPts val="0"/>
              </a:spcAft>
              <a:buClr>
                <a:schemeClr val="dk1"/>
              </a:buClr>
              <a:buSzPts val="275"/>
              <a:buFont typeface="Arial"/>
              <a:buNone/>
            </a:pPr>
            <a:r>
              <a:rPr lang="en-US" sz="1350"/>
              <a:t>                swap(&amp;arr[j], &amp;arr[j + 1]);</a:t>
            </a:r>
            <a:endParaRPr sz="1350"/>
          </a:p>
          <a:p>
            <a:pPr marL="0" lvl="0" indent="0" algn="l" rtl="0">
              <a:lnSpc>
                <a:spcPct val="80000"/>
              </a:lnSpc>
              <a:spcBef>
                <a:spcPts val="1000"/>
              </a:spcBef>
              <a:spcAft>
                <a:spcPts val="0"/>
              </a:spcAft>
              <a:buClr>
                <a:schemeClr val="dk1"/>
              </a:buClr>
              <a:buSzPts val="275"/>
              <a:buFont typeface="Arial"/>
              <a:buNone/>
            </a:pPr>
            <a:r>
              <a:rPr lang="en-US" sz="1350"/>
              <a:t>                swapped = true;</a:t>
            </a:r>
            <a:endParaRPr sz="1350"/>
          </a:p>
          <a:p>
            <a:pPr marL="0" lvl="0" indent="0" algn="l" rtl="0">
              <a:lnSpc>
                <a:spcPct val="80000"/>
              </a:lnSpc>
              <a:spcBef>
                <a:spcPts val="1000"/>
              </a:spcBef>
              <a:spcAft>
                <a:spcPts val="0"/>
              </a:spcAft>
              <a:buClr>
                <a:schemeClr val="dk1"/>
              </a:buClr>
              <a:buSzPts val="275"/>
              <a:buFont typeface="Arial"/>
              <a:buNone/>
            </a:pPr>
            <a:r>
              <a:rPr lang="en-US" sz="1350"/>
              <a:t>            } }</a:t>
            </a:r>
            <a:endParaRPr sz="1350"/>
          </a:p>
          <a:p>
            <a:pPr marL="0" lvl="0" indent="0" algn="l" rtl="0">
              <a:lnSpc>
                <a:spcPct val="80000"/>
              </a:lnSpc>
              <a:spcBef>
                <a:spcPts val="1000"/>
              </a:spcBef>
              <a:spcAft>
                <a:spcPts val="0"/>
              </a:spcAft>
              <a:buClr>
                <a:schemeClr val="dk1"/>
              </a:buClr>
              <a:buSzPts val="275"/>
              <a:buFont typeface="Arial"/>
              <a:buNone/>
            </a:pPr>
            <a:r>
              <a:rPr lang="en-US" sz="1350"/>
              <a:t>          if (swapped == false)</a:t>
            </a:r>
            <a:endParaRPr sz="1350"/>
          </a:p>
          <a:p>
            <a:pPr marL="0" lvl="0" indent="0" algn="l" rtl="0">
              <a:lnSpc>
                <a:spcPct val="80000"/>
              </a:lnSpc>
              <a:spcBef>
                <a:spcPts val="1000"/>
              </a:spcBef>
              <a:spcAft>
                <a:spcPts val="0"/>
              </a:spcAft>
              <a:buClr>
                <a:schemeClr val="dk1"/>
              </a:buClr>
              <a:buSzPts val="275"/>
              <a:buFont typeface="Arial"/>
              <a:buNone/>
            </a:pPr>
            <a:r>
              <a:rPr lang="en-US" sz="1350"/>
              <a:t>            break;</a:t>
            </a:r>
            <a:endParaRPr sz="1350"/>
          </a:p>
          <a:p>
            <a:pPr marL="0" lvl="0" indent="0" algn="l" rtl="0">
              <a:lnSpc>
                <a:spcPct val="80000"/>
              </a:lnSpc>
              <a:spcBef>
                <a:spcPts val="1000"/>
              </a:spcBef>
              <a:spcAft>
                <a:spcPts val="0"/>
              </a:spcAft>
              <a:buClr>
                <a:schemeClr val="dk1"/>
              </a:buClr>
              <a:buSzPts val="275"/>
              <a:buFont typeface="Arial"/>
              <a:buNone/>
            </a:pPr>
            <a:r>
              <a:rPr lang="en-US" sz="1350"/>
              <a:t>    } }</a:t>
            </a:r>
            <a:endParaRPr sz="1350"/>
          </a:p>
          <a:p>
            <a:pPr marL="0" lvl="0" indent="0" algn="l" rtl="0">
              <a:lnSpc>
                <a:spcPct val="80000"/>
              </a:lnSpc>
              <a:spcBef>
                <a:spcPts val="1000"/>
              </a:spcBef>
              <a:spcAft>
                <a:spcPts val="0"/>
              </a:spcAft>
              <a:buSzPts val="275"/>
              <a:buNone/>
            </a:pPr>
            <a:endParaRPr sz="1350"/>
          </a:p>
        </p:txBody>
      </p:sp>
      <p:sp>
        <p:nvSpPr>
          <p:cNvPr id="601" name="Google Shape;601;g2681517d28c_0_3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96</a:t>
            </a:fld>
            <a:endParaRPr/>
          </a:p>
        </p:txBody>
      </p:sp>
    </p:spTree>
    <p:extLst>
      <p:ext uri="{BB962C8B-B14F-4D97-AF65-F5344CB8AC3E}">
        <p14:creationId xmlns:p14="http://schemas.microsoft.com/office/powerpoint/2010/main" val="12881751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2681517d28c_0_4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Analysis of Bubble Sort</a:t>
            </a:r>
            <a:endParaRPr/>
          </a:p>
        </p:txBody>
      </p:sp>
      <p:sp>
        <p:nvSpPr>
          <p:cNvPr id="608" name="Google Shape;608;g2681517d28c_0_41"/>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a:bodyPr>
          <a:lstStyle/>
          <a:p>
            <a:pPr marL="0" lvl="0" indent="0" algn="just" rtl="0">
              <a:lnSpc>
                <a:spcPct val="100000"/>
              </a:lnSpc>
              <a:spcBef>
                <a:spcPts val="1000"/>
              </a:spcBef>
              <a:spcAft>
                <a:spcPts val="0"/>
              </a:spcAft>
              <a:buClr>
                <a:schemeClr val="dk1"/>
              </a:buClr>
              <a:buSzPts val="1100"/>
              <a:buFont typeface="Arial"/>
              <a:buNone/>
            </a:pPr>
            <a:r>
              <a:rPr lang="en-US"/>
              <a:t>Best Case: The best case occurs when the array is already sorted. So the number of comparisons required is N-1 and the number of swaps required = 0. Hence the best case complexity is O(N).</a:t>
            </a:r>
            <a:endParaRPr/>
          </a:p>
          <a:p>
            <a:pPr marL="0" lvl="0" indent="0" algn="just" rtl="0">
              <a:lnSpc>
                <a:spcPct val="100000"/>
              </a:lnSpc>
              <a:spcBef>
                <a:spcPts val="1000"/>
              </a:spcBef>
              <a:spcAft>
                <a:spcPts val="0"/>
              </a:spcAft>
              <a:buSzPts val="1800"/>
              <a:buNone/>
            </a:pPr>
            <a:r>
              <a:rPr lang="en-US"/>
              <a:t>Worst Case: The worst-case condition for bubble sort occurs when elements of the array are arranged in decreasing order.So worst case time complexity is O(N^2) </a:t>
            </a:r>
            <a:endParaRPr/>
          </a:p>
          <a:p>
            <a:pPr marL="0" lvl="0" indent="0" algn="just" rtl="0">
              <a:lnSpc>
                <a:spcPct val="100000"/>
              </a:lnSpc>
              <a:spcBef>
                <a:spcPts val="1000"/>
              </a:spcBef>
              <a:spcAft>
                <a:spcPts val="0"/>
              </a:spcAft>
              <a:buSzPts val="1800"/>
              <a:buNone/>
            </a:pPr>
            <a:r>
              <a:rPr lang="en-US"/>
              <a:t>Average Case Time Complexity: The number of comparisons is constant in Bubble Sort. So in average case, there are O(N^2) comparisons. This is because irrespective of the arrangement of elements, the number of comparisons C(N) is same.</a:t>
            </a:r>
            <a:endParaRPr/>
          </a:p>
          <a:p>
            <a:pPr marL="0" lvl="0" indent="0" algn="just" rtl="0">
              <a:lnSpc>
                <a:spcPct val="100000"/>
              </a:lnSpc>
              <a:spcBef>
                <a:spcPts val="1000"/>
              </a:spcBef>
              <a:spcAft>
                <a:spcPts val="0"/>
              </a:spcAft>
              <a:buSzPts val="1800"/>
              <a:buNone/>
            </a:pPr>
            <a:r>
              <a:rPr lang="en-US"/>
              <a:t>Space: O(1) as no additional space is used.</a:t>
            </a:r>
            <a:endParaRPr/>
          </a:p>
        </p:txBody>
      </p:sp>
      <p:sp>
        <p:nvSpPr>
          <p:cNvPr id="609" name="Google Shape;609;g2681517d28c_0_4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97</a:t>
            </a:fld>
            <a:endParaRPr/>
          </a:p>
        </p:txBody>
      </p:sp>
    </p:spTree>
    <p:extLst>
      <p:ext uri="{BB962C8B-B14F-4D97-AF65-F5344CB8AC3E}">
        <p14:creationId xmlns:p14="http://schemas.microsoft.com/office/powerpoint/2010/main" val="18582920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g2681517d28c_0_54"/>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Selection sort</a:t>
            </a:r>
            <a:endParaRPr/>
          </a:p>
        </p:txBody>
      </p:sp>
      <p:sp>
        <p:nvSpPr>
          <p:cNvPr id="616" name="Google Shape;616;g2681517d28c_0_5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98</a:t>
            </a:fld>
            <a:endParaRPr/>
          </a:p>
        </p:txBody>
      </p:sp>
      <p:pic>
        <p:nvPicPr>
          <p:cNvPr id="617" name="Google Shape;617;g2681517d28c_0_54"/>
          <p:cNvPicPr preferRelativeResize="0"/>
          <p:nvPr/>
        </p:nvPicPr>
        <p:blipFill rotWithShape="1">
          <a:blip r:embed="rId3">
            <a:alphaModFix/>
          </a:blip>
          <a:srcRect l="9336" r="12071" b="11979"/>
          <a:stretch/>
        </p:blipFill>
        <p:spPr>
          <a:xfrm>
            <a:off x="2174175" y="2498175"/>
            <a:ext cx="3384100" cy="1402325"/>
          </a:xfrm>
          <a:prstGeom prst="rect">
            <a:avLst/>
          </a:prstGeom>
          <a:noFill/>
          <a:ln>
            <a:noFill/>
          </a:ln>
        </p:spPr>
      </p:pic>
      <p:pic>
        <p:nvPicPr>
          <p:cNvPr id="618" name="Google Shape;618;g2681517d28c_0_54"/>
          <p:cNvPicPr preferRelativeResize="0"/>
          <p:nvPr/>
        </p:nvPicPr>
        <p:blipFill rotWithShape="1">
          <a:blip r:embed="rId4">
            <a:alphaModFix/>
          </a:blip>
          <a:srcRect l="11754" t="7993" r="10345" b="23564"/>
          <a:stretch/>
        </p:blipFill>
        <p:spPr>
          <a:xfrm>
            <a:off x="2174175" y="4175675"/>
            <a:ext cx="3656325" cy="1188600"/>
          </a:xfrm>
          <a:prstGeom prst="rect">
            <a:avLst/>
          </a:prstGeom>
          <a:noFill/>
          <a:ln>
            <a:noFill/>
          </a:ln>
        </p:spPr>
      </p:pic>
      <p:sp>
        <p:nvSpPr>
          <p:cNvPr id="619" name="Google Shape;619;g2681517d28c_0_54"/>
          <p:cNvSpPr txBox="1"/>
          <p:nvPr/>
        </p:nvSpPr>
        <p:spPr>
          <a:xfrm>
            <a:off x="1622825" y="2664450"/>
            <a:ext cx="365700" cy="36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Bookman Old Style"/>
                <a:ea typeface="Bookman Old Style"/>
                <a:cs typeface="Bookman Old Style"/>
                <a:sym typeface="Bookman Old Style"/>
              </a:rPr>
              <a:t>1</a:t>
            </a:r>
            <a:endParaRPr sz="1400" b="0" i="0" u="none" strike="noStrike" cap="none">
              <a:solidFill>
                <a:srgbClr val="000000"/>
              </a:solidFill>
              <a:latin typeface="Bookman Old Style"/>
              <a:ea typeface="Bookman Old Style"/>
              <a:cs typeface="Bookman Old Style"/>
              <a:sym typeface="Bookman Old Style"/>
            </a:endParaRPr>
          </a:p>
        </p:txBody>
      </p:sp>
      <p:sp>
        <p:nvSpPr>
          <p:cNvPr id="620" name="Google Shape;620;g2681517d28c_0_54"/>
          <p:cNvSpPr txBox="1"/>
          <p:nvPr/>
        </p:nvSpPr>
        <p:spPr>
          <a:xfrm>
            <a:off x="1622825" y="4368625"/>
            <a:ext cx="365700" cy="36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Bookman Old Style"/>
                <a:ea typeface="Bookman Old Style"/>
                <a:cs typeface="Bookman Old Style"/>
                <a:sym typeface="Bookman Old Style"/>
              </a:rPr>
              <a:t>2</a:t>
            </a:r>
            <a:endParaRPr sz="1400" b="0" i="0" u="none" strike="noStrike" cap="none">
              <a:solidFill>
                <a:srgbClr val="000000"/>
              </a:solidFill>
              <a:latin typeface="Bookman Old Style"/>
              <a:ea typeface="Bookman Old Style"/>
              <a:cs typeface="Bookman Old Style"/>
              <a:sym typeface="Bookman Old Style"/>
            </a:endParaRPr>
          </a:p>
        </p:txBody>
      </p:sp>
      <p:pic>
        <p:nvPicPr>
          <p:cNvPr id="621" name="Google Shape;621;g2681517d28c_0_54"/>
          <p:cNvPicPr preferRelativeResize="0"/>
          <p:nvPr/>
        </p:nvPicPr>
        <p:blipFill rotWithShape="1">
          <a:blip r:embed="rId5">
            <a:alphaModFix/>
          </a:blip>
          <a:srcRect l="13323" r="12611" b="13993"/>
          <a:stretch/>
        </p:blipFill>
        <p:spPr>
          <a:xfrm>
            <a:off x="6457050" y="2443425"/>
            <a:ext cx="3518500" cy="1511825"/>
          </a:xfrm>
          <a:prstGeom prst="rect">
            <a:avLst/>
          </a:prstGeom>
          <a:noFill/>
          <a:ln>
            <a:noFill/>
          </a:ln>
        </p:spPr>
      </p:pic>
      <p:sp>
        <p:nvSpPr>
          <p:cNvPr id="622" name="Google Shape;622;g2681517d28c_0_54"/>
          <p:cNvSpPr txBox="1"/>
          <p:nvPr/>
        </p:nvSpPr>
        <p:spPr>
          <a:xfrm>
            <a:off x="5968938" y="2498175"/>
            <a:ext cx="365700" cy="36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Bookman Old Style"/>
                <a:ea typeface="Bookman Old Style"/>
                <a:cs typeface="Bookman Old Style"/>
                <a:sym typeface="Bookman Old Style"/>
              </a:rPr>
              <a:t>3</a:t>
            </a:r>
            <a:endParaRPr sz="1400" b="0" i="0" u="none" strike="noStrike" cap="none">
              <a:solidFill>
                <a:srgbClr val="000000"/>
              </a:solidFill>
              <a:latin typeface="Bookman Old Style"/>
              <a:ea typeface="Bookman Old Style"/>
              <a:cs typeface="Bookman Old Style"/>
              <a:sym typeface="Bookman Old Style"/>
            </a:endParaRPr>
          </a:p>
        </p:txBody>
      </p:sp>
      <p:sp>
        <p:nvSpPr>
          <p:cNvPr id="623" name="Google Shape;623;g2681517d28c_0_54"/>
          <p:cNvSpPr txBox="1"/>
          <p:nvPr/>
        </p:nvSpPr>
        <p:spPr>
          <a:xfrm>
            <a:off x="6016150" y="4175675"/>
            <a:ext cx="365700" cy="36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Bookman Old Style"/>
                <a:ea typeface="Bookman Old Style"/>
                <a:cs typeface="Bookman Old Style"/>
                <a:sym typeface="Bookman Old Style"/>
              </a:rPr>
              <a:t>4</a:t>
            </a:r>
            <a:endParaRPr sz="1400" b="0" i="0" u="none" strike="noStrike" cap="none">
              <a:solidFill>
                <a:srgbClr val="000000"/>
              </a:solidFill>
              <a:latin typeface="Bookman Old Style"/>
              <a:ea typeface="Bookman Old Style"/>
              <a:cs typeface="Bookman Old Style"/>
              <a:sym typeface="Bookman Old Style"/>
            </a:endParaRPr>
          </a:p>
        </p:txBody>
      </p:sp>
      <p:pic>
        <p:nvPicPr>
          <p:cNvPr id="624" name="Google Shape;624;g2681517d28c_0_54"/>
          <p:cNvPicPr preferRelativeResize="0"/>
          <p:nvPr/>
        </p:nvPicPr>
        <p:blipFill rotWithShape="1">
          <a:blip r:embed="rId6">
            <a:alphaModFix/>
          </a:blip>
          <a:srcRect b="11955"/>
          <a:stretch/>
        </p:blipFill>
        <p:spPr>
          <a:xfrm>
            <a:off x="6457050" y="4133036"/>
            <a:ext cx="3910425" cy="1273875"/>
          </a:xfrm>
          <a:prstGeom prst="rect">
            <a:avLst/>
          </a:prstGeom>
          <a:noFill/>
          <a:ln>
            <a:noFill/>
          </a:ln>
        </p:spPr>
      </p:pic>
      <p:pic>
        <p:nvPicPr>
          <p:cNvPr id="625" name="Google Shape;625;g2681517d28c_0_54"/>
          <p:cNvPicPr preferRelativeResize="0"/>
          <p:nvPr/>
        </p:nvPicPr>
        <p:blipFill rotWithShape="1">
          <a:blip r:embed="rId7">
            <a:alphaModFix/>
          </a:blip>
          <a:srcRect l="18087" t="24167" r="18755" b="26561"/>
          <a:stretch/>
        </p:blipFill>
        <p:spPr>
          <a:xfrm>
            <a:off x="4631975" y="5584675"/>
            <a:ext cx="4117800" cy="1188600"/>
          </a:xfrm>
          <a:prstGeom prst="rect">
            <a:avLst/>
          </a:prstGeom>
          <a:noFill/>
          <a:ln>
            <a:noFill/>
          </a:ln>
        </p:spPr>
      </p:pic>
      <p:sp>
        <p:nvSpPr>
          <p:cNvPr id="626" name="Google Shape;626;g2681517d28c_0_54"/>
          <p:cNvSpPr txBox="1"/>
          <p:nvPr/>
        </p:nvSpPr>
        <p:spPr>
          <a:xfrm>
            <a:off x="3967400" y="5750600"/>
            <a:ext cx="365700" cy="36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Bookman Old Style"/>
                <a:ea typeface="Bookman Old Style"/>
                <a:cs typeface="Bookman Old Style"/>
                <a:sym typeface="Bookman Old Style"/>
              </a:rPr>
              <a:t>5</a:t>
            </a:r>
            <a:endParaRPr sz="1400" b="0" i="0" u="none" strike="noStrike" cap="none">
              <a:solidFill>
                <a:srgbClr val="000000"/>
              </a:solidFill>
              <a:latin typeface="Bookman Old Style"/>
              <a:ea typeface="Bookman Old Style"/>
              <a:cs typeface="Bookman Old Style"/>
              <a:sym typeface="Bookman Old Style"/>
            </a:endParaRPr>
          </a:p>
        </p:txBody>
      </p:sp>
      <p:sp>
        <p:nvSpPr>
          <p:cNvPr id="627" name="Google Shape;627;g2681517d28c_0_54"/>
          <p:cNvSpPr txBox="1">
            <a:spLocks noGrp="1"/>
          </p:cNvSpPr>
          <p:nvPr>
            <p:ph type="body" idx="1"/>
          </p:nvPr>
        </p:nvSpPr>
        <p:spPr>
          <a:xfrm>
            <a:off x="2231136" y="2638044"/>
            <a:ext cx="7729800" cy="3102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extLst>
      <p:ext uri="{BB962C8B-B14F-4D97-AF65-F5344CB8AC3E}">
        <p14:creationId xmlns:p14="http://schemas.microsoft.com/office/powerpoint/2010/main" val="12012763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g2681517d28c_0_7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Selection sort</a:t>
            </a:r>
            <a:endParaRPr/>
          </a:p>
        </p:txBody>
      </p:sp>
      <p:sp>
        <p:nvSpPr>
          <p:cNvPr id="634" name="Google Shape;634;g2681517d28c_0_73"/>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1000"/>
              </a:spcBef>
              <a:spcAft>
                <a:spcPts val="0"/>
              </a:spcAft>
              <a:buClr>
                <a:schemeClr val="dk1"/>
              </a:buClr>
              <a:buSzPts val="275"/>
              <a:buFont typeface="Arial"/>
              <a:buNone/>
            </a:pPr>
            <a:r>
              <a:rPr lang="en-US" sz="1350"/>
              <a:t>void selectionSort(int arr[], int n)</a:t>
            </a:r>
            <a:endParaRPr sz="1350"/>
          </a:p>
          <a:p>
            <a:pPr marL="0" lvl="0" indent="0" algn="l" rtl="0">
              <a:lnSpc>
                <a:spcPct val="80000"/>
              </a:lnSpc>
              <a:spcBef>
                <a:spcPts val="1000"/>
              </a:spcBef>
              <a:spcAft>
                <a:spcPts val="0"/>
              </a:spcAft>
              <a:buClr>
                <a:schemeClr val="dk1"/>
              </a:buClr>
              <a:buSzPts val="275"/>
              <a:buFont typeface="Arial"/>
              <a:buNone/>
            </a:pPr>
            <a:r>
              <a:rPr lang="en-US" sz="1350"/>
              <a:t>{</a:t>
            </a:r>
            <a:endParaRPr sz="1350"/>
          </a:p>
          <a:p>
            <a:pPr marL="0" lvl="0" indent="0" algn="l" rtl="0">
              <a:lnSpc>
                <a:spcPct val="80000"/>
              </a:lnSpc>
              <a:spcBef>
                <a:spcPts val="1000"/>
              </a:spcBef>
              <a:spcAft>
                <a:spcPts val="0"/>
              </a:spcAft>
              <a:buClr>
                <a:schemeClr val="dk1"/>
              </a:buClr>
              <a:buSzPts val="275"/>
              <a:buFont typeface="Arial"/>
              <a:buNone/>
            </a:pPr>
            <a:r>
              <a:rPr lang="en-US" sz="1350"/>
              <a:t>    int i, j, min_idx;</a:t>
            </a:r>
            <a:endParaRPr sz="1350"/>
          </a:p>
          <a:p>
            <a:pPr marL="0" lvl="0" indent="0" algn="l" rtl="0">
              <a:lnSpc>
                <a:spcPct val="80000"/>
              </a:lnSpc>
              <a:spcBef>
                <a:spcPts val="1000"/>
              </a:spcBef>
              <a:spcAft>
                <a:spcPts val="0"/>
              </a:spcAft>
              <a:buClr>
                <a:schemeClr val="dk1"/>
              </a:buClr>
              <a:buSzPts val="275"/>
              <a:buFont typeface="Arial"/>
              <a:buNone/>
            </a:pPr>
            <a:r>
              <a:rPr lang="en-US" sz="1350"/>
              <a:t>    for (i = 0; i &lt; n-1; i++)</a:t>
            </a:r>
            <a:endParaRPr sz="1350"/>
          </a:p>
          <a:p>
            <a:pPr marL="0" lvl="0" indent="0" algn="l" rtl="0">
              <a:lnSpc>
                <a:spcPct val="80000"/>
              </a:lnSpc>
              <a:spcBef>
                <a:spcPts val="1000"/>
              </a:spcBef>
              <a:spcAft>
                <a:spcPts val="0"/>
              </a:spcAft>
              <a:buClr>
                <a:schemeClr val="dk1"/>
              </a:buClr>
              <a:buSzPts val="275"/>
              <a:buFont typeface="Arial"/>
              <a:buNone/>
            </a:pPr>
            <a:r>
              <a:rPr lang="en-US" sz="1350"/>
              <a:t>    {</a:t>
            </a:r>
            <a:endParaRPr sz="1350"/>
          </a:p>
          <a:p>
            <a:pPr marL="0" lvl="0" indent="0" algn="l" rtl="0">
              <a:lnSpc>
                <a:spcPct val="80000"/>
              </a:lnSpc>
              <a:spcBef>
                <a:spcPts val="1000"/>
              </a:spcBef>
              <a:spcAft>
                <a:spcPts val="0"/>
              </a:spcAft>
              <a:buClr>
                <a:schemeClr val="dk1"/>
              </a:buClr>
              <a:buSzPts val="275"/>
              <a:buFont typeface="Arial"/>
              <a:buNone/>
            </a:pPr>
            <a:r>
              <a:rPr lang="en-US" sz="1350"/>
              <a:t>        min_idx = i;</a:t>
            </a:r>
            <a:endParaRPr sz="1350"/>
          </a:p>
          <a:p>
            <a:pPr marL="0" lvl="0" indent="0" algn="l" rtl="0">
              <a:lnSpc>
                <a:spcPct val="80000"/>
              </a:lnSpc>
              <a:spcBef>
                <a:spcPts val="1000"/>
              </a:spcBef>
              <a:spcAft>
                <a:spcPts val="0"/>
              </a:spcAft>
              <a:buClr>
                <a:schemeClr val="dk1"/>
              </a:buClr>
              <a:buSzPts val="275"/>
              <a:buFont typeface="Arial"/>
              <a:buNone/>
            </a:pPr>
            <a:r>
              <a:rPr lang="en-US" sz="1350"/>
              <a:t>        for (j = i+1; j &lt; n; j++)</a:t>
            </a:r>
            <a:endParaRPr sz="1350"/>
          </a:p>
          <a:p>
            <a:pPr marL="0" lvl="0" indent="0" algn="l" rtl="0">
              <a:lnSpc>
                <a:spcPct val="80000"/>
              </a:lnSpc>
              <a:spcBef>
                <a:spcPts val="1000"/>
              </a:spcBef>
              <a:spcAft>
                <a:spcPts val="0"/>
              </a:spcAft>
              <a:buClr>
                <a:schemeClr val="dk1"/>
              </a:buClr>
              <a:buSzPts val="275"/>
              <a:buFont typeface="Arial"/>
              <a:buNone/>
            </a:pPr>
            <a:r>
              <a:rPr lang="en-US" sz="1350"/>
              <a:t>          if (arr[j] &lt; arr[min_idx])</a:t>
            </a:r>
            <a:endParaRPr sz="1350"/>
          </a:p>
          <a:p>
            <a:pPr marL="0" lvl="0" indent="0" algn="l" rtl="0">
              <a:lnSpc>
                <a:spcPct val="80000"/>
              </a:lnSpc>
              <a:spcBef>
                <a:spcPts val="1000"/>
              </a:spcBef>
              <a:spcAft>
                <a:spcPts val="0"/>
              </a:spcAft>
              <a:buClr>
                <a:schemeClr val="dk1"/>
              </a:buClr>
              <a:buSzPts val="275"/>
              <a:buFont typeface="Arial"/>
              <a:buNone/>
            </a:pPr>
            <a:r>
              <a:rPr lang="en-US" sz="1350"/>
              <a:t>            min_idx = j;</a:t>
            </a:r>
            <a:endParaRPr sz="1350"/>
          </a:p>
          <a:p>
            <a:pPr marL="0" lvl="0" indent="0" algn="l" rtl="0">
              <a:lnSpc>
                <a:spcPct val="80000"/>
              </a:lnSpc>
              <a:spcBef>
                <a:spcPts val="1000"/>
              </a:spcBef>
              <a:spcAft>
                <a:spcPts val="0"/>
              </a:spcAft>
              <a:buClr>
                <a:schemeClr val="dk1"/>
              </a:buClr>
              <a:buSzPts val="275"/>
              <a:buFont typeface="Arial"/>
              <a:buNone/>
            </a:pPr>
            <a:r>
              <a:rPr lang="en-US" sz="1350"/>
              <a:t>            if(min_idx != i)</a:t>
            </a:r>
            <a:endParaRPr sz="1350"/>
          </a:p>
          <a:p>
            <a:pPr marL="0" lvl="0" indent="0" algn="l" rtl="0">
              <a:lnSpc>
                <a:spcPct val="80000"/>
              </a:lnSpc>
              <a:spcBef>
                <a:spcPts val="1000"/>
              </a:spcBef>
              <a:spcAft>
                <a:spcPts val="0"/>
              </a:spcAft>
              <a:buClr>
                <a:schemeClr val="dk1"/>
              </a:buClr>
              <a:buSzPts val="275"/>
              <a:buFont typeface="Arial"/>
              <a:buNone/>
            </a:pPr>
            <a:r>
              <a:rPr lang="en-US" sz="1350"/>
              <a:t>            swap(&amp;arr[min_idx], &amp;arr[i]);</a:t>
            </a:r>
            <a:endParaRPr sz="1350"/>
          </a:p>
          <a:p>
            <a:pPr marL="0" lvl="0" indent="0" algn="l" rtl="0">
              <a:lnSpc>
                <a:spcPct val="80000"/>
              </a:lnSpc>
              <a:spcBef>
                <a:spcPts val="1000"/>
              </a:spcBef>
              <a:spcAft>
                <a:spcPts val="0"/>
              </a:spcAft>
              <a:buClr>
                <a:schemeClr val="dk1"/>
              </a:buClr>
              <a:buSzPts val="275"/>
              <a:buFont typeface="Arial"/>
              <a:buNone/>
            </a:pPr>
            <a:r>
              <a:rPr lang="en-US" sz="1350"/>
              <a:t>    }</a:t>
            </a:r>
            <a:endParaRPr sz="1350"/>
          </a:p>
          <a:p>
            <a:pPr marL="0" lvl="0" indent="0" algn="l" rtl="0">
              <a:lnSpc>
                <a:spcPct val="80000"/>
              </a:lnSpc>
              <a:spcBef>
                <a:spcPts val="1000"/>
              </a:spcBef>
              <a:spcAft>
                <a:spcPts val="0"/>
              </a:spcAft>
              <a:buSzPts val="275"/>
              <a:buNone/>
            </a:pPr>
            <a:r>
              <a:rPr lang="en-US" sz="1350"/>
              <a:t>}</a:t>
            </a:r>
            <a:endParaRPr sz="1350"/>
          </a:p>
        </p:txBody>
      </p:sp>
      <p:sp>
        <p:nvSpPr>
          <p:cNvPr id="635" name="Google Shape;635;g2681517d28c_0_7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99</a:t>
            </a:fld>
            <a:endParaRPr/>
          </a:p>
        </p:txBody>
      </p:sp>
    </p:spTree>
    <p:extLst>
      <p:ext uri="{BB962C8B-B14F-4D97-AF65-F5344CB8AC3E}">
        <p14:creationId xmlns:p14="http://schemas.microsoft.com/office/powerpoint/2010/main" val="32673653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g2681517d28c_0_8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Analysis of Selection Sort</a:t>
            </a:r>
            <a:endParaRPr/>
          </a:p>
        </p:txBody>
      </p:sp>
      <p:sp>
        <p:nvSpPr>
          <p:cNvPr id="642" name="Google Shape;642;g2681517d28c_0_81"/>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1000"/>
              </a:spcBef>
              <a:spcAft>
                <a:spcPts val="0"/>
              </a:spcAft>
              <a:buClr>
                <a:schemeClr val="dk1"/>
              </a:buClr>
              <a:buSzPts val="1100"/>
              <a:buFont typeface="Arial"/>
              <a:buNone/>
            </a:pPr>
            <a:r>
              <a:rPr lang="en-US"/>
              <a:t>Best-case: O(n^2), best case occurs when the array is already sorted. (where n is the number of integers in an array)</a:t>
            </a:r>
            <a:endParaRPr/>
          </a:p>
          <a:p>
            <a:pPr marL="0" lvl="0" indent="0" algn="l" rtl="0">
              <a:lnSpc>
                <a:spcPct val="100000"/>
              </a:lnSpc>
              <a:spcBef>
                <a:spcPts val="1000"/>
              </a:spcBef>
              <a:spcAft>
                <a:spcPts val="0"/>
              </a:spcAft>
              <a:buClr>
                <a:schemeClr val="dk1"/>
              </a:buClr>
              <a:buSzPts val="1100"/>
              <a:buFont typeface="Arial"/>
              <a:buNone/>
            </a:pPr>
            <a:r>
              <a:rPr lang="en-US"/>
              <a:t>Average-case: O(n^2), the average case arises when the elements of the array are in a disordered or random order, without a clear ascending or descending pattern.</a:t>
            </a:r>
            <a:endParaRPr/>
          </a:p>
          <a:p>
            <a:pPr marL="0" lvl="0" indent="0" algn="l" rtl="0">
              <a:lnSpc>
                <a:spcPct val="100000"/>
              </a:lnSpc>
              <a:spcBef>
                <a:spcPts val="1000"/>
              </a:spcBef>
              <a:spcAft>
                <a:spcPts val="0"/>
              </a:spcAft>
              <a:buClr>
                <a:schemeClr val="dk1"/>
              </a:buClr>
              <a:buSzPts val="1100"/>
              <a:buFont typeface="Arial"/>
              <a:buNone/>
            </a:pPr>
            <a:r>
              <a:rPr lang="en-US"/>
              <a:t>Worst-case: O(n^2), The worst-case scenario arises when we need to sort an array in ascending order, but the array is initially in descending order.</a:t>
            </a:r>
            <a:endParaRPr/>
          </a:p>
          <a:p>
            <a:pPr marL="0" lvl="0" indent="0" algn="l" rtl="0">
              <a:lnSpc>
                <a:spcPct val="100000"/>
              </a:lnSpc>
              <a:spcBef>
                <a:spcPts val="1000"/>
              </a:spcBef>
              <a:spcAft>
                <a:spcPts val="0"/>
              </a:spcAft>
              <a:buSzPts val="1800"/>
              <a:buNone/>
            </a:pPr>
            <a:r>
              <a:rPr lang="en-US"/>
              <a:t>Space Complexity: O(1), as no extra space is required for the Selection sort algorithm</a:t>
            </a:r>
            <a:endParaRPr/>
          </a:p>
        </p:txBody>
      </p:sp>
      <p:sp>
        <p:nvSpPr>
          <p:cNvPr id="643" name="Google Shape;643;g2681517d28c_0_8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100</a:t>
            </a:fld>
            <a:endParaRPr/>
          </a:p>
        </p:txBody>
      </p:sp>
    </p:spTree>
    <p:extLst>
      <p:ext uri="{BB962C8B-B14F-4D97-AF65-F5344CB8AC3E}">
        <p14:creationId xmlns:p14="http://schemas.microsoft.com/office/powerpoint/2010/main" val="28642618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g2681517d28c_0_9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Insertion sort</a:t>
            </a:r>
            <a:endParaRPr/>
          </a:p>
        </p:txBody>
      </p:sp>
      <p:sp>
        <p:nvSpPr>
          <p:cNvPr id="650" name="Google Shape;650;g2681517d28c_0_9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101</a:t>
            </a:fld>
            <a:endParaRPr/>
          </a:p>
        </p:txBody>
      </p:sp>
      <p:pic>
        <p:nvPicPr>
          <p:cNvPr id="651" name="Google Shape;651;g2681517d28c_0_93"/>
          <p:cNvPicPr preferRelativeResize="0"/>
          <p:nvPr/>
        </p:nvPicPr>
        <p:blipFill rotWithShape="1">
          <a:blip r:embed="rId3">
            <a:alphaModFix/>
          </a:blip>
          <a:srcRect t="5078"/>
          <a:stretch/>
        </p:blipFill>
        <p:spPr>
          <a:xfrm>
            <a:off x="3908175" y="2378375"/>
            <a:ext cx="4375700" cy="4205250"/>
          </a:xfrm>
          <a:prstGeom prst="rect">
            <a:avLst/>
          </a:prstGeom>
          <a:noFill/>
          <a:ln>
            <a:noFill/>
          </a:ln>
        </p:spPr>
      </p:pic>
      <p:sp>
        <p:nvSpPr>
          <p:cNvPr id="652" name="Google Shape;652;g2681517d28c_0_93"/>
          <p:cNvSpPr txBox="1">
            <a:spLocks noGrp="1"/>
          </p:cNvSpPr>
          <p:nvPr>
            <p:ph type="body" idx="1"/>
          </p:nvPr>
        </p:nvSpPr>
        <p:spPr>
          <a:xfrm>
            <a:off x="2231136" y="2638044"/>
            <a:ext cx="7729800" cy="3102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extLst>
      <p:ext uri="{BB962C8B-B14F-4D97-AF65-F5344CB8AC3E}">
        <p14:creationId xmlns:p14="http://schemas.microsoft.com/office/powerpoint/2010/main" val="3527661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2681517d28c_0_10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Insertion sort</a:t>
            </a:r>
            <a:endParaRPr/>
          </a:p>
        </p:txBody>
      </p:sp>
      <p:sp>
        <p:nvSpPr>
          <p:cNvPr id="659" name="Google Shape;659;g2681517d28c_0_10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1000"/>
              </a:spcBef>
              <a:spcAft>
                <a:spcPts val="0"/>
              </a:spcAft>
              <a:buClr>
                <a:schemeClr val="dk1"/>
              </a:buClr>
              <a:buSzPts val="275"/>
              <a:buFont typeface="Arial"/>
              <a:buNone/>
            </a:pPr>
            <a:r>
              <a:rPr lang="en-US" sz="1350"/>
              <a:t>void insertionSort(int arr[], int n)</a:t>
            </a:r>
            <a:endParaRPr sz="1350"/>
          </a:p>
          <a:p>
            <a:pPr marL="0" lvl="0" indent="0" algn="l" rtl="0">
              <a:lnSpc>
                <a:spcPct val="80000"/>
              </a:lnSpc>
              <a:spcBef>
                <a:spcPts val="1000"/>
              </a:spcBef>
              <a:spcAft>
                <a:spcPts val="0"/>
              </a:spcAft>
              <a:buClr>
                <a:schemeClr val="dk1"/>
              </a:buClr>
              <a:buSzPts val="275"/>
              <a:buFont typeface="Arial"/>
              <a:buNone/>
            </a:pPr>
            <a:r>
              <a:rPr lang="en-US" sz="1350"/>
              <a:t>{</a:t>
            </a:r>
            <a:endParaRPr sz="1350"/>
          </a:p>
          <a:p>
            <a:pPr marL="0" lvl="0" indent="0" algn="l" rtl="0">
              <a:lnSpc>
                <a:spcPct val="80000"/>
              </a:lnSpc>
              <a:spcBef>
                <a:spcPts val="1000"/>
              </a:spcBef>
              <a:spcAft>
                <a:spcPts val="0"/>
              </a:spcAft>
              <a:buClr>
                <a:schemeClr val="dk1"/>
              </a:buClr>
              <a:buSzPts val="275"/>
              <a:buFont typeface="Arial"/>
              <a:buNone/>
            </a:pPr>
            <a:r>
              <a:rPr lang="en-US" sz="1350"/>
              <a:t>    int i, key, j;</a:t>
            </a:r>
            <a:endParaRPr sz="1350"/>
          </a:p>
          <a:p>
            <a:pPr marL="0" lvl="0" indent="0" algn="l" rtl="0">
              <a:lnSpc>
                <a:spcPct val="80000"/>
              </a:lnSpc>
              <a:spcBef>
                <a:spcPts val="1000"/>
              </a:spcBef>
              <a:spcAft>
                <a:spcPts val="0"/>
              </a:spcAft>
              <a:buClr>
                <a:schemeClr val="dk1"/>
              </a:buClr>
              <a:buSzPts val="275"/>
              <a:buFont typeface="Arial"/>
              <a:buNone/>
            </a:pPr>
            <a:r>
              <a:rPr lang="en-US" sz="1350"/>
              <a:t>    for (i = 1; i &lt; n; i++) {</a:t>
            </a:r>
            <a:endParaRPr sz="1350"/>
          </a:p>
          <a:p>
            <a:pPr marL="0" lvl="0" indent="0" algn="l" rtl="0">
              <a:lnSpc>
                <a:spcPct val="80000"/>
              </a:lnSpc>
              <a:spcBef>
                <a:spcPts val="1000"/>
              </a:spcBef>
              <a:spcAft>
                <a:spcPts val="0"/>
              </a:spcAft>
              <a:buClr>
                <a:schemeClr val="dk1"/>
              </a:buClr>
              <a:buSzPts val="275"/>
              <a:buFont typeface="Arial"/>
              <a:buNone/>
            </a:pPr>
            <a:r>
              <a:rPr lang="en-US" sz="1350"/>
              <a:t>        key = arr[i];</a:t>
            </a:r>
            <a:endParaRPr sz="1350"/>
          </a:p>
          <a:p>
            <a:pPr marL="0" lvl="0" indent="0" algn="l" rtl="0">
              <a:lnSpc>
                <a:spcPct val="80000"/>
              </a:lnSpc>
              <a:spcBef>
                <a:spcPts val="1000"/>
              </a:spcBef>
              <a:spcAft>
                <a:spcPts val="0"/>
              </a:spcAft>
              <a:buClr>
                <a:schemeClr val="dk1"/>
              </a:buClr>
              <a:buSzPts val="275"/>
              <a:buFont typeface="Arial"/>
              <a:buNone/>
            </a:pPr>
            <a:r>
              <a:rPr lang="en-US" sz="1350"/>
              <a:t>        j = i - 1;</a:t>
            </a:r>
            <a:endParaRPr sz="1350"/>
          </a:p>
          <a:p>
            <a:pPr marL="0" lvl="0" indent="0" algn="l" rtl="0">
              <a:lnSpc>
                <a:spcPct val="80000"/>
              </a:lnSpc>
              <a:spcBef>
                <a:spcPts val="1000"/>
              </a:spcBef>
              <a:spcAft>
                <a:spcPts val="0"/>
              </a:spcAft>
              <a:buClr>
                <a:schemeClr val="dk1"/>
              </a:buClr>
              <a:buSzPts val="275"/>
              <a:buFont typeface="Arial"/>
              <a:buNone/>
            </a:pPr>
            <a:r>
              <a:rPr lang="en-US" sz="1350"/>
              <a:t>        while (j &gt;= 0 &amp;&amp; arr[j] &gt; key) {</a:t>
            </a:r>
            <a:endParaRPr sz="1350"/>
          </a:p>
          <a:p>
            <a:pPr marL="0" lvl="0" indent="0" algn="l" rtl="0">
              <a:lnSpc>
                <a:spcPct val="80000"/>
              </a:lnSpc>
              <a:spcBef>
                <a:spcPts val="1000"/>
              </a:spcBef>
              <a:spcAft>
                <a:spcPts val="0"/>
              </a:spcAft>
              <a:buClr>
                <a:schemeClr val="dk1"/>
              </a:buClr>
              <a:buSzPts val="275"/>
              <a:buFont typeface="Arial"/>
              <a:buNone/>
            </a:pPr>
            <a:r>
              <a:rPr lang="en-US" sz="1350"/>
              <a:t>            arr[j + 1] = arr[j];</a:t>
            </a:r>
            <a:endParaRPr sz="1350"/>
          </a:p>
          <a:p>
            <a:pPr marL="0" lvl="0" indent="0" algn="l" rtl="0">
              <a:lnSpc>
                <a:spcPct val="80000"/>
              </a:lnSpc>
              <a:spcBef>
                <a:spcPts val="1000"/>
              </a:spcBef>
              <a:spcAft>
                <a:spcPts val="0"/>
              </a:spcAft>
              <a:buClr>
                <a:schemeClr val="dk1"/>
              </a:buClr>
              <a:buSzPts val="275"/>
              <a:buFont typeface="Arial"/>
              <a:buNone/>
            </a:pPr>
            <a:r>
              <a:rPr lang="en-US" sz="1350"/>
              <a:t>            j = j - 1;</a:t>
            </a:r>
            <a:endParaRPr sz="1350"/>
          </a:p>
          <a:p>
            <a:pPr marL="0" lvl="0" indent="0" algn="l" rtl="0">
              <a:lnSpc>
                <a:spcPct val="80000"/>
              </a:lnSpc>
              <a:spcBef>
                <a:spcPts val="1000"/>
              </a:spcBef>
              <a:spcAft>
                <a:spcPts val="0"/>
              </a:spcAft>
              <a:buClr>
                <a:schemeClr val="dk1"/>
              </a:buClr>
              <a:buSzPts val="275"/>
              <a:buFont typeface="Arial"/>
              <a:buNone/>
            </a:pPr>
            <a:r>
              <a:rPr lang="en-US" sz="1350"/>
              <a:t>        }</a:t>
            </a:r>
            <a:endParaRPr sz="1350"/>
          </a:p>
          <a:p>
            <a:pPr marL="0" lvl="0" indent="0" algn="l" rtl="0">
              <a:lnSpc>
                <a:spcPct val="80000"/>
              </a:lnSpc>
              <a:spcBef>
                <a:spcPts val="1000"/>
              </a:spcBef>
              <a:spcAft>
                <a:spcPts val="0"/>
              </a:spcAft>
              <a:buClr>
                <a:schemeClr val="dk1"/>
              </a:buClr>
              <a:buSzPts val="275"/>
              <a:buFont typeface="Arial"/>
              <a:buNone/>
            </a:pPr>
            <a:r>
              <a:rPr lang="en-US" sz="1350"/>
              <a:t>        arr[j + 1] = key;</a:t>
            </a:r>
            <a:endParaRPr sz="1350"/>
          </a:p>
          <a:p>
            <a:pPr marL="0" lvl="0" indent="0" algn="l" rtl="0">
              <a:lnSpc>
                <a:spcPct val="80000"/>
              </a:lnSpc>
              <a:spcBef>
                <a:spcPts val="1000"/>
              </a:spcBef>
              <a:spcAft>
                <a:spcPts val="0"/>
              </a:spcAft>
              <a:buClr>
                <a:schemeClr val="dk1"/>
              </a:buClr>
              <a:buSzPts val="275"/>
              <a:buFont typeface="Arial"/>
              <a:buNone/>
            </a:pPr>
            <a:r>
              <a:rPr lang="en-US" sz="1350"/>
              <a:t>    }</a:t>
            </a:r>
            <a:endParaRPr sz="1350"/>
          </a:p>
          <a:p>
            <a:pPr marL="0" lvl="0" indent="0" algn="l" rtl="0">
              <a:lnSpc>
                <a:spcPct val="80000"/>
              </a:lnSpc>
              <a:spcBef>
                <a:spcPts val="1000"/>
              </a:spcBef>
              <a:spcAft>
                <a:spcPts val="0"/>
              </a:spcAft>
              <a:buSzPts val="275"/>
              <a:buNone/>
            </a:pPr>
            <a:r>
              <a:rPr lang="en-US" sz="1350"/>
              <a:t>}</a:t>
            </a:r>
            <a:endParaRPr sz="1350"/>
          </a:p>
        </p:txBody>
      </p:sp>
      <p:sp>
        <p:nvSpPr>
          <p:cNvPr id="660" name="Google Shape;660;g2681517d28c_0_10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102</a:t>
            </a:fld>
            <a:endParaRPr/>
          </a:p>
        </p:txBody>
      </p:sp>
    </p:spTree>
    <p:extLst>
      <p:ext uri="{BB962C8B-B14F-4D97-AF65-F5344CB8AC3E}">
        <p14:creationId xmlns:p14="http://schemas.microsoft.com/office/powerpoint/2010/main" val="23039166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g2681517d28c_0_11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Analysis of Insertion Sort</a:t>
            </a:r>
            <a:endParaRPr/>
          </a:p>
        </p:txBody>
      </p:sp>
      <p:sp>
        <p:nvSpPr>
          <p:cNvPr id="667" name="Google Shape;667;g2681517d28c_0_110"/>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US"/>
              <a:t>The worst-case time complexity of the Insertion sort is O(N^2)</a:t>
            </a:r>
            <a:endParaRPr/>
          </a:p>
          <a:p>
            <a:pPr marL="0" lvl="0" indent="0" algn="l" rtl="0">
              <a:lnSpc>
                <a:spcPct val="100000"/>
              </a:lnSpc>
              <a:spcBef>
                <a:spcPts val="1000"/>
              </a:spcBef>
              <a:spcAft>
                <a:spcPts val="0"/>
              </a:spcAft>
              <a:buClr>
                <a:schemeClr val="dk1"/>
              </a:buClr>
              <a:buSzPts val="1100"/>
              <a:buFont typeface="Arial"/>
              <a:buNone/>
            </a:pPr>
            <a:r>
              <a:rPr lang="en-US"/>
              <a:t>The average case time complexity of the Insertion sort is O(N^2)</a:t>
            </a:r>
            <a:endParaRPr/>
          </a:p>
          <a:p>
            <a:pPr marL="0" lvl="0" indent="0" algn="l" rtl="0">
              <a:lnSpc>
                <a:spcPct val="100000"/>
              </a:lnSpc>
              <a:spcBef>
                <a:spcPts val="1000"/>
              </a:spcBef>
              <a:spcAft>
                <a:spcPts val="0"/>
              </a:spcAft>
              <a:buClr>
                <a:schemeClr val="dk1"/>
              </a:buClr>
              <a:buSzPts val="1100"/>
              <a:buFont typeface="Arial"/>
              <a:buNone/>
            </a:pPr>
            <a:r>
              <a:rPr lang="en-US"/>
              <a:t>The time complexity of the best case is O(N).</a:t>
            </a:r>
            <a:endParaRPr/>
          </a:p>
          <a:p>
            <a:pPr marL="0" lvl="0" indent="0" algn="l" rtl="0">
              <a:lnSpc>
                <a:spcPct val="100000"/>
              </a:lnSpc>
              <a:spcBef>
                <a:spcPts val="1000"/>
              </a:spcBef>
              <a:spcAft>
                <a:spcPts val="0"/>
              </a:spcAft>
              <a:buSzPts val="1800"/>
              <a:buNone/>
            </a:pPr>
            <a:r>
              <a:rPr lang="en-US"/>
              <a:t>Space complexity of Insertion Sort is O(1)</a:t>
            </a:r>
            <a:endParaRPr/>
          </a:p>
        </p:txBody>
      </p:sp>
      <p:sp>
        <p:nvSpPr>
          <p:cNvPr id="668" name="Google Shape;668;g2681517d28c_0_11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103</a:t>
            </a:fld>
            <a:endParaRPr/>
          </a:p>
        </p:txBody>
      </p:sp>
    </p:spTree>
    <p:extLst>
      <p:ext uri="{BB962C8B-B14F-4D97-AF65-F5344CB8AC3E}">
        <p14:creationId xmlns:p14="http://schemas.microsoft.com/office/powerpoint/2010/main" val="28535168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g2681517d28c_0_11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Shell sort</a:t>
            </a:r>
            <a:endParaRPr/>
          </a:p>
        </p:txBody>
      </p:sp>
      <p:sp>
        <p:nvSpPr>
          <p:cNvPr id="675" name="Google Shape;675;g2681517d28c_0_119"/>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100000"/>
              </a:lnSpc>
              <a:spcBef>
                <a:spcPts val="1000"/>
              </a:spcBef>
              <a:spcAft>
                <a:spcPts val="0"/>
              </a:spcAft>
              <a:buSzPct val="142857"/>
              <a:buNone/>
            </a:pPr>
            <a:r>
              <a:rPr lang="en-US"/>
              <a:t>Shell sort is mainly a variation of Insertion Sort. </a:t>
            </a:r>
            <a:endParaRPr/>
          </a:p>
          <a:p>
            <a:pPr marL="0" lvl="0" indent="0" algn="just" rtl="0">
              <a:lnSpc>
                <a:spcPct val="100000"/>
              </a:lnSpc>
              <a:spcBef>
                <a:spcPts val="1000"/>
              </a:spcBef>
              <a:spcAft>
                <a:spcPts val="0"/>
              </a:spcAft>
              <a:buSzPct val="142857"/>
              <a:buNone/>
            </a:pPr>
            <a:r>
              <a:rPr lang="en-US"/>
              <a:t>In insertion sort, we move elements only one position ahead. When an element has to be moved far ahead, many movements are involved. The idea of ShellSort is to allow the exchange of far items.</a:t>
            </a:r>
            <a:endParaRPr/>
          </a:p>
          <a:p>
            <a:pPr marL="0" lvl="0" indent="0" algn="just" rtl="0">
              <a:lnSpc>
                <a:spcPct val="100000"/>
              </a:lnSpc>
              <a:spcBef>
                <a:spcPts val="1000"/>
              </a:spcBef>
              <a:spcAft>
                <a:spcPts val="0"/>
              </a:spcAft>
              <a:buClr>
                <a:schemeClr val="dk1"/>
              </a:buClr>
              <a:buSzPct val="61109"/>
              <a:buFont typeface="Arial"/>
              <a:buNone/>
            </a:pPr>
            <a:r>
              <a:rPr lang="en-US" b="1"/>
              <a:t>Algorithm:</a:t>
            </a:r>
            <a:endParaRPr b="1"/>
          </a:p>
          <a:p>
            <a:pPr marL="0" lvl="0" indent="0" algn="just" rtl="0">
              <a:lnSpc>
                <a:spcPct val="100000"/>
              </a:lnSpc>
              <a:spcBef>
                <a:spcPts val="1000"/>
              </a:spcBef>
              <a:spcAft>
                <a:spcPts val="0"/>
              </a:spcAft>
              <a:buClr>
                <a:schemeClr val="dk1"/>
              </a:buClr>
              <a:buSzPct val="61109"/>
              <a:buFont typeface="Arial"/>
              <a:buNone/>
            </a:pPr>
            <a:r>
              <a:rPr lang="en-US"/>
              <a:t>Step 1 − Start</a:t>
            </a:r>
            <a:endParaRPr/>
          </a:p>
          <a:p>
            <a:pPr marL="0" lvl="0" indent="0" algn="just" rtl="0">
              <a:lnSpc>
                <a:spcPct val="100000"/>
              </a:lnSpc>
              <a:spcBef>
                <a:spcPts val="1000"/>
              </a:spcBef>
              <a:spcAft>
                <a:spcPts val="0"/>
              </a:spcAft>
              <a:buClr>
                <a:schemeClr val="dk1"/>
              </a:buClr>
              <a:buSzPct val="61109"/>
              <a:buFont typeface="Arial"/>
              <a:buNone/>
            </a:pPr>
            <a:r>
              <a:rPr lang="en-US"/>
              <a:t>Step 2 − Initialize the value of gap size. Example: h</a:t>
            </a:r>
            <a:endParaRPr/>
          </a:p>
          <a:p>
            <a:pPr marL="0" lvl="0" indent="0" algn="just" rtl="0">
              <a:lnSpc>
                <a:spcPct val="100000"/>
              </a:lnSpc>
              <a:spcBef>
                <a:spcPts val="1000"/>
              </a:spcBef>
              <a:spcAft>
                <a:spcPts val="0"/>
              </a:spcAft>
              <a:buClr>
                <a:schemeClr val="dk1"/>
              </a:buClr>
              <a:buSzPct val="61109"/>
              <a:buFont typeface="Arial"/>
              <a:buNone/>
            </a:pPr>
            <a:r>
              <a:rPr lang="en-US"/>
              <a:t>Step 3 − Divide the list into smaller sub-part. Each must have equal intervals to h</a:t>
            </a:r>
            <a:endParaRPr/>
          </a:p>
          <a:p>
            <a:pPr marL="0" lvl="0" indent="0" algn="just" rtl="0">
              <a:lnSpc>
                <a:spcPct val="100000"/>
              </a:lnSpc>
              <a:spcBef>
                <a:spcPts val="1000"/>
              </a:spcBef>
              <a:spcAft>
                <a:spcPts val="0"/>
              </a:spcAft>
              <a:buClr>
                <a:schemeClr val="dk1"/>
              </a:buClr>
              <a:buSzPct val="61109"/>
              <a:buFont typeface="Arial"/>
              <a:buNone/>
            </a:pPr>
            <a:r>
              <a:rPr lang="en-US"/>
              <a:t>Step 4 − Sort these sub-lists using insertion sort</a:t>
            </a:r>
            <a:endParaRPr/>
          </a:p>
          <a:p>
            <a:pPr marL="0" lvl="0" indent="0" algn="just" rtl="0">
              <a:lnSpc>
                <a:spcPct val="100000"/>
              </a:lnSpc>
              <a:spcBef>
                <a:spcPts val="1000"/>
              </a:spcBef>
              <a:spcAft>
                <a:spcPts val="0"/>
              </a:spcAft>
              <a:buClr>
                <a:schemeClr val="dk1"/>
              </a:buClr>
              <a:buSzPct val="61109"/>
              <a:buFont typeface="Arial"/>
              <a:buNone/>
            </a:pPr>
            <a:r>
              <a:rPr lang="en-US"/>
              <a:t>Step 5 – Repeat this step 2 until the list is sorted.</a:t>
            </a:r>
            <a:endParaRPr/>
          </a:p>
          <a:p>
            <a:pPr marL="0" lvl="0" indent="0" algn="just" rtl="0">
              <a:lnSpc>
                <a:spcPct val="100000"/>
              </a:lnSpc>
              <a:spcBef>
                <a:spcPts val="1000"/>
              </a:spcBef>
              <a:spcAft>
                <a:spcPts val="0"/>
              </a:spcAft>
              <a:buClr>
                <a:schemeClr val="dk1"/>
              </a:buClr>
              <a:buSzPct val="61109"/>
              <a:buFont typeface="Arial"/>
              <a:buNone/>
            </a:pPr>
            <a:r>
              <a:rPr lang="en-US"/>
              <a:t>Step 6 – Print a sorted list.</a:t>
            </a:r>
            <a:endParaRPr/>
          </a:p>
          <a:p>
            <a:pPr marL="0" lvl="0" indent="0" algn="just" rtl="0">
              <a:lnSpc>
                <a:spcPct val="100000"/>
              </a:lnSpc>
              <a:spcBef>
                <a:spcPts val="1000"/>
              </a:spcBef>
              <a:spcAft>
                <a:spcPts val="0"/>
              </a:spcAft>
              <a:buSzPct val="142857"/>
              <a:buNone/>
            </a:pPr>
            <a:r>
              <a:rPr lang="en-US"/>
              <a:t>Step 7 – Stop.</a:t>
            </a:r>
            <a:endParaRPr/>
          </a:p>
        </p:txBody>
      </p:sp>
      <p:sp>
        <p:nvSpPr>
          <p:cNvPr id="676" name="Google Shape;676;g2681517d28c_0_11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104</a:t>
            </a:fld>
            <a:endParaRPr/>
          </a:p>
        </p:txBody>
      </p:sp>
    </p:spTree>
    <p:extLst>
      <p:ext uri="{BB962C8B-B14F-4D97-AF65-F5344CB8AC3E}">
        <p14:creationId xmlns:p14="http://schemas.microsoft.com/office/powerpoint/2010/main" val="42400684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g2681517d28c_1_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Shell sort</a:t>
            </a:r>
            <a:endParaRPr/>
          </a:p>
        </p:txBody>
      </p:sp>
      <p:sp>
        <p:nvSpPr>
          <p:cNvPr id="683" name="Google Shape;683;g2681517d28c_1_3"/>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sz="2124" b="1"/>
              <a:t>Pseudocode :</a:t>
            </a:r>
            <a:endParaRPr sz="2124" b="1"/>
          </a:p>
          <a:p>
            <a:pPr marL="0" lvl="0" indent="0" algn="l" rtl="0">
              <a:lnSpc>
                <a:spcPct val="100000"/>
              </a:lnSpc>
              <a:spcBef>
                <a:spcPts val="0"/>
              </a:spcBef>
              <a:spcAft>
                <a:spcPts val="0"/>
              </a:spcAft>
              <a:buSzPts val="1800"/>
              <a:buNone/>
            </a:pPr>
            <a:r>
              <a:rPr lang="en-US"/>
              <a:t>ShellSort(a, n) // 'a' is the given array, 'n' is the size of array  </a:t>
            </a:r>
            <a:endParaRPr/>
          </a:p>
          <a:p>
            <a:pPr marL="0" lvl="0" indent="0" algn="l" rtl="0">
              <a:lnSpc>
                <a:spcPct val="100000"/>
              </a:lnSpc>
              <a:spcBef>
                <a:spcPts val="0"/>
              </a:spcBef>
              <a:spcAft>
                <a:spcPts val="0"/>
              </a:spcAft>
              <a:buSzPts val="1800"/>
              <a:buNone/>
            </a:pPr>
            <a:r>
              <a:rPr lang="en-US"/>
              <a:t>for (interval = n/2; interval &gt; 0; interval /= 2)  </a:t>
            </a:r>
            <a:endParaRPr/>
          </a:p>
          <a:p>
            <a:pPr marL="0" lvl="0" indent="0" algn="l" rtl="0">
              <a:lnSpc>
                <a:spcPct val="100000"/>
              </a:lnSpc>
              <a:spcBef>
                <a:spcPts val="0"/>
              </a:spcBef>
              <a:spcAft>
                <a:spcPts val="0"/>
              </a:spcAft>
              <a:buSzPts val="1800"/>
              <a:buNone/>
            </a:pPr>
            <a:r>
              <a:rPr lang="en-US"/>
              <a:t>for ( i = interval; i &lt; n; i += 1)  </a:t>
            </a:r>
            <a:endParaRPr/>
          </a:p>
          <a:p>
            <a:pPr marL="0" lvl="0" indent="0" algn="l" rtl="0">
              <a:lnSpc>
                <a:spcPct val="100000"/>
              </a:lnSpc>
              <a:spcBef>
                <a:spcPts val="0"/>
              </a:spcBef>
              <a:spcAft>
                <a:spcPts val="0"/>
              </a:spcAft>
              <a:buSzPts val="1800"/>
              <a:buNone/>
            </a:pPr>
            <a:r>
              <a:rPr lang="en-US"/>
              <a:t>temp = a[i];  </a:t>
            </a:r>
            <a:endParaRPr/>
          </a:p>
          <a:p>
            <a:pPr marL="0" lvl="0" indent="0" algn="l" rtl="0">
              <a:lnSpc>
                <a:spcPct val="100000"/>
              </a:lnSpc>
              <a:spcBef>
                <a:spcPts val="0"/>
              </a:spcBef>
              <a:spcAft>
                <a:spcPts val="0"/>
              </a:spcAft>
              <a:buSzPts val="1800"/>
              <a:buNone/>
            </a:pPr>
            <a:r>
              <a:rPr lang="en-US"/>
              <a:t>for (j = i; j &gt;= interval &amp;&amp; a[j - interval] &gt; temp; j -= interval)  </a:t>
            </a:r>
            <a:endParaRPr/>
          </a:p>
          <a:p>
            <a:pPr marL="0" lvl="0" indent="0" algn="l" rtl="0">
              <a:lnSpc>
                <a:spcPct val="100000"/>
              </a:lnSpc>
              <a:spcBef>
                <a:spcPts val="0"/>
              </a:spcBef>
              <a:spcAft>
                <a:spcPts val="0"/>
              </a:spcAft>
              <a:buSzPts val="1800"/>
              <a:buNone/>
            </a:pPr>
            <a:r>
              <a:rPr lang="en-US"/>
              <a:t>a[j] = a[j - interval];   </a:t>
            </a:r>
            <a:endParaRPr/>
          </a:p>
          <a:p>
            <a:pPr marL="0" lvl="0" indent="0" algn="l" rtl="0">
              <a:lnSpc>
                <a:spcPct val="100000"/>
              </a:lnSpc>
              <a:spcBef>
                <a:spcPts val="0"/>
              </a:spcBef>
              <a:spcAft>
                <a:spcPts val="0"/>
              </a:spcAft>
              <a:buSzPts val="1800"/>
              <a:buNone/>
            </a:pPr>
            <a:r>
              <a:rPr lang="en-US"/>
              <a:t>a[j] = temp;  </a:t>
            </a:r>
            <a:endParaRPr/>
          </a:p>
          <a:p>
            <a:pPr marL="0" lvl="0" indent="0" algn="l" rtl="0">
              <a:lnSpc>
                <a:spcPct val="100000"/>
              </a:lnSpc>
              <a:spcBef>
                <a:spcPts val="0"/>
              </a:spcBef>
              <a:spcAft>
                <a:spcPts val="0"/>
              </a:spcAft>
              <a:buSzPts val="1800"/>
              <a:buNone/>
            </a:pPr>
            <a:r>
              <a:rPr lang="en-US"/>
              <a:t>End ShellSort  </a:t>
            </a:r>
            <a:endParaRPr/>
          </a:p>
          <a:p>
            <a:pPr marL="0" lvl="0" indent="0" algn="l" rtl="0">
              <a:lnSpc>
                <a:spcPct val="100000"/>
              </a:lnSpc>
              <a:spcBef>
                <a:spcPts val="0"/>
              </a:spcBef>
              <a:spcAft>
                <a:spcPts val="0"/>
              </a:spcAft>
              <a:buSzPts val="1800"/>
              <a:buNone/>
            </a:pPr>
            <a:endParaRPr/>
          </a:p>
        </p:txBody>
      </p:sp>
      <p:sp>
        <p:nvSpPr>
          <p:cNvPr id="684" name="Google Shape;684;g2681517d28c_1_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105</a:t>
            </a:fld>
            <a:endParaRPr/>
          </a:p>
        </p:txBody>
      </p:sp>
    </p:spTree>
    <p:extLst>
      <p:ext uri="{BB962C8B-B14F-4D97-AF65-F5344CB8AC3E}">
        <p14:creationId xmlns:p14="http://schemas.microsoft.com/office/powerpoint/2010/main" val="20000658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g2681517d28c_1_1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Shell sort</a:t>
            </a:r>
            <a:endParaRPr/>
          </a:p>
        </p:txBody>
      </p:sp>
      <p:sp>
        <p:nvSpPr>
          <p:cNvPr id="691" name="Google Shape;691;g2681517d28c_1_13"/>
          <p:cNvSpPr txBox="1">
            <a:spLocks noGrp="1"/>
          </p:cNvSpPr>
          <p:nvPr>
            <p:ph type="body" idx="1"/>
          </p:nvPr>
        </p:nvSpPr>
        <p:spPr>
          <a:xfrm>
            <a:off x="1407463" y="2638050"/>
            <a:ext cx="4620600" cy="35799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1000"/>
              </a:spcBef>
              <a:spcAft>
                <a:spcPts val="0"/>
              </a:spcAft>
              <a:buSzPct val="108107"/>
              <a:buNone/>
            </a:pPr>
            <a:endParaRPr/>
          </a:p>
          <a:p>
            <a:pPr marL="0" lvl="0" indent="0" algn="l" rtl="0">
              <a:lnSpc>
                <a:spcPct val="100000"/>
              </a:lnSpc>
              <a:spcBef>
                <a:spcPts val="1000"/>
              </a:spcBef>
              <a:spcAft>
                <a:spcPts val="0"/>
              </a:spcAft>
              <a:buSzPct val="108107"/>
              <a:buNone/>
            </a:pPr>
            <a:endParaRPr/>
          </a:p>
          <a:p>
            <a:pPr marL="0" lvl="0" indent="0" algn="just" rtl="0">
              <a:lnSpc>
                <a:spcPct val="100000"/>
              </a:lnSpc>
              <a:spcBef>
                <a:spcPts val="1000"/>
              </a:spcBef>
              <a:spcAft>
                <a:spcPts val="0"/>
              </a:spcAft>
              <a:buClr>
                <a:schemeClr val="dk1"/>
              </a:buClr>
              <a:buSzPct val="61109"/>
              <a:buFont typeface="Arial"/>
              <a:buNone/>
            </a:pPr>
            <a:r>
              <a:rPr lang="en-US"/>
              <a:t>Here, in the first loop, the element at the 0th position will be compared with the element at 4th position. If the 0th element is greater, it will be swapped with the element at 4th position. Otherwise, it remains the same. This process will continue for the remaining elements.</a:t>
            </a:r>
            <a:endParaRPr/>
          </a:p>
          <a:p>
            <a:pPr marL="0" lvl="0" indent="0" algn="just" rtl="0">
              <a:lnSpc>
                <a:spcPct val="100000"/>
              </a:lnSpc>
              <a:spcBef>
                <a:spcPts val="1000"/>
              </a:spcBef>
              <a:spcAft>
                <a:spcPts val="0"/>
              </a:spcAft>
              <a:buSzPct val="108107"/>
              <a:buNone/>
            </a:pPr>
            <a:r>
              <a:rPr lang="en-US"/>
              <a:t>At the interval of 4, the sublists are {33, 12}, {31, 17}, {40, 25}, {8, 42}.</a:t>
            </a:r>
            <a:endParaRPr/>
          </a:p>
          <a:p>
            <a:pPr marL="0" lvl="0" indent="0" algn="just" rtl="0">
              <a:lnSpc>
                <a:spcPct val="100000"/>
              </a:lnSpc>
              <a:spcBef>
                <a:spcPts val="1000"/>
              </a:spcBef>
              <a:spcAft>
                <a:spcPts val="0"/>
              </a:spcAft>
              <a:buSzPct val="108107"/>
              <a:buNone/>
            </a:pPr>
            <a:endParaRPr/>
          </a:p>
          <a:p>
            <a:pPr marL="0" lvl="0" indent="0" algn="just" rtl="0">
              <a:lnSpc>
                <a:spcPct val="100000"/>
              </a:lnSpc>
              <a:spcBef>
                <a:spcPts val="1000"/>
              </a:spcBef>
              <a:spcAft>
                <a:spcPts val="0"/>
              </a:spcAft>
              <a:buSzPct val="108107"/>
              <a:buNone/>
            </a:pPr>
            <a:r>
              <a:rPr lang="en-US"/>
              <a:t>Now, we have to compare the values in every sub-list. </a:t>
            </a:r>
            <a:endParaRPr/>
          </a:p>
        </p:txBody>
      </p:sp>
      <p:sp>
        <p:nvSpPr>
          <p:cNvPr id="692" name="Google Shape;692;g2681517d28c_1_1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106</a:t>
            </a:fld>
            <a:endParaRPr/>
          </a:p>
        </p:txBody>
      </p:sp>
      <p:pic>
        <p:nvPicPr>
          <p:cNvPr id="693" name="Google Shape;693;g2681517d28c_1_13"/>
          <p:cNvPicPr preferRelativeResize="0"/>
          <p:nvPr/>
        </p:nvPicPr>
        <p:blipFill rotWithShape="1">
          <a:blip r:embed="rId3">
            <a:alphaModFix/>
          </a:blip>
          <a:srcRect/>
          <a:stretch/>
        </p:blipFill>
        <p:spPr>
          <a:xfrm>
            <a:off x="1233113" y="2366819"/>
            <a:ext cx="4969287" cy="813156"/>
          </a:xfrm>
          <a:prstGeom prst="rect">
            <a:avLst/>
          </a:prstGeom>
          <a:noFill/>
          <a:ln>
            <a:noFill/>
          </a:ln>
        </p:spPr>
      </p:pic>
      <p:sp>
        <p:nvSpPr>
          <p:cNvPr id="694" name="Google Shape;694;g2681517d28c_1_13"/>
          <p:cNvSpPr txBox="1">
            <a:spLocks noGrp="1"/>
          </p:cNvSpPr>
          <p:nvPr>
            <p:ph type="body" idx="2"/>
          </p:nvPr>
        </p:nvSpPr>
        <p:spPr>
          <a:xfrm>
            <a:off x="6338315" y="2638044"/>
            <a:ext cx="42702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pic>
        <p:nvPicPr>
          <p:cNvPr id="695" name="Google Shape;695;g2681517d28c_1_13"/>
          <p:cNvPicPr preferRelativeResize="0"/>
          <p:nvPr/>
        </p:nvPicPr>
        <p:blipFill rotWithShape="1">
          <a:blip r:embed="rId4">
            <a:alphaModFix/>
          </a:blip>
          <a:srcRect/>
          <a:stretch/>
        </p:blipFill>
        <p:spPr>
          <a:xfrm>
            <a:off x="6092175" y="2366813"/>
            <a:ext cx="4762500" cy="3009900"/>
          </a:xfrm>
          <a:prstGeom prst="rect">
            <a:avLst/>
          </a:prstGeom>
          <a:noFill/>
          <a:ln>
            <a:noFill/>
          </a:ln>
        </p:spPr>
      </p:pic>
    </p:spTree>
    <p:extLst>
      <p:ext uri="{BB962C8B-B14F-4D97-AF65-F5344CB8AC3E}">
        <p14:creationId xmlns:p14="http://schemas.microsoft.com/office/powerpoint/2010/main" val="23374475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81517d28c_1_2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Shell sort</a:t>
            </a:r>
            <a:endParaRPr/>
          </a:p>
        </p:txBody>
      </p:sp>
      <p:sp>
        <p:nvSpPr>
          <p:cNvPr id="702" name="Google Shape;702;g2681517d28c_1_2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00000"/>
              </a:lnSpc>
              <a:spcBef>
                <a:spcPts val="1000"/>
              </a:spcBef>
              <a:spcAft>
                <a:spcPts val="0"/>
              </a:spcAft>
              <a:buSzPct val="108107"/>
              <a:buNone/>
            </a:pPr>
            <a:r>
              <a:rPr lang="en-US"/>
              <a:t>After comparing, we have to swap them if required in the original array. After comparing and swapping, the updated array will look as follows -</a:t>
            </a:r>
            <a:endParaRPr/>
          </a:p>
          <a:p>
            <a:pPr marL="0" lvl="0" indent="0" algn="l" rtl="0">
              <a:lnSpc>
                <a:spcPct val="100000"/>
              </a:lnSpc>
              <a:spcBef>
                <a:spcPts val="1000"/>
              </a:spcBef>
              <a:spcAft>
                <a:spcPts val="0"/>
              </a:spcAft>
              <a:buSzPct val="108107"/>
              <a:buNone/>
            </a:pPr>
            <a:endParaRPr/>
          </a:p>
          <a:p>
            <a:pPr marL="0" lvl="0" indent="0" algn="l" rtl="0">
              <a:lnSpc>
                <a:spcPct val="100000"/>
              </a:lnSpc>
              <a:spcBef>
                <a:spcPts val="1000"/>
              </a:spcBef>
              <a:spcAft>
                <a:spcPts val="0"/>
              </a:spcAft>
              <a:buSzPct val="108107"/>
              <a:buNone/>
            </a:pPr>
            <a:endParaRPr/>
          </a:p>
          <a:p>
            <a:pPr marL="0" lvl="0" indent="0" algn="l" rtl="0">
              <a:lnSpc>
                <a:spcPct val="100000"/>
              </a:lnSpc>
              <a:spcBef>
                <a:spcPts val="1000"/>
              </a:spcBef>
              <a:spcAft>
                <a:spcPts val="0"/>
              </a:spcAft>
              <a:buSzPct val="108107"/>
              <a:buNone/>
            </a:pPr>
            <a:endParaRPr/>
          </a:p>
          <a:p>
            <a:pPr marL="0" lvl="0" indent="0" algn="l" rtl="0">
              <a:lnSpc>
                <a:spcPct val="100000"/>
              </a:lnSpc>
              <a:spcBef>
                <a:spcPts val="1000"/>
              </a:spcBef>
              <a:spcAft>
                <a:spcPts val="0"/>
              </a:spcAft>
              <a:buClr>
                <a:schemeClr val="dk1"/>
              </a:buClr>
              <a:buSzPct val="61109"/>
              <a:buFont typeface="Arial"/>
              <a:buNone/>
            </a:pPr>
            <a:r>
              <a:rPr lang="en-US"/>
              <a:t>In the second loop, elements are lying at the interval of 2 (n/4 = 2), where n = 8.</a:t>
            </a:r>
            <a:endParaRPr/>
          </a:p>
          <a:p>
            <a:pPr marL="0" lvl="0" indent="0" algn="l" rtl="0">
              <a:lnSpc>
                <a:spcPct val="100000"/>
              </a:lnSpc>
              <a:spcBef>
                <a:spcPts val="1000"/>
              </a:spcBef>
              <a:spcAft>
                <a:spcPts val="0"/>
              </a:spcAft>
              <a:buSzPct val="108107"/>
              <a:buNone/>
            </a:pPr>
            <a:r>
              <a:rPr lang="en-US"/>
              <a:t>Now, we are taking the interval of 2 to sort the rest of the array. With an interval of 2, two sublists will be generated - {12, 25, 33, 40}, and {17, 8, 31, 42}.</a:t>
            </a:r>
            <a:endParaRPr/>
          </a:p>
          <a:p>
            <a:pPr marL="0" lvl="0" indent="0" algn="l" rtl="0">
              <a:lnSpc>
                <a:spcPct val="100000"/>
              </a:lnSpc>
              <a:spcBef>
                <a:spcPts val="1000"/>
              </a:spcBef>
              <a:spcAft>
                <a:spcPts val="0"/>
              </a:spcAft>
              <a:buSzPct val="108107"/>
              <a:buNone/>
            </a:pPr>
            <a:endParaRPr/>
          </a:p>
        </p:txBody>
      </p:sp>
      <p:sp>
        <p:nvSpPr>
          <p:cNvPr id="703" name="Google Shape;703;g2681517d28c_1_2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107</a:t>
            </a:fld>
            <a:endParaRPr/>
          </a:p>
        </p:txBody>
      </p:sp>
      <p:pic>
        <p:nvPicPr>
          <p:cNvPr id="704" name="Google Shape;704;g2681517d28c_1_22"/>
          <p:cNvPicPr preferRelativeResize="0"/>
          <p:nvPr/>
        </p:nvPicPr>
        <p:blipFill rotWithShape="1">
          <a:blip r:embed="rId3">
            <a:alphaModFix/>
          </a:blip>
          <a:srcRect/>
          <a:stretch/>
        </p:blipFill>
        <p:spPr>
          <a:xfrm>
            <a:off x="3833250" y="3296469"/>
            <a:ext cx="4969287" cy="813156"/>
          </a:xfrm>
          <a:prstGeom prst="rect">
            <a:avLst/>
          </a:prstGeom>
          <a:noFill/>
          <a:ln>
            <a:noFill/>
          </a:ln>
        </p:spPr>
      </p:pic>
      <p:pic>
        <p:nvPicPr>
          <p:cNvPr id="705" name="Google Shape;705;g2681517d28c_1_22"/>
          <p:cNvPicPr preferRelativeResize="0"/>
          <p:nvPr/>
        </p:nvPicPr>
        <p:blipFill rotWithShape="1">
          <a:blip r:embed="rId4">
            <a:alphaModFix/>
          </a:blip>
          <a:srcRect/>
          <a:stretch/>
        </p:blipFill>
        <p:spPr>
          <a:xfrm>
            <a:off x="3917200" y="5252800"/>
            <a:ext cx="4556999" cy="1516075"/>
          </a:xfrm>
          <a:prstGeom prst="rect">
            <a:avLst/>
          </a:prstGeom>
          <a:noFill/>
          <a:ln>
            <a:noFill/>
          </a:ln>
        </p:spPr>
      </p:pic>
    </p:spTree>
    <p:extLst>
      <p:ext uri="{BB962C8B-B14F-4D97-AF65-F5344CB8AC3E}">
        <p14:creationId xmlns:p14="http://schemas.microsoft.com/office/powerpoint/2010/main" val="296347100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2681517d28c_1_4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Shell sort</a:t>
            </a:r>
            <a:endParaRPr/>
          </a:p>
        </p:txBody>
      </p:sp>
      <p:sp>
        <p:nvSpPr>
          <p:cNvPr id="712" name="Google Shape;712;g2681517d28c_1_40"/>
          <p:cNvSpPr txBox="1">
            <a:spLocks noGrp="1"/>
          </p:cNvSpPr>
          <p:nvPr>
            <p:ph type="body" idx="1"/>
          </p:nvPr>
        </p:nvSpPr>
        <p:spPr>
          <a:xfrm>
            <a:off x="1581912" y="2638044"/>
            <a:ext cx="4271700" cy="31020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1000"/>
              </a:spcBef>
              <a:spcAft>
                <a:spcPts val="0"/>
              </a:spcAft>
              <a:buSzPct val="117647"/>
              <a:buNone/>
            </a:pPr>
            <a:r>
              <a:rPr lang="en-US"/>
              <a:t>Now, we again have to compare the values in every sub-list. </a:t>
            </a:r>
            <a:endParaRPr/>
          </a:p>
          <a:p>
            <a:pPr marL="0" lvl="0" indent="0" algn="l" rtl="0">
              <a:lnSpc>
                <a:spcPct val="100000"/>
              </a:lnSpc>
              <a:spcBef>
                <a:spcPts val="1000"/>
              </a:spcBef>
              <a:spcAft>
                <a:spcPts val="0"/>
              </a:spcAft>
              <a:buSzPct val="117647"/>
              <a:buNone/>
            </a:pPr>
            <a:r>
              <a:rPr lang="en-US"/>
              <a:t>After comparing, we have to swap them if required in the original array. After comparing and swapping, the updated array will look as follows -</a:t>
            </a:r>
            <a:endParaRPr/>
          </a:p>
          <a:p>
            <a:pPr marL="0" lvl="0" indent="0" algn="l" rtl="0">
              <a:lnSpc>
                <a:spcPct val="100000"/>
              </a:lnSpc>
              <a:spcBef>
                <a:spcPts val="1000"/>
              </a:spcBef>
              <a:spcAft>
                <a:spcPts val="0"/>
              </a:spcAft>
              <a:buSzPct val="117647"/>
              <a:buNone/>
            </a:pPr>
            <a:endParaRPr/>
          </a:p>
          <a:p>
            <a:pPr marL="0" lvl="0" indent="0" algn="l" rtl="0">
              <a:lnSpc>
                <a:spcPct val="100000"/>
              </a:lnSpc>
              <a:spcBef>
                <a:spcPts val="1000"/>
              </a:spcBef>
              <a:spcAft>
                <a:spcPts val="0"/>
              </a:spcAft>
              <a:buSzPct val="117647"/>
              <a:buNone/>
            </a:pPr>
            <a:r>
              <a:rPr lang="en-US"/>
              <a:t>In the third loop, elements are lying at the interval of 1 (n/8 = 1), where n = 8. At last, we use the interval of value 1 to sort the rest of the array elements. In this step, shell sort uses insertion sort to sort the array elements.</a:t>
            </a:r>
            <a:endParaRPr/>
          </a:p>
        </p:txBody>
      </p:sp>
      <p:sp>
        <p:nvSpPr>
          <p:cNvPr id="713" name="Google Shape;713;g2681517d28c_1_4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108</a:t>
            </a:fld>
            <a:endParaRPr/>
          </a:p>
        </p:txBody>
      </p:sp>
      <p:pic>
        <p:nvPicPr>
          <p:cNvPr id="714" name="Google Shape;714;g2681517d28c_1_40"/>
          <p:cNvPicPr preferRelativeResize="0"/>
          <p:nvPr/>
        </p:nvPicPr>
        <p:blipFill rotWithShape="1">
          <a:blip r:embed="rId3">
            <a:alphaModFix/>
          </a:blip>
          <a:srcRect/>
          <a:stretch/>
        </p:blipFill>
        <p:spPr>
          <a:xfrm>
            <a:off x="6038275" y="2302057"/>
            <a:ext cx="5086350" cy="790575"/>
          </a:xfrm>
          <a:prstGeom prst="rect">
            <a:avLst/>
          </a:prstGeom>
          <a:noFill/>
          <a:ln>
            <a:noFill/>
          </a:ln>
        </p:spPr>
      </p:pic>
      <p:pic>
        <p:nvPicPr>
          <p:cNvPr id="715" name="Google Shape;715;g2681517d28c_1_40"/>
          <p:cNvPicPr preferRelativeResize="0"/>
          <p:nvPr/>
        </p:nvPicPr>
        <p:blipFill rotWithShape="1">
          <a:blip r:embed="rId4">
            <a:alphaModFix/>
          </a:blip>
          <a:srcRect/>
          <a:stretch/>
        </p:blipFill>
        <p:spPr>
          <a:xfrm>
            <a:off x="6022150" y="3092625"/>
            <a:ext cx="5118600" cy="3102000"/>
          </a:xfrm>
          <a:prstGeom prst="rect">
            <a:avLst/>
          </a:prstGeom>
          <a:noFill/>
          <a:ln>
            <a:noFill/>
          </a:ln>
        </p:spPr>
      </p:pic>
    </p:spTree>
    <p:extLst>
      <p:ext uri="{BB962C8B-B14F-4D97-AF65-F5344CB8AC3E}">
        <p14:creationId xmlns:p14="http://schemas.microsoft.com/office/powerpoint/2010/main" val="27911741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81517d28c_1_52"/>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Shell sort complexity</a:t>
            </a:r>
            <a:endParaRPr/>
          </a:p>
        </p:txBody>
      </p:sp>
      <p:sp>
        <p:nvSpPr>
          <p:cNvPr id="722" name="Google Shape;722;g2681517d28c_1_52"/>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1000"/>
              </a:spcBef>
              <a:spcAft>
                <a:spcPts val="0"/>
              </a:spcAft>
              <a:buSzPts val="1800"/>
              <a:buChar char="•"/>
            </a:pPr>
            <a:r>
              <a:rPr lang="en-US" b="1"/>
              <a:t>Best Case Complexity</a:t>
            </a:r>
            <a:r>
              <a:rPr lang="en-US"/>
              <a:t> - It occurs when there is no sorting required, i.e., the array is already sorted. The best-case time complexity of Shell sort is </a:t>
            </a:r>
            <a:r>
              <a:rPr lang="en-US" b="1"/>
              <a:t>O(n*logn).</a:t>
            </a:r>
            <a:endParaRPr b="1"/>
          </a:p>
          <a:p>
            <a:pPr marL="457200" lvl="0" indent="-342900" algn="l" rtl="0">
              <a:lnSpc>
                <a:spcPct val="100000"/>
              </a:lnSpc>
              <a:spcBef>
                <a:spcPts val="0"/>
              </a:spcBef>
              <a:spcAft>
                <a:spcPts val="0"/>
              </a:spcAft>
              <a:buSzPts val="1800"/>
              <a:buChar char="•"/>
            </a:pPr>
            <a:r>
              <a:rPr lang="en-US" b="1"/>
              <a:t>Average Case Complexity</a:t>
            </a:r>
            <a:r>
              <a:rPr lang="en-US"/>
              <a:t> - It occurs when the array elements are in jumbled order that is not properly ascending and not properly descending. The average case time complexity of Shell sort is </a:t>
            </a:r>
            <a:r>
              <a:rPr lang="en-US" b="1"/>
              <a:t>O(n*logn).</a:t>
            </a:r>
            <a:endParaRPr/>
          </a:p>
          <a:p>
            <a:pPr marL="457200" lvl="0" indent="-342900" algn="l" rtl="0">
              <a:lnSpc>
                <a:spcPct val="100000"/>
              </a:lnSpc>
              <a:spcBef>
                <a:spcPts val="0"/>
              </a:spcBef>
              <a:spcAft>
                <a:spcPts val="0"/>
              </a:spcAft>
              <a:buSzPts val="1800"/>
              <a:buChar char="•"/>
            </a:pPr>
            <a:r>
              <a:rPr lang="en-US" b="1"/>
              <a:t>Worst Case Complexity</a:t>
            </a:r>
            <a:r>
              <a:rPr lang="en-US"/>
              <a:t> - It occurs when the array elements are required to be sorted in reverse order. That means suppose you have to sort the array elements in ascending order, but its elements are in descending order. The worst-case time complexity of Shell sort is </a:t>
            </a:r>
            <a:r>
              <a:rPr lang="en-US" b="1"/>
              <a:t>O(n2)</a:t>
            </a:r>
            <a:r>
              <a:rPr lang="en-US"/>
              <a:t>.</a:t>
            </a:r>
            <a:endParaRPr/>
          </a:p>
        </p:txBody>
      </p:sp>
      <p:sp>
        <p:nvSpPr>
          <p:cNvPr id="723" name="Google Shape;723;g2681517d28c_1_5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109</a:t>
            </a:fld>
            <a:endParaRPr/>
          </a:p>
        </p:txBody>
      </p:sp>
    </p:spTree>
    <p:extLst>
      <p:ext uri="{BB962C8B-B14F-4D97-AF65-F5344CB8AC3E}">
        <p14:creationId xmlns:p14="http://schemas.microsoft.com/office/powerpoint/2010/main" val="114060408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681517d28c_1_64"/>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a:t>
            </a:r>
            <a:endParaRPr/>
          </a:p>
        </p:txBody>
      </p:sp>
      <p:sp>
        <p:nvSpPr>
          <p:cNvPr id="730" name="Google Shape;730;g2681517d28c_1_64"/>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85000" lnSpcReduction="20000"/>
          </a:bodyPr>
          <a:lstStyle/>
          <a:p>
            <a:pPr marL="0" lvl="0" indent="0" algn="just" rtl="0">
              <a:lnSpc>
                <a:spcPct val="100000"/>
              </a:lnSpc>
              <a:spcBef>
                <a:spcPts val="1000"/>
              </a:spcBef>
              <a:spcAft>
                <a:spcPts val="0"/>
              </a:spcAft>
              <a:buClr>
                <a:schemeClr val="dk1"/>
              </a:buClr>
              <a:buSzPct val="61109"/>
              <a:buFont typeface="Arial"/>
              <a:buNone/>
            </a:pPr>
            <a:r>
              <a:rPr lang="en-US" b="1"/>
              <a:t>What is Heap?</a:t>
            </a:r>
            <a:endParaRPr b="1"/>
          </a:p>
          <a:p>
            <a:pPr marL="0" lvl="0" indent="0" algn="just" rtl="0">
              <a:lnSpc>
                <a:spcPct val="100000"/>
              </a:lnSpc>
              <a:spcBef>
                <a:spcPts val="1000"/>
              </a:spcBef>
              <a:spcAft>
                <a:spcPts val="0"/>
              </a:spcAft>
              <a:buSzPct val="108107"/>
              <a:buNone/>
            </a:pPr>
            <a:r>
              <a:rPr lang="en-US"/>
              <a:t>A heap is a complete binary tree, and the binary tree is a tree in which the node can have utmost two children. </a:t>
            </a:r>
            <a:endParaRPr/>
          </a:p>
          <a:p>
            <a:pPr marL="0" lvl="0" indent="0" algn="just" rtl="0">
              <a:lnSpc>
                <a:spcPct val="100000"/>
              </a:lnSpc>
              <a:spcBef>
                <a:spcPts val="1000"/>
              </a:spcBef>
              <a:spcAft>
                <a:spcPts val="0"/>
              </a:spcAft>
              <a:buSzPct val="108107"/>
              <a:buNone/>
            </a:pPr>
            <a:endParaRPr/>
          </a:p>
          <a:p>
            <a:pPr marL="0" lvl="0" indent="0" algn="just" rtl="0">
              <a:lnSpc>
                <a:spcPct val="100000"/>
              </a:lnSpc>
              <a:spcBef>
                <a:spcPts val="1000"/>
              </a:spcBef>
              <a:spcAft>
                <a:spcPts val="0"/>
              </a:spcAft>
              <a:buClr>
                <a:schemeClr val="dk1"/>
              </a:buClr>
              <a:buSzPct val="61109"/>
              <a:buFont typeface="Arial"/>
              <a:buNone/>
            </a:pPr>
            <a:r>
              <a:rPr lang="en-US" b="1"/>
              <a:t>What is a complete binary tree?</a:t>
            </a:r>
            <a:endParaRPr b="1"/>
          </a:p>
          <a:p>
            <a:pPr marL="0" lvl="0" indent="0" algn="just" rtl="0">
              <a:lnSpc>
                <a:spcPct val="100000"/>
              </a:lnSpc>
              <a:spcBef>
                <a:spcPts val="1000"/>
              </a:spcBef>
              <a:spcAft>
                <a:spcPts val="0"/>
              </a:spcAft>
              <a:buSzPct val="108107"/>
              <a:buNone/>
            </a:pPr>
            <a:r>
              <a:rPr lang="en-US"/>
              <a:t>A complete binary tree is a binary tree in which all the levels except the last level, i.e., leaf node should be completely filled, and all the nodes should be left-justified.</a:t>
            </a:r>
            <a:endParaRPr/>
          </a:p>
          <a:p>
            <a:pPr marL="0" lvl="0" indent="0" algn="just" rtl="0">
              <a:lnSpc>
                <a:spcPct val="100000"/>
              </a:lnSpc>
              <a:spcBef>
                <a:spcPts val="1000"/>
              </a:spcBef>
              <a:spcAft>
                <a:spcPts val="0"/>
              </a:spcAft>
              <a:buSzPct val="108107"/>
              <a:buNone/>
            </a:pPr>
            <a:r>
              <a:rPr lang="en-US" b="1"/>
              <a:t>There are two types of the heap:</a:t>
            </a:r>
            <a:endParaRPr b="1"/>
          </a:p>
          <a:p>
            <a:pPr marL="457200" lvl="0" indent="-317182" algn="just" rtl="0">
              <a:lnSpc>
                <a:spcPct val="100000"/>
              </a:lnSpc>
              <a:spcBef>
                <a:spcPts val="1000"/>
              </a:spcBef>
              <a:spcAft>
                <a:spcPts val="0"/>
              </a:spcAft>
              <a:buSzPct val="100000"/>
              <a:buAutoNum type="arabicPeriod"/>
            </a:pPr>
            <a:r>
              <a:rPr lang="en-US"/>
              <a:t>Min Heap : The value of the parent node should be less than or equal to either of its children.</a:t>
            </a:r>
            <a:endParaRPr/>
          </a:p>
          <a:p>
            <a:pPr marL="457200" lvl="0" indent="-317182" algn="just" rtl="0">
              <a:lnSpc>
                <a:spcPct val="100000"/>
              </a:lnSpc>
              <a:spcBef>
                <a:spcPts val="0"/>
              </a:spcBef>
              <a:spcAft>
                <a:spcPts val="0"/>
              </a:spcAft>
              <a:buSzPct val="100000"/>
              <a:buAutoNum type="arabicPeriod"/>
            </a:pPr>
            <a:r>
              <a:rPr lang="en-US"/>
              <a:t>Max heap : The value of the parent node is greater than or equal to its children.</a:t>
            </a:r>
            <a:endParaRPr/>
          </a:p>
        </p:txBody>
      </p:sp>
      <p:sp>
        <p:nvSpPr>
          <p:cNvPr id="731" name="Google Shape;731;g2681517d28c_1_6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110</a:t>
            </a:fld>
            <a:endParaRPr/>
          </a:p>
        </p:txBody>
      </p:sp>
    </p:spTree>
    <p:extLst>
      <p:ext uri="{BB962C8B-B14F-4D97-AF65-F5344CB8AC3E}">
        <p14:creationId xmlns:p14="http://schemas.microsoft.com/office/powerpoint/2010/main" val="4617940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g2681517d28c_1_7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a:t>
            </a:r>
            <a:endParaRPr/>
          </a:p>
        </p:txBody>
      </p:sp>
      <p:sp>
        <p:nvSpPr>
          <p:cNvPr id="738" name="Google Shape;738;g2681517d28c_1_7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111</a:t>
            </a:fld>
            <a:endParaRPr/>
          </a:p>
        </p:txBody>
      </p:sp>
      <p:pic>
        <p:nvPicPr>
          <p:cNvPr id="739" name="Google Shape;739;g2681517d28c_1_73"/>
          <p:cNvPicPr preferRelativeResize="0"/>
          <p:nvPr/>
        </p:nvPicPr>
        <p:blipFill rotWithShape="1">
          <a:blip r:embed="rId3">
            <a:alphaModFix/>
          </a:blip>
          <a:srcRect/>
          <a:stretch/>
        </p:blipFill>
        <p:spPr>
          <a:xfrm>
            <a:off x="6271950" y="2436823"/>
            <a:ext cx="4162075" cy="3504450"/>
          </a:xfrm>
          <a:prstGeom prst="rect">
            <a:avLst/>
          </a:prstGeom>
          <a:noFill/>
          <a:ln>
            <a:noFill/>
          </a:ln>
        </p:spPr>
      </p:pic>
      <p:pic>
        <p:nvPicPr>
          <p:cNvPr id="740" name="Google Shape;740;g2681517d28c_1_73"/>
          <p:cNvPicPr preferRelativeResize="0"/>
          <p:nvPr/>
        </p:nvPicPr>
        <p:blipFill rotWithShape="1">
          <a:blip r:embed="rId4">
            <a:alphaModFix/>
          </a:blip>
          <a:srcRect/>
          <a:stretch/>
        </p:blipFill>
        <p:spPr>
          <a:xfrm>
            <a:off x="1271150" y="2436825"/>
            <a:ext cx="4762500" cy="3219450"/>
          </a:xfrm>
          <a:prstGeom prst="rect">
            <a:avLst/>
          </a:prstGeom>
          <a:noFill/>
          <a:ln>
            <a:noFill/>
          </a:ln>
        </p:spPr>
      </p:pic>
    </p:spTree>
    <p:extLst>
      <p:ext uri="{BB962C8B-B14F-4D97-AF65-F5344CB8AC3E}">
        <p14:creationId xmlns:p14="http://schemas.microsoft.com/office/powerpoint/2010/main" val="193018992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681517d28c_1_87"/>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747" name="Google Shape;747;g2681517d28c_1_87"/>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112</a:t>
            </a:fld>
            <a:endParaRPr/>
          </a:p>
        </p:txBody>
      </p:sp>
      <p:pic>
        <p:nvPicPr>
          <p:cNvPr id="748" name="Google Shape;748;g2681517d28c_1_87"/>
          <p:cNvPicPr preferRelativeResize="0"/>
          <p:nvPr/>
        </p:nvPicPr>
        <p:blipFill rotWithShape="1">
          <a:blip r:embed="rId3">
            <a:alphaModFix/>
          </a:blip>
          <a:srcRect/>
          <a:stretch/>
        </p:blipFill>
        <p:spPr>
          <a:xfrm>
            <a:off x="5853600" y="2366569"/>
            <a:ext cx="4762500" cy="666750"/>
          </a:xfrm>
          <a:prstGeom prst="rect">
            <a:avLst/>
          </a:prstGeom>
          <a:noFill/>
          <a:ln>
            <a:noFill/>
          </a:ln>
        </p:spPr>
      </p:pic>
      <p:sp>
        <p:nvSpPr>
          <p:cNvPr id="749" name="Google Shape;749;g2681517d28c_1_87"/>
          <p:cNvSpPr txBox="1">
            <a:spLocks noGrp="1"/>
          </p:cNvSpPr>
          <p:nvPr>
            <p:ph type="body" idx="1"/>
          </p:nvPr>
        </p:nvSpPr>
        <p:spPr>
          <a:xfrm>
            <a:off x="1581900" y="2506850"/>
            <a:ext cx="4271700" cy="3900000"/>
          </a:xfrm>
          <a:prstGeom prst="rect">
            <a:avLst/>
          </a:prstGeom>
          <a:noFill/>
          <a:ln>
            <a:noFill/>
          </a:ln>
        </p:spPr>
        <p:txBody>
          <a:bodyPr spcFirstLastPara="1" wrap="square" lIns="91425" tIns="45700" rIns="91425" bIns="45700" anchor="t" anchorCtr="0">
            <a:normAutofit/>
          </a:bodyPr>
          <a:lstStyle/>
          <a:p>
            <a:pPr marL="0" lvl="0" indent="0" algn="r" rtl="0">
              <a:lnSpc>
                <a:spcPct val="100000"/>
              </a:lnSpc>
              <a:spcBef>
                <a:spcPts val="1000"/>
              </a:spcBef>
              <a:spcAft>
                <a:spcPts val="0"/>
              </a:spcAft>
              <a:buSzPts val="1800"/>
              <a:buNone/>
            </a:pPr>
            <a:r>
              <a:rPr lang="en-US"/>
              <a:t>Input array of step 1 →</a:t>
            </a:r>
            <a:endParaRPr/>
          </a:p>
          <a:p>
            <a:pPr marL="0" lvl="0" indent="0" algn="l" rtl="0">
              <a:lnSpc>
                <a:spcPct val="100000"/>
              </a:lnSpc>
              <a:spcBef>
                <a:spcPts val="1000"/>
              </a:spcBef>
              <a:spcAft>
                <a:spcPts val="0"/>
              </a:spcAft>
              <a:buSzPts val="1800"/>
              <a:buNone/>
            </a:pPr>
            <a:endParaRPr/>
          </a:p>
          <a:p>
            <a:pPr marL="0" lvl="0" indent="0" algn="l" rtl="0">
              <a:lnSpc>
                <a:spcPct val="100000"/>
              </a:lnSpc>
              <a:spcBef>
                <a:spcPts val="1000"/>
              </a:spcBef>
              <a:spcAft>
                <a:spcPts val="0"/>
              </a:spcAft>
              <a:buSzPts val="1800"/>
              <a:buNone/>
            </a:pPr>
            <a:endParaRPr/>
          </a:p>
          <a:p>
            <a:pPr marL="0" lvl="0" indent="0" algn="l" rtl="0">
              <a:lnSpc>
                <a:spcPct val="100000"/>
              </a:lnSpc>
              <a:spcBef>
                <a:spcPts val="1000"/>
              </a:spcBef>
              <a:spcAft>
                <a:spcPts val="0"/>
              </a:spcAft>
              <a:buSzPts val="1800"/>
              <a:buNone/>
            </a:pPr>
            <a:r>
              <a:rPr lang="en-US" b="1"/>
              <a:t>Step 1</a:t>
            </a:r>
            <a:r>
              <a:rPr lang="en-US"/>
              <a:t> : construct a heap from the given array and convert it into max heap.</a:t>
            </a:r>
            <a:endParaRPr/>
          </a:p>
          <a:p>
            <a:pPr marL="0" lvl="0" indent="0" algn="l" rtl="0">
              <a:lnSpc>
                <a:spcPct val="100000"/>
              </a:lnSpc>
              <a:spcBef>
                <a:spcPts val="1000"/>
              </a:spcBef>
              <a:spcAft>
                <a:spcPts val="0"/>
              </a:spcAft>
              <a:buSzPts val="1800"/>
              <a:buNone/>
            </a:pPr>
            <a:endParaRPr/>
          </a:p>
          <a:p>
            <a:pPr marL="0" lvl="0" indent="0" algn="r" rtl="0">
              <a:lnSpc>
                <a:spcPct val="100000"/>
              </a:lnSpc>
              <a:spcBef>
                <a:spcPts val="1000"/>
              </a:spcBef>
              <a:spcAft>
                <a:spcPts val="0"/>
              </a:spcAft>
              <a:buSzPts val="1800"/>
              <a:buNone/>
            </a:pPr>
            <a:endParaRPr/>
          </a:p>
          <a:p>
            <a:pPr marL="0" lvl="0" indent="0" algn="r" rtl="0">
              <a:lnSpc>
                <a:spcPct val="100000"/>
              </a:lnSpc>
              <a:spcBef>
                <a:spcPts val="1000"/>
              </a:spcBef>
              <a:spcAft>
                <a:spcPts val="0"/>
              </a:spcAft>
              <a:buSzPts val="1800"/>
              <a:buNone/>
            </a:pPr>
            <a:endParaRPr/>
          </a:p>
          <a:p>
            <a:pPr marL="0" lvl="0" indent="0" algn="r" rtl="0">
              <a:lnSpc>
                <a:spcPct val="100000"/>
              </a:lnSpc>
              <a:spcBef>
                <a:spcPts val="1000"/>
              </a:spcBef>
              <a:spcAft>
                <a:spcPts val="0"/>
              </a:spcAft>
              <a:buSzPts val="1800"/>
              <a:buNone/>
            </a:pPr>
            <a:r>
              <a:rPr lang="en-US"/>
              <a:t>Array elements after step 1→</a:t>
            </a:r>
            <a:endParaRPr/>
          </a:p>
        </p:txBody>
      </p:sp>
      <p:pic>
        <p:nvPicPr>
          <p:cNvPr id="750" name="Google Shape;750;g2681517d28c_1_87"/>
          <p:cNvPicPr preferRelativeResize="0"/>
          <p:nvPr/>
        </p:nvPicPr>
        <p:blipFill rotWithShape="1">
          <a:blip r:embed="rId4">
            <a:alphaModFix/>
          </a:blip>
          <a:srcRect/>
          <a:stretch/>
        </p:blipFill>
        <p:spPr>
          <a:xfrm>
            <a:off x="5686912" y="3186532"/>
            <a:ext cx="5238750" cy="2400300"/>
          </a:xfrm>
          <a:prstGeom prst="rect">
            <a:avLst/>
          </a:prstGeom>
          <a:noFill/>
          <a:ln>
            <a:noFill/>
          </a:ln>
        </p:spPr>
      </p:pic>
      <p:pic>
        <p:nvPicPr>
          <p:cNvPr id="751" name="Google Shape;751;g2681517d28c_1_87"/>
          <p:cNvPicPr preferRelativeResize="0"/>
          <p:nvPr/>
        </p:nvPicPr>
        <p:blipFill rotWithShape="1">
          <a:blip r:embed="rId5">
            <a:alphaModFix/>
          </a:blip>
          <a:srcRect/>
          <a:stretch/>
        </p:blipFill>
        <p:spPr>
          <a:xfrm>
            <a:off x="5925013" y="5740044"/>
            <a:ext cx="4762500" cy="666750"/>
          </a:xfrm>
          <a:prstGeom prst="rect">
            <a:avLst/>
          </a:prstGeom>
          <a:noFill/>
          <a:ln>
            <a:noFill/>
          </a:ln>
        </p:spPr>
      </p:pic>
    </p:spTree>
    <p:extLst>
      <p:ext uri="{BB962C8B-B14F-4D97-AF65-F5344CB8AC3E}">
        <p14:creationId xmlns:p14="http://schemas.microsoft.com/office/powerpoint/2010/main" val="1469408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26da551f36c_0_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758" name="Google Shape;758;g26da551f36c_0_5"/>
          <p:cNvSpPr txBox="1">
            <a:spLocks noGrp="1"/>
          </p:cNvSpPr>
          <p:nvPr>
            <p:ph type="body" idx="1"/>
          </p:nvPr>
        </p:nvSpPr>
        <p:spPr>
          <a:xfrm>
            <a:off x="1581912" y="2638044"/>
            <a:ext cx="42717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b="1"/>
              <a:t>Step 2 : </a:t>
            </a:r>
            <a:endParaRPr b="1"/>
          </a:p>
          <a:p>
            <a:pPr marL="0" lvl="0" indent="0" algn="l" rtl="0">
              <a:lnSpc>
                <a:spcPct val="100000"/>
              </a:lnSpc>
              <a:spcBef>
                <a:spcPts val="1000"/>
              </a:spcBef>
              <a:spcAft>
                <a:spcPts val="0"/>
              </a:spcAft>
              <a:buSzPts val="1800"/>
              <a:buNone/>
            </a:pPr>
            <a:r>
              <a:rPr lang="en-US"/>
              <a:t>delete the root element (89) from the max heap.</a:t>
            </a:r>
            <a:endParaRPr/>
          </a:p>
          <a:p>
            <a:pPr marL="0" lvl="0" indent="0" algn="l" rtl="0">
              <a:lnSpc>
                <a:spcPct val="100000"/>
              </a:lnSpc>
              <a:spcBef>
                <a:spcPts val="1000"/>
              </a:spcBef>
              <a:spcAft>
                <a:spcPts val="0"/>
              </a:spcAft>
              <a:buSzPts val="1800"/>
              <a:buNone/>
            </a:pPr>
            <a:r>
              <a:rPr lang="en-US"/>
              <a:t>To delete (89) node, we have to swap it with the last node, i.e. (11). After deleting the root element, we again have to heapify it to convert it into max heap.</a:t>
            </a:r>
            <a:endParaRPr/>
          </a:p>
        </p:txBody>
      </p:sp>
      <p:sp>
        <p:nvSpPr>
          <p:cNvPr id="759" name="Google Shape;759;g26da551f36c_0_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113</a:t>
            </a:fld>
            <a:endParaRPr/>
          </a:p>
        </p:txBody>
      </p:sp>
      <p:pic>
        <p:nvPicPr>
          <p:cNvPr id="760" name="Google Shape;760;g26da551f36c_0_5"/>
          <p:cNvPicPr preferRelativeResize="0"/>
          <p:nvPr/>
        </p:nvPicPr>
        <p:blipFill rotWithShape="1">
          <a:blip r:embed="rId3">
            <a:alphaModFix/>
          </a:blip>
          <a:srcRect/>
          <a:stretch/>
        </p:blipFill>
        <p:spPr>
          <a:xfrm>
            <a:off x="5854050" y="2638050"/>
            <a:ext cx="5238750" cy="2076450"/>
          </a:xfrm>
          <a:prstGeom prst="rect">
            <a:avLst/>
          </a:prstGeom>
          <a:noFill/>
          <a:ln>
            <a:noFill/>
          </a:ln>
        </p:spPr>
      </p:pic>
      <p:pic>
        <p:nvPicPr>
          <p:cNvPr id="761" name="Google Shape;761;g26da551f36c_0_5"/>
          <p:cNvPicPr preferRelativeResize="0"/>
          <p:nvPr/>
        </p:nvPicPr>
        <p:blipFill rotWithShape="1">
          <a:blip r:embed="rId4">
            <a:alphaModFix/>
          </a:blip>
          <a:srcRect/>
          <a:stretch/>
        </p:blipFill>
        <p:spPr>
          <a:xfrm>
            <a:off x="6003000" y="5099494"/>
            <a:ext cx="5238750" cy="733425"/>
          </a:xfrm>
          <a:prstGeom prst="rect">
            <a:avLst/>
          </a:prstGeom>
          <a:noFill/>
          <a:ln>
            <a:noFill/>
          </a:ln>
        </p:spPr>
      </p:pic>
    </p:spTree>
    <p:extLst>
      <p:ext uri="{BB962C8B-B14F-4D97-AF65-F5344CB8AC3E}">
        <p14:creationId xmlns:p14="http://schemas.microsoft.com/office/powerpoint/2010/main" val="118252275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6da551f36c_0_1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chemeClr val="dk1"/>
              </a:buClr>
              <a:buSzPts val="1100"/>
              <a:buFont typeface="Arial"/>
              <a:buNone/>
            </a:pPr>
            <a:r>
              <a:rPr lang="en-US"/>
              <a:t>Heap Sort Example</a:t>
            </a:r>
            <a:endParaRPr/>
          </a:p>
        </p:txBody>
      </p:sp>
      <p:sp>
        <p:nvSpPr>
          <p:cNvPr id="768" name="Google Shape;768;g26da551f36c_0_18"/>
          <p:cNvSpPr txBox="1">
            <a:spLocks noGrp="1"/>
          </p:cNvSpPr>
          <p:nvPr>
            <p:ph type="body" idx="1"/>
          </p:nvPr>
        </p:nvSpPr>
        <p:spPr>
          <a:xfrm>
            <a:off x="1581912" y="2638044"/>
            <a:ext cx="4271700" cy="310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US" b="1"/>
              <a:t>Step 3:</a:t>
            </a:r>
            <a:endParaRPr b="1"/>
          </a:p>
          <a:p>
            <a:pPr marL="0" lvl="0" indent="0" algn="just" rtl="0">
              <a:lnSpc>
                <a:spcPct val="100000"/>
              </a:lnSpc>
              <a:spcBef>
                <a:spcPts val="1000"/>
              </a:spcBef>
              <a:spcAft>
                <a:spcPts val="0"/>
              </a:spcAft>
              <a:buSzPts val="1800"/>
              <a:buNone/>
            </a:pPr>
            <a:r>
              <a:rPr lang="en-US"/>
              <a:t>Delete the root element (81) from the max heap. </a:t>
            </a:r>
            <a:endParaRPr/>
          </a:p>
          <a:p>
            <a:pPr marL="0" lvl="0" indent="0" algn="just" rtl="0">
              <a:lnSpc>
                <a:spcPct val="100000"/>
              </a:lnSpc>
              <a:spcBef>
                <a:spcPts val="1000"/>
              </a:spcBef>
              <a:spcAft>
                <a:spcPts val="0"/>
              </a:spcAft>
              <a:buSzPts val="1800"/>
              <a:buNone/>
            </a:pPr>
            <a:r>
              <a:rPr lang="en-US"/>
              <a:t>To delete this node, we have to swap it with the last node, i.e. (54). </a:t>
            </a:r>
            <a:endParaRPr/>
          </a:p>
          <a:p>
            <a:pPr marL="0" lvl="0" indent="0" algn="just" rtl="0">
              <a:lnSpc>
                <a:spcPct val="100000"/>
              </a:lnSpc>
              <a:spcBef>
                <a:spcPts val="1000"/>
              </a:spcBef>
              <a:spcAft>
                <a:spcPts val="0"/>
              </a:spcAft>
              <a:buSzPts val="1800"/>
              <a:buNone/>
            </a:pPr>
            <a:r>
              <a:rPr lang="en-US"/>
              <a:t>After deleting the root element, we again have to heapify it to convert it into max heap.</a:t>
            </a:r>
            <a:endParaRPr/>
          </a:p>
          <a:p>
            <a:pPr marL="0" lvl="0" indent="0" algn="just" rtl="0">
              <a:lnSpc>
                <a:spcPct val="100000"/>
              </a:lnSpc>
              <a:spcBef>
                <a:spcPts val="1000"/>
              </a:spcBef>
              <a:spcAft>
                <a:spcPts val="0"/>
              </a:spcAft>
              <a:buSzPts val="1800"/>
              <a:buNone/>
            </a:pPr>
            <a:endParaRPr/>
          </a:p>
          <a:p>
            <a:pPr marL="0" lvl="0" indent="0" algn="just" rtl="0">
              <a:lnSpc>
                <a:spcPct val="100000"/>
              </a:lnSpc>
              <a:spcBef>
                <a:spcPts val="1000"/>
              </a:spcBef>
              <a:spcAft>
                <a:spcPts val="0"/>
              </a:spcAft>
              <a:buSzPts val="1800"/>
              <a:buNone/>
            </a:pPr>
            <a:endParaRPr/>
          </a:p>
        </p:txBody>
      </p:sp>
      <p:sp>
        <p:nvSpPr>
          <p:cNvPr id="769" name="Google Shape;769;g26da551f36c_0_1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114</a:t>
            </a:fld>
            <a:endParaRPr/>
          </a:p>
        </p:txBody>
      </p:sp>
      <p:pic>
        <p:nvPicPr>
          <p:cNvPr id="770" name="Google Shape;770;g26da551f36c_0_18"/>
          <p:cNvPicPr preferRelativeResize="0"/>
          <p:nvPr/>
        </p:nvPicPr>
        <p:blipFill rotWithShape="1">
          <a:blip r:embed="rId3">
            <a:alphaModFix/>
          </a:blip>
          <a:srcRect/>
          <a:stretch/>
        </p:blipFill>
        <p:spPr>
          <a:xfrm>
            <a:off x="6006012" y="2305692"/>
            <a:ext cx="5238750" cy="2076450"/>
          </a:xfrm>
          <a:prstGeom prst="rect">
            <a:avLst/>
          </a:prstGeom>
          <a:noFill/>
          <a:ln>
            <a:noFill/>
          </a:ln>
        </p:spPr>
      </p:pic>
      <p:pic>
        <p:nvPicPr>
          <p:cNvPr id="771" name="Google Shape;771;g26da551f36c_0_18"/>
          <p:cNvPicPr preferRelativeResize="0"/>
          <p:nvPr/>
        </p:nvPicPr>
        <p:blipFill rotWithShape="1">
          <a:blip r:embed="rId4">
            <a:alphaModFix/>
          </a:blip>
          <a:srcRect/>
          <a:stretch/>
        </p:blipFill>
        <p:spPr>
          <a:xfrm>
            <a:off x="6412837" y="4534542"/>
            <a:ext cx="4600510" cy="644071"/>
          </a:xfrm>
          <a:prstGeom prst="rect">
            <a:avLst/>
          </a:prstGeom>
          <a:noFill/>
          <a:ln>
            <a:noFill/>
          </a:ln>
        </p:spPr>
      </p:pic>
    </p:spTree>
    <p:extLst>
      <p:ext uri="{BB962C8B-B14F-4D97-AF65-F5344CB8AC3E}">
        <p14:creationId xmlns:p14="http://schemas.microsoft.com/office/powerpoint/2010/main" val="522716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da551f36c_0_29"/>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778" name="Google Shape;778;g26da551f36c_0_29"/>
          <p:cNvSpPr txBox="1">
            <a:spLocks noGrp="1"/>
          </p:cNvSpPr>
          <p:nvPr>
            <p:ph type="body" idx="1"/>
          </p:nvPr>
        </p:nvSpPr>
        <p:spPr>
          <a:xfrm>
            <a:off x="1581912" y="2638044"/>
            <a:ext cx="4271700" cy="310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US" b="1"/>
              <a:t>Step 4:</a:t>
            </a:r>
            <a:endParaRPr b="1"/>
          </a:p>
          <a:p>
            <a:pPr marL="0" lvl="0" indent="0" algn="just" rtl="0">
              <a:lnSpc>
                <a:spcPct val="100000"/>
              </a:lnSpc>
              <a:spcBef>
                <a:spcPts val="1000"/>
              </a:spcBef>
              <a:spcAft>
                <a:spcPts val="0"/>
              </a:spcAft>
              <a:buSzPts val="1800"/>
              <a:buNone/>
            </a:pPr>
            <a:r>
              <a:rPr lang="en-US"/>
              <a:t>Delete the root element (76) from the max heap again. </a:t>
            </a:r>
            <a:endParaRPr/>
          </a:p>
          <a:p>
            <a:pPr marL="0" lvl="0" indent="0" algn="just" rtl="0">
              <a:lnSpc>
                <a:spcPct val="100000"/>
              </a:lnSpc>
              <a:spcBef>
                <a:spcPts val="1000"/>
              </a:spcBef>
              <a:spcAft>
                <a:spcPts val="0"/>
              </a:spcAft>
              <a:buSzPts val="1800"/>
              <a:buNone/>
            </a:pPr>
            <a:r>
              <a:rPr lang="en-US"/>
              <a:t>To delete this node, we have to swap it with the last node, i.e. (9). </a:t>
            </a:r>
            <a:endParaRPr/>
          </a:p>
          <a:p>
            <a:pPr marL="0" lvl="0" indent="0" algn="just" rtl="0">
              <a:lnSpc>
                <a:spcPct val="100000"/>
              </a:lnSpc>
              <a:spcBef>
                <a:spcPts val="1000"/>
              </a:spcBef>
              <a:spcAft>
                <a:spcPts val="0"/>
              </a:spcAft>
              <a:buSzPts val="1800"/>
              <a:buNone/>
            </a:pPr>
            <a:r>
              <a:rPr lang="en-US"/>
              <a:t>After deleting the root element, we again have to heapify it to convert it into max heap.</a:t>
            </a:r>
            <a:endParaRPr/>
          </a:p>
        </p:txBody>
      </p:sp>
      <p:sp>
        <p:nvSpPr>
          <p:cNvPr id="779" name="Google Shape;779;g26da551f36c_0_2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115</a:t>
            </a:fld>
            <a:endParaRPr/>
          </a:p>
        </p:txBody>
      </p:sp>
      <p:pic>
        <p:nvPicPr>
          <p:cNvPr id="780" name="Google Shape;780;g26da551f36c_0_29"/>
          <p:cNvPicPr preferRelativeResize="0"/>
          <p:nvPr/>
        </p:nvPicPr>
        <p:blipFill rotWithShape="1">
          <a:blip r:embed="rId3">
            <a:alphaModFix/>
          </a:blip>
          <a:srcRect/>
          <a:stretch/>
        </p:blipFill>
        <p:spPr>
          <a:xfrm>
            <a:off x="6188825" y="2638050"/>
            <a:ext cx="5238750" cy="2076450"/>
          </a:xfrm>
          <a:prstGeom prst="rect">
            <a:avLst/>
          </a:prstGeom>
          <a:noFill/>
          <a:ln>
            <a:noFill/>
          </a:ln>
        </p:spPr>
      </p:pic>
      <p:pic>
        <p:nvPicPr>
          <p:cNvPr id="781" name="Google Shape;781;g26da551f36c_0_29"/>
          <p:cNvPicPr preferRelativeResize="0"/>
          <p:nvPr/>
        </p:nvPicPr>
        <p:blipFill rotWithShape="1">
          <a:blip r:embed="rId4">
            <a:alphaModFix/>
          </a:blip>
          <a:srcRect/>
          <a:stretch/>
        </p:blipFill>
        <p:spPr>
          <a:xfrm>
            <a:off x="6362125" y="5199244"/>
            <a:ext cx="4762500" cy="666750"/>
          </a:xfrm>
          <a:prstGeom prst="rect">
            <a:avLst/>
          </a:prstGeom>
          <a:noFill/>
          <a:ln>
            <a:noFill/>
          </a:ln>
        </p:spPr>
      </p:pic>
    </p:spTree>
    <p:extLst>
      <p:ext uri="{BB962C8B-B14F-4D97-AF65-F5344CB8AC3E}">
        <p14:creationId xmlns:p14="http://schemas.microsoft.com/office/powerpoint/2010/main" val="139478410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26da551f36c_0_4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788" name="Google Shape;788;g26da551f36c_0_40"/>
          <p:cNvSpPr txBox="1">
            <a:spLocks noGrp="1"/>
          </p:cNvSpPr>
          <p:nvPr>
            <p:ph type="body" idx="1"/>
          </p:nvPr>
        </p:nvSpPr>
        <p:spPr>
          <a:xfrm>
            <a:off x="1581912" y="2638044"/>
            <a:ext cx="42717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b="1"/>
              <a:t>Step 5:</a:t>
            </a:r>
            <a:r>
              <a:rPr lang="en-US"/>
              <a:t> </a:t>
            </a:r>
            <a:endParaRPr/>
          </a:p>
          <a:p>
            <a:pPr marL="0" lvl="0" indent="0" algn="l" rtl="0">
              <a:lnSpc>
                <a:spcPct val="100000"/>
              </a:lnSpc>
              <a:spcBef>
                <a:spcPts val="1000"/>
              </a:spcBef>
              <a:spcAft>
                <a:spcPts val="0"/>
              </a:spcAft>
              <a:buSzPts val="1800"/>
              <a:buNone/>
            </a:pPr>
            <a:r>
              <a:rPr lang="en-US"/>
              <a:t>Delete the root element (54) from the max heap. </a:t>
            </a:r>
            <a:endParaRPr/>
          </a:p>
          <a:p>
            <a:pPr marL="0" lvl="0" indent="0" algn="l" rtl="0">
              <a:lnSpc>
                <a:spcPct val="100000"/>
              </a:lnSpc>
              <a:spcBef>
                <a:spcPts val="1000"/>
              </a:spcBef>
              <a:spcAft>
                <a:spcPts val="0"/>
              </a:spcAft>
              <a:buSzPts val="1800"/>
              <a:buNone/>
            </a:pPr>
            <a:r>
              <a:rPr lang="en-US"/>
              <a:t>To delete this node, we have to swap it with the last node, i.e. (14). </a:t>
            </a:r>
            <a:endParaRPr/>
          </a:p>
          <a:p>
            <a:pPr marL="0" lvl="0" indent="0" algn="l" rtl="0">
              <a:lnSpc>
                <a:spcPct val="100000"/>
              </a:lnSpc>
              <a:spcBef>
                <a:spcPts val="1000"/>
              </a:spcBef>
              <a:spcAft>
                <a:spcPts val="0"/>
              </a:spcAft>
              <a:buSzPts val="1800"/>
              <a:buNone/>
            </a:pPr>
            <a:r>
              <a:rPr lang="en-US"/>
              <a:t>After deleting the root element, we again have to heapify it to convert it into max heap.</a:t>
            </a:r>
            <a:endParaRPr/>
          </a:p>
        </p:txBody>
      </p:sp>
      <p:sp>
        <p:nvSpPr>
          <p:cNvPr id="789" name="Google Shape;789;g26da551f36c_0_4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116</a:t>
            </a:fld>
            <a:endParaRPr/>
          </a:p>
        </p:txBody>
      </p:sp>
      <p:pic>
        <p:nvPicPr>
          <p:cNvPr id="790" name="Google Shape;790;g26da551f36c_0_40"/>
          <p:cNvPicPr preferRelativeResize="0"/>
          <p:nvPr/>
        </p:nvPicPr>
        <p:blipFill rotWithShape="1">
          <a:blip r:embed="rId3">
            <a:alphaModFix/>
          </a:blip>
          <a:srcRect/>
          <a:stretch/>
        </p:blipFill>
        <p:spPr>
          <a:xfrm>
            <a:off x="6006012" y="2305692"/>
            <a:ext cx="5238750" cy="2076450"/>
          </a:xfrm>
          <a:prstGeom prst="rect">
            <a:avLst/>
          </a:prstGeom>
          <a:noFill/>
          <a:ln>
            <a:noFill/>
          </a:ln>
        </p:spPr>
      </p:pic>
      <p:pic>
        <p:nvPicPr>
          <p:cNvPr id="791" name="Google Shape;791;g26da551f36c_0_40"/>
          <p:cNvPicPr preferRelativeResize="0"/>
          <p:nvPr/>
        </p:nvPicPr>
        <p:blipFill rotWithShape="1">
          <a:blip r:embed="rId4">
            <a:alphaModFix/>
          </a:blip>
          <a:srcRect/>
          <a:stretch/>
        </p:blipFill>
        <p:spPr>
          <a:xfrm>
            <a:off x="6325124" y="4534542"/>
            <a:ext cx="4600510" cy="644071"/>
          </a:xfrm>
          <a:prstGeom prst="rect">
            <a:avLst/>
          </a:prstGeom>
          <a:noFill/>
          <a:ln>
            <a:noFill/>
          </a:ln>
        </p:spPr>
      </p:pic>
    </p:spTree>
    <p:extLst>
      <p:ext uri="{BB962C8B-B14F-4D97-AF65-F5344CB8AC3E}">
        <p14:creationId xmlns:p14="http://schemas.microsoft.com/office/powerpoint/2010/main" val="9197061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6da551f36c_0_5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798" name="Google Shape;798;g26da551f36c_0_51"/>
          <p:cNvSpPr txBox="1">
            <a:spLocks noGrp="1"/>
          </p:cNvSpPr>
          <p:nvPr>
            <p:ph type="body" idx="1"/>
          </p:nvPr>
        </p:nvSpPr>
        <p:spPr>
          <a:xfrm>
            <a:off x="1581912" y="2638044"/>
            <a:ext cx="4271700" cy="31020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00000"/>
              </a:lnSpc>
              <a:spcBef>
                <a:spcPts val="1000"/>
              </a:spcBef>
              <a:spcAft>
                <a:spcPts val="0"/>
              </a:spcAft>
              <a:buSzPts val="1800"/>
              <a:buNone/>
            </a:pPr>
            <a:r>
              <a:rPr lang="en-US" b="1"/>
              <a:t>Step 6:</a:t>
            </a:r>
            <a:endParaRPr b="1"/>
          </a:p>
          <a:p>
            <a:pPr marL="0" lvl="0" indent="0" algn="l" rtl="0">
              <a:lnSpc>
                <a:spcPct val="100000"/>
              </a:lnSpc>
              <a:spcBef>
                <a:spcPts val="1000"/>
              </a:spcBef>
              <a:spcAft>
                <a:spcPts val="0"/>
              </a:spcAft>
              <a:buSzPts val="1800"/>
              <a:buNone/>
            </a:pPr>
            <a:r>
              <a:rPr lang="en-US"/>
              <a:t>Delete the root element (22) from the max heap. </a:t>
            </a:r>
            <a:endParaRPr/>
          </a:p>
          <a:p>
            <a:pPr marL="0" lvl="0" indent="0" algn="l" rtl="0">
              <a:lnSpc>
                <a:spcPct val="100000"/>
              </a:lnSpc>
              <a:spcBef>
                <a:spcPts val="1000"/>
              </a:spcBef>
              <a:spcAft>
                <a:spcPts val="0"/>
              </a:spcAft>
              <a:buSzPts val="1800"/>
              <a:buNone/>
            </a:pPr>
            <a:r>
              <a:rPr lang="en-US"/>
              <a:t>To delete this node, we have to swap it with the last node, i.e. (11). </a:t>
            </a:r>
            <a:endParaRPr/>
          </a:p>
          <a:p>
            <a:pPr marL="0" lvl="0" indent="0" algn="l" rtl="0">
              <a:lnSpc>
                <a:spcPct val="100000"/>
              </a:lnSpc>
              <a:spcBef>
                <a:spcPts val="1000"/>
              </a:spcBef>
              <a:spcAft>
                <a:spcPts val="0"/>
              </a:spcAft>
              <a:buClr>
                <a:schemeClr val="dk1"/>
              </a:buClr>
              <a:buSzPts val="1100"/>
              <a:buFont typeface="Arial"/>
              <a:buNone/>
            </a:pPr>
            <a:r>
              <a:rPr lang="en-US"/>
              <a:t>After deleting the root element, we again have to heapify it to convert it into max heap.</a:t>
            </a:r>
            <a:endParaRPr/>
          </a:p>
          <a:p>
            <a:pPr marL="0" lvl="0" indent="0" algn="l" rtl="0">
              <a:lnSpc>
                <a:spcPct val="100000"/>
              </a:lnSpc>
              <a:spcBef>
                <a:spcPts val="1000"/>
              </a:spcBef>
              <a:spcAft>
                <a:spcPts val="0"/>
              </a:spcAft>
              <a:buClr>
                <a:schemeClr val="dk1"/>
              </a:buClr>
              <a:buSzPts val="1100"/>
              <a:buFont typeface="Arial"/>
              <a:buNone/>
            </a:pPr>
            <a:endParaRPr/>
          </a:p>
          <a:p>
            <a:pPr marL="0" lvl="0" indent="0" algn="l" rtl="0">
              <a:lnSpc>
                <a:spcPct val="100000"/>
              </a:lnSpc>
              <a:spcBef>
                <a:spcPts val="1000"/>
              </a:spcBef>
              <a:spcAft>
                <a:spcPts val="0"/>
              </a:spcAft>
              <a:buSzPts val="1800"/>
              <a:buNone/>
            </a:pPr>
            <a:endParaRPr/>
          </a:p>
        </p:txBody>
      </p:sp>
      <p:sp>
        <p:nvSpPr>
          <p:cNvPr id="799" name="Google Shape;799;g26da551f36c_0_5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117</a:t>
            </a:fld>
            <a:endParaRPr/>
          </a:p>
        </p:txBody>
      </p:sp>
      <p:pic>
        <p:nvPicPr>
          <p:cNvPr id="800" name="Google Shape;800;g26da551f36c_0_51"/>
          <p:cNvPicPr preferRelativeResize="0"/>
          <p:nvPr/>
        </p:nvPicPr>
        <p:blipFill rotWithShape="1">
          <a:blip r:embed="rId3">
            <a:alphaModFix/>
          </a:blip>
          <a:srcRect/>
          <a:stretch/>
        </p:blipFill>
        <p:spPr>
          <a:xfrm>
            <a:off x="6136700" y="2643175"/>
            <a:ext cx="4800600" cy="1571625"/>
          </a:xfrm>
          <a:prstGeom prst="rect">
            <a:avLst/>
          </a:prstGeom>
          <a:noFill/>
          <a:ln>
            <a:noFill/>
          </a:ln>
        </p:spPr>
      </p:pic>
      <p:pic>
        <p:nvPicPr>
          <p:cNvPr id="801" name="Google Shape;801;g26da551f36c_0_51"/>
          <p:cNvPicPr preferRelativeResize="0"/>
          <p:nvPr/>
        </p:nvPicPr>
        <p:blipFill rotWithShape="1">
          <a:blip r:embed="rId4">
            <a:alphaModFix/>
          </a:blip>
          <a:srcRect/>
          <a:stretch/>
        </p:blipFill>
        <p:spPr>
          <a:xfrm>
            <a:off x="6336787" y="4704675"/>
            <a:ext cx="4600510" cy="644071"/>
          </a:xfrm>
          <a:prstGeom prst="rect">
            <a:avLst/>
          </a:prstGeom>
          <a:noFill/>
          <a:ln>
            <a:noFill/>
          </a:ln>
        </p:spPr>
      </p:pic>
    </p:spTree>
    <p:extLst>
      <p:ext uri="{BB962C8B-B14F-4D97-AF65-F5344CB8AC3E}">
        <p14:creationId xmlns:p14="http://schemas.microsoft.com/office/powerpoint/2010/main" val="28302546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6da551f36c_0_63"/>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808" name="Google Shape;808;g26da551f36c_0_63"/>
          <p:cNvSpPr txBox="1">
            <a:spLocks noGrp="1"/>
          </p:cNvSpPr>
          <p:nvPr>
            <p:ph type="body" idx="1"/>
          </p:nvPr>
        </p:nvSpPr>
        <p:spPr>
          <a:xfrm>
            <a:off x="1562537" y="2308719"/>
            <a:ext cx="42717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US" b="1"/>
              <a:t>Step 7:</a:t>
            </a:r>
            <a:endParaRPr/>
          </a:p>
          <a:p>
            <a:pPr marL="0" lvl="0" indent="0" algn="l" rtl="0">
              <a:lnSpc>
                <a:spcPct val="100000"/>
              </a:lnSpc>
              <a:spcBef>
                <a:spcPts val="1000"/>
              </a:spcBef>
              <a:spcAft>
                <a:spcPts val="0"/>
              </a:spcAft>
              <a:buSzPts val="1800"/>
              <a:buNone/>
            </a:pPr>
            <a:r>
              <a:rPr lang="en-US"/>
              <a:t>Delete the root element (14) from the max heap. </a:t>
            </a:r>
            <a:endParaRPr/>
          </a:p>
          <a:p>
            <a:pPr marL="0" lvl="0" indent="0" algn="l" rtl="0">
              <a:lnSpc>
                <a:spcPct val="100000"/>
              </a:lnSpc>
              <a:spcBef>
                <a:spcPts val="1000"/>
              </a:spcBef>
              <a:spcAft>
                <a:spcPts val="0"/>
              </a:spcAft>
              <a:buSzPts val="1800"/>
              <a:buNone/>
            </a:pPr>
            <a:r>
              <a:rPr lang="en-US"/>
              <a:t>To delete this node, we have to swap it with the last node, i.e. (9). </a:t>
            </a:r>
            <a:endParaRPr/>
          </a:p>
          <a:p>
            <a:pPr marL="0" lvl="0" indent="0" algn="l" rtl="0">
              <a:lnSpc>
                <a:spcPct val="100000"/>
              </a:lnSpc>
              <a:spcBef>
                <a:spcPts val="1000"/>
              </a:spcBef>
              <a:spcAft>
                <a:spcPts val="0"/>
              </a:spcAft>
              <a:buSzPts val="1800"/>
              <a:buNone/>
            </a:pPr>
            <a:r>
              <a:rPr lang="en-US"/>
              <a:t>After deleting the root element, we again have to heapify it to convert it into max heap.</a:t>
            </a:r>
            <a:endParaRPr/>
          </a:p>
        </p:txBody>
      </p:sp>
      <p:sp>
        <p:nvSpPr>
          <p:cNvPr id="809" name="Google Shape;809;g26da551f36c_0_6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118</a:t>
            </a:fld>
            <a:endParaRPr/>
          </a:p>
        </p:txBody>
      </p:sp>
      <p:pic>
        <p:nvPicPr>
          <p:cNvPr id="810" name="Google Shape;810;g26da551f36c_0_63"/>
          <p:cNvPicPr preferRelativeResize="0"/>
          <p:nvPr/>
        </p:nvPicPr>
        <p:blipFill rotWithShape="1">
          <a:blip r:embed="rId3">
            <a:alphaModFix/>
          </a:blip>
          <a:srcRect/>
          <a:stretch/>
        </p:blipFill>
        <p:spPr>
          <a:xfrm>
            <a:off x="6006012" y="2308717"/>
            <a:ext cx="5238750" cy="1619250"/>
          </a:xfrm>
          <a:prstGeom prst="rect">
            <a:avLst/>
          </a:prstGeom>
          <a:noFill/>
          <a:ln>
            <a:noFill/>
          </a:ln>
        </p:spPr>
      </p:pic>
      <p:pic>
        <p:nvPicPr>
          <p:cNvPr id="811" name="Google Shape;811;g26da551f36c_0_63"/>
          <p:cNvPicPr preferRelativeResize="0"/>
          <p:nvPr/>
        </p:nvPicPr>
        <p:blipFill rotWithShape="1">
          <a:blip r:embed="rId4">
            <a:alphaModFix/>
          </a:blip>
          <a:srcRect/>
          <a:stretch/>
        </p:blipFill>
        <p:spPr>
          <a:xfrm>
            <a:off x="6412862" y="4083392"/>
            <a:ext cx="4600510" cy="644071"/>
          </a:xfrm>
          <a:prstGeom prst="rect">
            <a:avLst/>
          </a:prstGeom>
          <a:noFill/>
          <a:ln>
            <a:noFill/>
          </a:ln>
        </p:spPr>
      </p:pic>
    </p:spTree>
    <p:extLst>
      <p:ext uri="{BB962C8B-B14F-4D97-AF65-F5344CB8AC3E}">
        <p14:creationId xmlns:p14="http://schemas.microsoft.com/office/powerpoint/2010/main" val="14465038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6da551f36c_0_74"/>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Heap Sort Example</a:t>
            </a:r>
            <a:endParaRPr/>
          </a:p>
        </p:txBody>
      </p:sp>
      <p:sp>
        <p:nvSpPr>
          <p:cNvPr id="818" name="Google Shape;818;g26da551f36c_0_74"/>
          <p:cNvSpPr txBox="1">
            <a:spLocks noGrp="1"/>
          </p:cNvSpPr>
          <p:nvPr>
            <p:ph type="body" idx="1"/>
          </p:nvPr>
        </p:nvSpPr>
        <p:spPr>
          <a:xfrm>
            <a:off x="1581912" y="2402569"/>
            <a:ext cx="42717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b="1"/>
              <a:t>Step 7:</a:t>
            </a:r>
            <a:endParaRPr/>
          </a:p>
          <a:p>
            <a:pPr marL="0" lvl="0" indent="0" algn="l" rtl="0">
              <a:lnSpc>
                <a:spcPct val="100000"/>
              </a:lnSpc>
              <a:spcBef>
                <a:spcPts val="1000"/>
              </a:spcBef>
              <a:spcAft>
                <a:spcPts val="0"/>
              </a:spcAft>
              <a:buSzPts val="1800"/>
              <a:buNone/>
            </a:pPr>
            <a:r>
              <a:rPr lang="en-US"/>
              <a:t>Delete the root element (11) from the max heap. </a:t>
            </a:r>
            <a:endParaRPr/>
          </a:p>
          <a:p>
            <a:pPr marL="0" lvl="0" indent="0" algn="l" rtl="0">
              <a:lnSpc>
                <a:spcPct val="100000"/>
              </a:lnSpc>
              <a:spcBef>
                <a:spcPts val="1000"/>
              </a:spcBef>
              <a:spcAft>
                <a:spcPts val="0"/>
              </a:spcAft>
              <a:buClr>
                <a:schemeClr val="dk1"/>
              </a:buClr>
              <a:buSzPts val="1100"/>
              <a:buFont typeface="Arial"/>
              <a:buNone/>
            </a:pPr>
            <a:r>
              <a:rPr lang="en-US"/>
              <a:t>To delete this node, we have to swap it with the last node, i.e. (9). </a:t>
            </a:r>
            <a:endParaRPr/>
          </a:p>
          <a:p>
            <a:pPr marL="0" lvl="0" indent="0" algn="l" rtl="0">
              <a:lnSpc>
                <a:spcPct val="100000"/>
              </a:lnSpc>
              <a:spcBef>
                <a:spcPts val="1000"/>
              </a:spcBef>
              <a:spcAft>
                <a:spcPts val="0"/>
              </a:spcAft>
              <a:buClr>
                <a:schemeClr val="dk1"/>
              </a:buClr>
              <a:buSzPts val="1100"/>
              <a:buFont typeface="Arial"/>
              <a:buNone/>
            </a:pPr>
            <a:r>
              <a:rPr lang="en-US"/>
              <a:t>After deleting the root element, we again have to heapify it to convert it into max heap.</a:t>
            </a:r>
            <a:endParaRPr/>
          </a:p>
          <a:p>
            <a:pPr marL="0" lvl="0" indent="0" algn="l" rtl="0">
              <a:lnSpc>
                <a:spcPct val="100000"/>
              </a:lnSpc>
              <a:spcBef>
                <a:spcPts val="1000"/>
              </a:spcBef>
              <a:spcAft>
                <a:spcPts val="0"/>
              </a:spcAft>
              <a:buSzPts val="1800"/>
              <a:buNone/>
            </a:pPr>
            <a:endParaRPr/>
          </a:p>
        </p:txBody>
      </p:sp>
      <p:sp>
        <p:nvSpPr>
          <p:cNvPr id="819" name="Google Shape;819;g26da551f36c_0_7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119</a:t>
            </a:fld>
            <a:endParaRPr/>
          </a:p>
        </p:txBody>
      </p:sp>
      <p:pic>
        <p:nvPicPr>
          <p:cNvPr id="820" name="Google Shape;820;g26da551f36c_0_74"/>
          <p:cNvPicPr preferRelativeResize="0"/>
          <p:nvPr/>
        </p:nvPicPr>
        <p:blipFill rotWithShape="1">
          <a:blip r:embed="rId3">
            <a:alphaModFix/>
          </a:blip>
          <a:srcRect/>
          <a:stretch/>
        </p:blipFill>
        <p:spPr>
          <a:xfrm>
            <a:off x="6603575" y="3529544"/>
            <a:ext cx="4762500" cy="666750"/>
          </a:xfrm>
          <a:prstGeom prst="rect">
            <a:avLst/>
          </a:prstGeom>
          <a:noFill/>
          <a:ln>
            <a:noFill/>
          </a:ln>
        </p:spPr>
      </p:pic>
      <p:pic>
        <p:nvPicPr>
          <p:cNvPr id="821" name="Google Shape;821;g26da551f36c_0_74"/>
          <p:cNvPicPr preferRelativeResize="0"/>
          <p:nvPr/>
        </p:nvPicPr>
        <p:blipFill rotWithShape="1">
          <a:blip r:embed="rId4">
            <a:alphaModFix/>
          </a:blip>
          <a:srcRect/>
          <a:stretch/>
        </p:blipFill>
        <p:spPr>
          <a:xfrm>
            <a:off x="6346412" y="2402567"/>
            <a:ext cx="5276850" cy="990600"/>
          </a:xfrm>
          <a:prstGeom prst="rect">
            <a:avLst/>
          </a:prstGeom>
          <a:noFill/>
          <a:ln>
            <a:noFill/>
          </a:ln>
        </p:spPr>
      </p:pic>
      <p:sp>
        <p:nvSpPr>
          <p:cNvPr id="822" name="Google Shape;822;g26da551f36c_0_74"/>
          <p:cNvSpPr txBox="1">
            <a:spLocks noGrp="1"/>
          </p:cNvSpPr>
          <p:nvPr>
            <p:ph type="body" idx="1"/>
          </p:nvPr>
        </p:nvSpPr>
        <p:spPr>
          <a:xfrm>
            <a:off x="6160724" y="4882900"/>
            <a:ext cx="45147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b="1"/>
              <a:t>Step 8:</a:t>
            </a:r>
            <a:endParaRPr b="1"/>
          </a:p>
          <a:p>
            <a:pPr marL="0" lvl="0" indent="0" algn="l" rtl="0">
              <a:lnSpc>
                <a:spcPct val="100000"/>
              </a:lnSpc>
              <a:spcBef>
                <a:spcPts val="1000"/>
              </a:spcBef>
              <a:spcAft>
                <a:spcPts val="0"/>
              </a:spcAft>
              <a:buSzPts val="1800"/>
              <a:buNone/>
            </a:pPr>
            <a:r>
              <a:rPr lang="en-US"/>
              <a:t>Heap has only one element left. After deleting it, heap will be empty.</a:t>
            </a:r>
            <a:endParaRPr/>
          </a:p>
        </p:txBody>
      </p:sp>
      <p:pic>
        <p:nvPicPr>
          <p:cNvPr id="823" name="Google Shape;823;g26da551f36c_0_74"/>
          <p:cNvPicPr preferRelativeResize="0"/>
          <p:nvPr/>
        </p:nvPicPr>
        <p:blipFill rotWithShape="1">
          <a:blip r:embed="rId5">
            <a:alphaModFix/>
          </a:blip>
          <a:srcRect/>
          <a:stretch/>
        </p:blipFill>
        <p:spPr>
          <a:xfrm>
            <a:off x="1682875" y="5228100"/>
            <a:ext cx="3867274" cy="659892"/>
          </a:xfrm>
          <a:prstGeom prst="rect">
            <a:avLst/>
          </a:prstGeom>
          <a:noFill/>
          <a:ln>
            <a:noFill/>
          </a:ln>
        </p:spPr>
      </p:pic>
      <p:pic>
        <p:nvPicPr>
          <p:cNvPr id="824" name="Google Shape;824;g26da551f36c_0_74"/>
          <p:cNvPicPr preferRelativeResize="0"/>
          <p:nvPr/>
        </p:nvPicPr>
        <p:blipFill rotWithShape="1">
          <a:blip r:embed="rId6">
            <a:alphaModFix/>
          </a:blip>
          <a:srcRect/>
          <a:stretch/>
        </p:blipFill>
        <p:spPr>
          <a:xfrm>
            <a:off x="1363713" y="6070825"/>
            <a:ext cx="4713514" cy="659892"/>
          </a:xfrm>
          <a:prstGeom prst="rect">
            <a:avLst/>
          </a:prstGeom>
          <a:noFill/>
          <a:ln>
            <a:noFill/>
          </a:ln>
        </p:spPr>
      </p:pic>
    </p:spTree>
    <p:extLst>
      <p:ext uri="{BB962C8B-B14F-4D97-AF65-F5344CB8AC3E}">
        <p14:creationId xmlns:p14="http://schemas.microsoft.com/office/powerpoint/2010/main" val="241486723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6da551f36c_0_95"/>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Bucket Sort </a:t>
            </a:r>
            <a:endParaRPr/>
          </a:p>
        </p:txBody>
      </p:sp>
      <p:sp>
        <p:nvSpPr>
          <p:cNvPr id="831" name="Google Shape;831;g26da551f36c_0_95"/>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fontScale="77500" lnSpcReduction="10000"/>
          </a:bodyPr>
          <a:lstStyle/>
          <a:p>
            <a:pPr marL="0" lvl="0" indent="0" algn="just" rtl="0">
              <a:lnSpc>
                <a:spcPct val="100000"/>
              </a:lnSpc>
              <a:spcBef>
                <a:spcPts val="1000"/>
              </a:spcBef>
              <a:spcAft>
                <a:spcPts val="0"/>
              </a:spcAft>
              <a:buSzPct val="108107"/>
              <a:buNone/>
            </a:pPr>
            <a:r>
              <a:rPr lang="en-US"/>
              <a:t>The data items in the bucket sort are distributed in the form of buckets.</a:t>
            </a:r>
            <a:endParaRPr/>
          </a:p>
          <a:p>
            <a:pPr marL="0" lvl="0" indent="0" algn="just" rtl="0">
              <a:lnSpc>
                <a:spcPct val="100000"/>
              </a:lnSpc>
              <a:spcBef>
                <a:spcPts val="1000"/>
              </a:spcBef>
              <a:spcAft>
                <a:spcPts val="0"/>
              </a:spcAft>
              <a:buSzPct val="108107"/>
              <a:buNone/>
            </a:pPr>
            <a:r>
              <a:rPr lang="en-US"/>
              <a:t>Bucket sort is a sorting algorithm that separate the elements into multiple groups said to be buckets. </a:t>
            </a:r>
            <a:endParaRPr/>
          </a:p>
          <a:p>
            <a:pPr marL="0" lvl="0" indent="0" algn="just" rtl="0">
              <a:lnSpc>
                <a:spcPct val="100000"/>
              </a:lnSpc>
              <a:spcBef>
                <a:spcPts val="1000"/>
              </a:spcBef>
              <a:spcAft>
                <a:spcPts val="0"/>
              </a:spcAft>
              <a:buSzPct val="108107"/>
              <a:buNone/>
            </a:pPr>
            <a:r>
              <a:rPr lang="en-US"/>
              <a:t>Elements in bucket sort are first uniformly divided into groups called buckets, and then they are sorted by any other sorting algorithm. After that, elements are gathered in a sorted manner. </a:t>
            </a:r>
            <a:endParaRPr/>
          </a:p>
          <a:p>
            <a:pPr marL="0" lvl="0" indent="0" algn="l" rtl="0">
              <a:lnSpc>
                <a:spcPct val="100000"/>
              </a:lnSpc>
              <a:spcBef>
                <a:spcPts val="1000"/>
              </a:spcBef>
              <a:spcAft>
                <a:spcPts val="0"/>
              </a:spcAft>
              <a:buClr>
                <a:schemeClr val="dk1"/>
              </a:buClr>
              <a:buSzPct val="61109"/>
              <a:buFont typeface="Arial"/>
              <a:buNone/>
            </a:pPr>
            <a:r>
              <a:rPr lang="en-US" b="1"/>
              <a:t>Procedure :</a:t>
            </a:r>
            <a:endParaRPr b="1"/>
          </a:p>
          <a:p>
            <a:pPr marL="0" lvl="0" indent="0" algn="l" rtl="0">
              <a:lnSpc>
                <a:spcPct val="100000"/>
              </a:lnSpc>
              <a:spcBef>
                <a:spcPts val="1000"/>
              </a:spcBef>
              <a:spcAft>
                <a:spcPts val="0"/>
              </a:spcAft>
              <a:buClr>
                <a:schemeClr val="dk1"/>
              </a:buClr>
              <a:buSzPct val="61109"/>
              <a:buFont typeface="Arial"/>
              <a:buNone/>
            </a:pPr>
            <a:r>
              <a:rPr lang="en-US"/>
              <a:t>Step 1 : First, partition the range into a fixed number of buckets.</a:t>
            </a:r>
            <a:endParaRPr/>
          </a:p>
          <a:p>
            <a:pPr marL="0" lvl="0" indent="0" algn="l" rtl="0">
              <a:lnSpc>
                <a:spcPct val="100000"/>
              </a:lnSpc>
              <a:spcBef>
                <a:spcPts val="1000"/>
              </a:spcBef>
              <a:spcAft>
                <a:spcPts val="0"/>
              </a:spcAft>
              <a:buClr>
                <a:schemeClr val="dk1"/>
              </a:buClr>
              <a:buSzPct val="61109"/>
              <a:buFont typeface="Arial"/>
              <a:buNone/>
            </a:pPr>
            <a:r>
              <a:rPr lang="en-US"/>
              <a:t>Step 2 : Then, toss every element into its appropriate bucket.</a:t>
            </a:r>
            <a:endParaRPr/>
          </a:p>
          <a:p>
            <a:pPr marL="0" lvl="0" indent="0" algn="l" rtl="0">
              <a:lnSpc>
                <a:spcPct val="100000"/>
              </a:lnSpc>
              <a:spcBef>
                <a:spcPts val="1000"/>
              </a:spcBef>
              <a:spcAft>
                <a:spcPts val="0"/>
              </a:spcAft>
              <a:buClr>
                <a:schemeClr val="dk1"/>
              </a:buClr>
              <a:buSzPct val="61109"/>
              <a:buFont typeface="Arial"/>
              <a:buNone/>
            </a:pPr>
            <a:r>
              <a:rPr lang="en-US"/>
              <a:t>Step 3 : After that, sort each bucket individually by applying a sorting algorithm.</a:t>
            </a:r>
            <a:endParaRPr/>
          </a:p>
          <a:p>
            <a:pPr marL="0" lvl="0" indent="0" algn="l" rtl="0">
              <a:lnSpc>
                <a:spcPct val="100000"/>
              </a:lnSpc>
              <a:spcBef>
                <a:spcPts val="1000"/>
              </a:spcBef>
              <a:spcAft>
                <a:spcPts val="0"/>
              </a:spcAft>
              <a:buClr>
                <a:schemeClr val="dk1"/>
              </a:buClr>
              <a:buSzPct val="61109"/>
              <a:buFont typeface="Arial"/>
              <a:buNone/>
            </a:pPr>
            <a:r>
              <a:rPr lang="en-US"/>
              <a:t>Step 4 : And at last, concatenate all the sorted buckets.</a:t>
            </a:r>
            <a:endParaRPr/>
          </a:p>
        </p:txBody>
      </p:sp>
      <p:sp>
        <p:nvSpPr>
          <p:cNvPr id="832" name="Google Shape;832;g26da551f36c_0_9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120</a:t>
            </a:fld>
            <a:endParaRPr/>
          </a:p>
        </p:txBody>
      </p:sp>
    </p:spTree>
    <p:extLst>
      <p:ext uri="{BB962C8B-B14F-4D97-AF65-F5344CB8AC3E}">
        <p14:creationId xmlns:p14="http://schemas.microsoft.com/office/powerpoint/2010/main" val="293918314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6da551f36c_0_106"/>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1000"/>
              </a:spcBef>
              <a:spcAft>
                <a:spcPts val="0"/>
              </a:spcAft>
              <a:buSzPts val="1800"/>
              <a:buNone/>
            </a:pPr>
            <a:r>
              <a:rPr lang="en-US" b="1"/>
              <a:t>Advantages :</a:t>
            </a:r>
            <a:endParaRPr b="1"/>
          </a:p>
          <a:p>
            <a:pPr marL="457200" lvl="0" indent="-342900" algn="l" rtl="0">
              <a:lnSpc>
                <a:spcPct val="100000"/>
              </a:lnSpc>
              <a:spcBef>
                <a:spcPts val="1000"/>
              </a:spcBef>
              <a:spcAft>
                <a:spcPts val="0"/>
              </a:spcAft>
              <a:buSzPts val="1800"/>
              <a:buChar char="•"/>
            </a:pPr>
            <a:r>
              <a:rPr lang="en-US"/>
              <a:t>Bucket sort reduces the no. of comparisons.</a:t>
            </a:r>
            <a:endParaRPr/>
          </a:p>
          <a:p>
            <a:pPr marL="457200" lvl="0" indent="-342900" algn="l" rtl="0">
              <a:lnSpc>
                <a:spcPct val="100000"/>
              </a:lnSpc>
              <a:spcBef>
                <a:spcPts val="0"/>
              </a:spcBef>
              <a:spcAft>
                <a:spcPts val="0"/>
              </a:spcAft>
              <a:buSzPts val="1800"/>
              <a:buChar char="•"/>
            </a:pPr>
            <a:r>
              <a:rPr lang="en-US"/>
              <a:t>It is asymptotically fast because of the uniform distribution of elements.</a:t>
            </a:r>
            <a:endParaRPr/>
          </a:p>
          <a:p>
            <a:pPr marL="0" lvl="0" indent="0" algn="l" rtl="0">
              <a:lnSpc>
                <a:spcPct val="100000"/>
              </a:lnSpc>
              <a:spcBef>
                <a:spcPts val="1000"/>
              </a:spcBef>
              <a:spcAft>
                <a:spcPts val="0"/>
              </a:spcAft>
              <a:buSzPts val="1800"/>
              <a:buNone/>
            </a:pPr>
            <a:r>
              <a:rPr lang="en-US" b="1"/>
              <a:t>Limitations :</a:t>
            </a:r>
            <a:endParaRPr b="1"/>
          </a:p>
          <a:p>
            <a:pPr marL="457200" lvl="0" indent="-342900" algn="l" rtl="0">
              <a:lnSpc>
                <a:spcPct val="100000"/>
              </a:lnSpc>
              <a:spcBef>
                <a:spcPts val="1000"/>
              </a:spcBef>
              <a:spcAft>
                <a:spcPts val="0"/>
              </a:spcAft>
              <a:buSzPts val="1800"/>
              <a:buChar char="•"/>
            </a:pPr>
            <a:r>
              <a:rPr lang="en-US"/>
              <a:t>It may or may not be a stable sorting algorithm.</a:t>
            </a:r>
            <a:endParaRPr/>
          </a:p>
          <a:p>
            <a:pPr marL="457200" lvl="0" indent="-342900" algn="l" rtl="0">
              <a:lnSpc>
                <a:spcPct val="100000"/>
              </a:lnSpc>
              <a:spcBef>
                <a:spcPts val="0"/>
              </a:spcBef>
              <a:spcAft>
                <a:spcPts val="0"/>
              </a:spcAft>
              <a:buSzPts val="1800"/>
              <a:buChar char="•"/>
            </a:pPr>
            <a:r>
              <a:rPr lang="en-US"/>
              <a:t>It is not useful if we have a large array because it increases the cost.</a:t>
            </a:r>
            <a:endParaRPr/>
          </a:p>
          <a:p>
            <a:pPr marL="457200" lvl="0" indent="-342900" algn="l" rtl="0">
              <a:lnSpc>
                <a:spcPct val="100000"/>
              </a:lnSpc>
              <a:spcBef>
                <a:spcPts val="0"/>
              </a:spcBef>
              <a:spcAft>
                <a:spcPts val="0"/>
              </a:spcAft>
              <a:buSzPts val="1800"/>
              <a:buChar char="•"/>
            </a:pPr>
            <a:r>
              <a:rPr lang="en-US"/>
              <a:t>It is not an in-place sorting algorithm, because some extra space is required to sort the buckets.</a:t>
            </a:r>
            <a:endParaRPr/>
          </a:p>
        </p:txBody>
      </p:sp>
      <p:sp>
        <p:nvSpPr>
          <p:cNvPr id="839" name="Google Shape;839;g26da551f36c_0_106"/>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Bucket Sort </a:t>
            </a:r>
            <a:endParaRPr/>
          </a:p>
        </p:txBody>
      </p:sp>
      <p:sp>
        <p:nvSpPr>
          <p:cNvPr id="840" name="Google Shape;840;g26da551f36c_0_106"/>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121</a:t>
            </a:fld>
            <a:endParaRPr/>
          </a:p>
        </p:txBody>
      </p:sp>
    </p:spTree>
    <p:extLst>
      <p:ext uri="{BB962C8B-B14F-4D97-AF65-F5344CB8AC3E}">
        <p14:creationId xmlns:p14="http://schemas.microsoft.com/office/powerpoint/2010/main" val="919439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6da551f36c_0_118"/>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chemeClr val="dk1"/>
              </a:buClr>
              <a:buSzPts val="1100"/>
              <a:buFont typeface="Arial"/>
              <a:buNone/>
            </a:pPr>
            <a:r>
              <a:rPr lang="en-US"/>
              <a:t>Bucket Sort Algorithm</a:t>
            </a:r>
            <a:endParaRPr/>
          </a:p>
        </p:txBody>
      </p:sp>
      <p:sp>
        <p:nvSpPr>
          <p:cNvPr id="847" name="Google Shape;847;g26da551f36c_0_118"/>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1000"/>
              </a:spcBef>
              <a:spcAft>
                <a:spcPts val="0"/>
              </a:spcAft>
              <a:buClr>
                <a:schemeClr val="dk1"/>
              </a:buClr>
              <a:buSzPts val="605"/>
              <a:buFont typeface="Arial"/>
              <a:buNone/>
            </a:pPr>
            <a:r>
              <a:rPr lang="en-US" sz="1290" b="1"/>
              <a:t>Bucket Sort(A[])  </a:t>
            </a:r>
            <a:endParaRPr sz="1290" b="1"/>
          </a:p>
          <a:p>
            <a:pPr marL="0" lvl="0" indent="0" algn="l" rtl="0">
              <a:lnSpc>
                <a:spcPct val="80000"/>
              </a:lnSpc>
              <a:spcBef>
                <a:spcPts val="1000"/>
              </a:spcBef>
              <a:spcAft>
                <a:spcPts val="0"/>
              </a:spcAft>
              <a:buClr>
                <a:schemeClr val="dk1"/>
              </a:buClr>
              <a:buSzPts val="605"/>
              <a:buFont typeface="Arial"/>
              <a:buNone/>
            </a:pPr>
            <a:r>
              <a:rPr lang="en-US" sz="1290"/>
              <a:t>1.  Let B[0....n-1] be a new array  </a:t>
            </a:r>
            <a:endParaRPr sz="1290"/>
          </a:p>
          <a:p>
            <a:pPr marL="0" lvl="0" indent="0" algn="l" rtl="0">
              <a:lnSpc>
                <a:spcPct val="80000"/>
              </a:lnSpc>
              <a:spcBef>
                <a:spcPts val="1000"/>
              </a:spcBef>
              <a:spcAft>
                <a:spcPts val="0"/>
              </a:spcAft>
              <a:buClr>
                <a:schemeClr val="dk1"/>
              </a:buClr>
              <a:buSzPts val="605"/>
              <a:buFont typeface="Arial"/>
              <a:buNone/>
            </a:pPr>
            <a:r>
              <a:rPr lang="en-US" sz="1290"/>
              <a:t>2.  n=length[A]  </a:t>
            </a:r>
            <a:endParaRPr sz="1290"/>
          </a:p>
          <a:p>
            <a:pPr marL="0" lvl="0" indent="0" algn="l" rtl="0">
              <a:lnSpc>
                <a:spcPct val="80000"/>
              </a:lnSpc>
              <a:spcBef>
                <a:spcPts val="1000"/>
              </a:spcBef>
              <a:spcAft>
                <a:spcPts val="0"/>
              </a:spcAft>
              <a:buClr>
                <a:schemeClr val="dk1"/>
              </a:buClr>
              <a:buSzPts val="605"/>
              <a:buFont typeface="Arial"/>
              <a:buNone/>
            </a:pPr>
            <a:r>
              <a:rPr lang="en-US" sz="1290"/>
              <a:t>3.  for i=0 to n-1  </a:t>
            </a:r>
            <a:endParaRPr sz="1290"/>
          </a:p>
          <a:p>
            <a:pPr marL="0" lvl="0" indent="0" algn="l" rtl="0">
              <a:lnSpc>
                <a:spcPct val="80000"/>
              </a:lnSpc>
              <a:spcBef>
                <a:spcPts val="1000"/>
              </a:spcBef>
              <a:spcAft>
                <a:spcPts val="0"/>
              </a:spcAft>
              <a:buClr>
                <a:schemeClr val="dk1"/>
              </a:buClr>
              <a:buSzPts val="605"/>
              <a:buFont typeface="Arial"/>
              <a:buNone/>
            </a:pPr>
            <a:r>
              <a:rPr lang="en-US" sz="1290"/>
              <a:t>4.  make B[i] an empty list  </a:t>
            </a:r>
            <a:endParaRPr sz="1290"/>
          </a:p>
          <a:p>
            <a:pPr marL="0" lvl="0" indent="0" algn="l" rtl="0">
              <a:lnSpc>
                <a:spcPct val="80000"/>
              </a:lnSpc>
              <a:spcBef>
                <a:spcPts val="1000"/>
              </a:spcBef>
              <a:spcAft>
                <a:spcPts val="0"/>
              </a:spcAft>
              <a:buClr>
                <a:schemeClr val="dk1"/>
              </a:buClr>
              <a:buSzPts val="605"/>
              <a:buFont typeface="Arial"/>
              <a:buNone/>
            </a:pPr>
            <a:r>
              <a:rPr lang="en-US" sz="1290"/>
              <a:t>5.  for i=1 to n  </a:t>
            </a:r>
            <a:endParaRPr sz="1290"/>
          </a:p>
          <a:p>
            <a:pPr marL="0" lvl="0" indent="0" algn="l" rtl="0">
              <a:lnSpc>
                <a:spcPct val="80000"/>
              </a:lnSpc>
              <a:spcBef>
                <a:spcPts val="1000"/>
              </a:spcBef>
              <a:spcAft>
                <a:spcPts val="0"/>
              </a:spcAft>
              <a:buClr>
                <a:schemeClr val="dk1"/>
              </a:buClr>
              <a:buSzPts val="605"/>
              <a:buFont typeface="Arial"/>
              <a:buNone/>
            </a:pPr>
            <a:r>
              <a:rPr lang="en-US" sz="1290"/>
              <a:t>6.  do insert A[i] into list B[n a[i]]  </a:t>
            </a:r>
            <a:endParaRPr sz="1290"/>
          </a:p>
          <a:p>
            <a:pPr marL="0" lvl="0" indent="0" algn="l" rtl="0">
              <a:lnSpc>
                <a:spcPct val="80000"/>
              </a:lnSpc>
              <a:spcBef>
                <a:spcPts val="1000"/>
              </a:spcBef>
              <a:spcAft>
                <a:spcPts val="0"/>
              </a:spcAft>
              <a:buClr>
                <a:schemeClr val="dk1"/>
              </a:buClr>
              <a:buSzPts val="605"/>
              <a:buFont typeface="Arial"/>
              <a:buNone/>
            </a:pPr>
            <a:r>
              <a:rPr lang="en-US" sz="1290"/>
              <a:t>7.  for i=0 to n-1  </a:t>
            </a:r>
            <a:endParaRPr sz="1290"/>
          </a:p>
          <a:p>
            <a:pPr marL="0" lvl="0" indent="0" algn="l" rtl="0">
              <a:lnSpc>
                <a:spcPct val="80000"/>
              </a:lnSpc>
              <a:spcBef>
                <a:spcPts val="1000"/>
              </a:spcBef>
              <a:spcAft>
                <a:spcPts val="0"/>
              </a:spcAft>
              <a:buClr>
                <a:schemeClr val="dk1"/>
              </a:buClr>
              <a:buSzPts val="605"/>
              <a:buFont typeface="Arial"/>
              <a:buNone/>
            </a:pPr>
            <a:r>
              <a:rPr lang="en-US" sz="1290"/>
              <a:t>8.  do sort list B[i] with insertion-sort  </a:t>
            </a:r>
            <a:endParaRPr sz="1290"/>
          </a:p>
          <a:p>
            <a:pPr marL="0" lvl="0" indent="0" algn="l" rtl="0">
              <a:lnSpc>
                <a:spcPct val="80000"/>
              </a:lnSpc>
              <a:spcBef>
                <a:spcPts val="1000"/>
              </a:spcBef>
              <a:spcAft>
                <a:spcPts val="0"/>
              </a:spcAft>
              <a:buClr>
                <a:schemeClr val="dk1"/>
              </a:buClr>
              <a:buSzPts val="605"/>
              <a:buFont typeface="Arial"/>
              <a:buNone/>
            </a:pPr>
            <a:r>
              <a:rPr lang="en-US" sz="1290"/>
              <a:t>9.  Concatenate lists B[0], B[1],........, B[n-1] together in order  </a:t>
            </a:r>
            <a:endParaRPr sz="1290"/>
          </a:p>
          <a:p>
            <a:pPr marL="0" lvl="0" indent="0" algn="l" rtl="0">
              <a:lnSpc>
                <a:spcPct val="80000"/>
              </a:lnSpc>
              <a:spcBef>
                <a:spcPts val="1000"/>
              </a:spcBef>
              <a:spcAft>
                <a:spcPts val="0"/>
              </a:spcAft>
              <a:buClr>
                <a:schemeClr val="dk1"/>
              </a:buClr>
              <a:buSzPts val="605"/>
              <a:buFont typeface="Arial"/>
              <a:buNone/>
            </a:pPr>
            <a:r>
              <a:rPr lang="en-US" sz="1290"/>
              <a:t>End   </a:t>
            </a:r>
            <a:endParaRPr sz="1290"/>
          </a:p>
          <a:p>
            <a:pPr marL="0" lvl="0" indent="0" algn="l" rtl="0">
              <a:lnSpc>
                <a:spcPct val="80000"/>
              </a:lnSpc>
              <a:spcBef>
                <a:spcPts val="1000"/>
              </a:spcBef>
              <a:spcAft>
                <a:spcPts val="0"/>
              </a:spcAft>
              <a:buSzPts val="605"/>
              <a:buNone/>
            </a:pPr>
            <a:endParaRPr sz="1290"/>
          </a:p>
        </p:txBody>
      </p:sp>
      <p:sp>
        <p:nvSpPr>
          <p:cNvPr id="848" name="Google Shape;848;g26da551f36c_0_11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122</a:t>
            </a:fld>
            <a:endParaRPr/>
          </a:p>
        </p:txBody>
      </p:sp>
    </p:spTree>
    <p:extLst>
      <p:ext uri="{BB962C8B-B14F-4D97-AF65-F5344CB8AC3E}">
        <p14:creationId xmlns:p14="http://schemas.microsoft.com/office/powerpoint/2010/main" val="30638622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6dd2ae4e95_0_0"/>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r>
              <a:rPr lang="en-US"/>
              <a:t>Bucket Sort Example</a:t>
            </a:r>
            <a:endParaRPr/>
          </a:p>
        </p:txBody>
      </p:sp>
      <p:sp>
        <p:nvSpPr>
          <p:cNvPr id="855" name="Google Shape;855;g26dd2ae4e95_0_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123</a:t>
            </a:fld>
            <a:endParaRPr/>
          </a:p>
        </p:txBody>
      </p:sp>
      <p:pic>
        <p:nvPicPr>
          <p:cNvPr id="856" name="Google Shape;856;g26dd2ae4e95_0_0"/>
          <p:cNvPicPr preferRelativeResize="0"/>
          <p:nvPr/>
        </p:nvPicPr>
        <p:blipFill rotWithShape="1">
          <a:blip r:embed="rId3">
            <a:alphaModFix/>
          </a:blip>
          <a:srcRect/>
          <a:stretch/>
        </p:blipFill>
        <p:spPr>
          <a:xfrm>
            <a:off x="3192100" y="2458092"/>
            <a:ext cx="6075654" cy="4399908"/>
          </a:xfrm>
          <a:prstGeom prst="rect">
            <a:avLst/>
          </a:prstGeom>
          <a:noFill/>
          <a:ln>
            <a:noFill/>
          </a:ln>
        </p:spPr>
      </p:pic>
      <p:sp>
        <p:nvSpPr>
          <p:cNvPr id="857" name="Google Shape;857;g26dd2ae4e95_0_0"/>
          <p:cNvSpPr txBox="1">
            <a:spLocks noGrp="1"/>
          </p:cNvSpPr>
          <p:nvPr>
            <p:ph type="body" idx="1"/>
          </p:nvPr>
        </p:nvSpPr>
        <p:spPr>
          <a:xfrm>
            <a:off x="2231136" y="2638044"/>
            <a:ext cx="7729800" cy="3102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extLst>
      <p:ext uri="{BB962C8B-B14F-4D97-AF65-F5344CB8AC3E}">
        <p14:creationId xmlns:p14="http://schemas.microsoft.com/office/powerpoint/2010/main" val="30573159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6e03725c7d_0_11"/>
          <p:cNvSpPr txBox="1">
            <a:spLocks noGrp="1"/>
          </p:cNvSpPr>
          <p:nvPr>
            <p:ph type="title"/>
          </p:nvPr>
        </p:nvSpPr>
        <p:spPr>
          <a:xfrm>
            <a:off x="2231136" y="964692"/>
            <a:ext cx="7729800" cy="11886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SzPts val="1800"/>
              <a:buNone/>
            </a:pPr>
            <a:endParaRPr/>
          </a:p>
        </p:txBody>
      </p:sp>
      <p:sp>
        <p:nvSpPr>
          <p:cNvPr id="864" name="Google Shape;864;g26e03725c7d_0_11"/>
          <p:cNvSpPr txBox="1">
            <a:spLocks noGrp="1"/>
          </p:cNvSpPr>
          <p:nvPr>
            <p:ph type="body" idx="1"/>
          </p:nvPr>
        </p:nvSpPr>
        <p:spPr>
          <a:xfrm>
            <a:off x="2231136" y="2638044"/>
            <a:ext cx="7729800" cy="3102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endParaRPr/>
          </a:p>
        </p:txBody>
      </p:sp>
      <p:sp>
        <p:nvSpPr>
          <p:cNvPr id="865" name="Google Shape;865;g26e03725c7d_0_1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124</a:t>
            </a:fld>
            <a:endParaRPr/>
          </a:p>
        </p:txBody>
      </p:sp>
      <p:pic>
        <p:nvPicPr>
          <p:cNvPr id="866" name="Google Shape;866;g26e03725c7d_0_11"/>
          <p:cNvPicPr preferRelativeResize="0"/>
          <p:nvPr/>
        </p:nvPicPr>
        <p:blipFill rotWithShape="1">
          <a:blip r:embed="rId3">
            <a:alphaModFix/>
          </a:blip>
          <a:srcRect/>
          <a:stretch/>
        </p:blipFill>
        <p:spPr>
          <a:xfrm>
            <a:off x="1038225" y="733425"/>
            <a:ext cx="10115550" cy="5391150"/>
          </a:xfrm>
          <a:prstGeom prst="rect">
            <a:avLst/>
          </a:prstGeom>
          <a:noFill/>
          <a:ln>
            <a:noFill/>
          </a:ln>
        </p:spPr>
      </p:pic>
    </p:spTree>
    <p:extLst>
      <p:ext uri="{BB962C8B-B14F-4D97-AF65-F5344CB8AC3E}">
        <p14:creationId xmlns:p14="http://schemas.microsoft.com/office/powerpoint/2010/main" val="101685296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6e03725c7d_0_1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125</a:t>
            </a:fld>
            <a:endParaRPr/>
          </a:p>
        </p:txBody>
      </p:sp>
      <p:pic>
        <p:nvPicPr>
          <p:cNvPr id="873" name="Google Shape;873;g26e03725c7d_0_19"/>
          <p:cNvPicPr preferRelativeResize="0"/>
          <p:nvPr/>
        </p:nvPicPr>
        <p:blipFill rotWithShape="1">
          <a:blip r:embed="rId3">
            <a:alphaModFix/>
          </a:blip>
          <a:srcRect/>
          <a:stretch/>
        </p:blipFill>
        <p:spPr>
          <a:xfrm>
            <a:off x="847550" y="960125"/>
            <a:ext cx="10106025" cy="5257800"/>
          </a:xfrm>
          <a:prstGeom prst="rect">
            <a:avLst/>
          </a:prstGeom>
          <a:noFill/>
          <a:ln>
            <a:noFill/>
          </a:ln>
        </p:spPr>
      </p:pic>
      <p:sp>
        <p:nvSpPr>
          <p:cNvPr id="874" name="Google Shape;874;g26e03725c7d_0_19"/>
          <p:cNvSpPr txBox="1">
            <a:spLocks noGrp="1"/>
          </p:cNvSpPr>
          <p:nvPr>
            <p:ph type="title"/>
          </p:nvPr>
        </p:nvSpPr>
        <p:spPr>
          <a:xfrm>
            <a:off x="2231136" y="964692"/>
            <a:ext cx="7729800" cy="1188600"/>
          </a:xfrm>
          <a:prstGeom prst="rect">
            <a:avLst/>
          </a:prstGeom>
        </p:spPr>
        <p:txBody>
          <a:bodyPr spcFirstLastPara="1" wrap="square" lIns="182875" tIns="182875" rIns="182875" bIns="182875" anchor="ctr" anchorCtr="0">
            <a:normAutofit/>
          </a:bodyPr>
          <a:lstStyle/>
          <a:p>
            <a:pPr marL="0" lvl="0" indent="0" algn="ctr" rtl="0">
              <a:spcBef>
                <a:spcPts val="0"/>
              </a:spcBef>
              <a:spcAft>
                <a:spcPts val="0"/>
              </a:spcAft>
              <a:buNone/>
            </a:pPr>
            <a:endParaRPr/>
          </a:p>
        </p:txBody>
      </p:sp>
      <p:sp>
        <p:nvSpPr>
          <p:cNvPr id="875" name="Google Shape;875;g26e03725c7d_0_19"/>
          <p:cNvSpPr txBox="1">
            <a:spLocks noGrp="1"/>
          </p:cNvSpPr>
          <p:nvPr>
            <p:ph type="body" idx="1"/>
          </p:nvPr>
        </p:nvSpPr>
        <p:spPr>
          <a:xfrm>
            <a:off x="2231136" y="2638044"/>
            <a:ext cx="7729800" cy="3102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extLst>
      <p:ext uri="{BB962C8B-B14F-4D97-AF65-F5344CB8AC3E}">
        <p14:creationId xmlns:p14="http://schemas.microsoft.com/office/powerpoint/2010/main" val="17057986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6e03725c7d_0_27"/>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126</a:t>
            </a:fld>
            <a:endParaRPr/>
          </a:p>
        </p:txBody>
      </p:sp>
      <p:pic>
        <p:nvPicPr>
          <p:cNvPr id="882" name="Google Shape;882;g26e03725c7d_0_27"/>
          <p:cNvPicPr preferRelativeResize="0"/>
          <p:nvPr/>
        </p:nvPicPr>
        <p:blipFill rotWithShape="1">
          <a:blip r:embed="rId3">
            <a:alphaModFix/>
          </a:blip>
          <a:srcRect/>
          <a:stretch/>
        </p:blipFill>
        <p:spPr>
          <a:xfrm>
            <a:off x="961000" y="950600"/>
            <a:ext cx="10086975" cy="5267325"/>
          </a:xfrm>
          <a:prstGeom prst="rect">
            <a:avLst/>
          </a:prstGeom>
          <a:noFill/>
          <a:ln>
            <a:noFill/>
          </a:ln>
        </p:spPr>
      </p:pic>
    </p:spTree>
    <p:extLst>
      <p:ext uri="{BB962C8B-B14F-4D97-AF65-F5344CB8AC3E}">
        <p14:creationId xmlns:p14="http://schemas.microsoft.com/office/powerpoint/2010/main" val="42471956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6e03725c7d_0_3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127</a:t>
            </a:fld>
            <a:endParaRPr/>
          </a:p>
        </p:txBody>
      </p:sp>
      <p:pic>
        <p:nvPicPr>
          <p:cNvPr id="889" name="Google Shape;889;g26e03725c7d_0_35"/>
          <p:cNvPicPr preferRelativeResize="0"/>
          <p:nvPr/>
        </p:nvPicPr>
        <p:blipFill rotWithShape="1">
          <a:blip r:embed="rId3">
            <a:alphaModFix/>
          </a:blip>
          <a:srcRect/>
          <a:stretch/>
        </p:blipFill>
        <p:spPr>
          <a:xfrm>
            <a:off x="1042988" y="733425"/>
            <a:ext cx="10106025" cy="5391150"/>
          </a:xfrm>
          <a:prstGeom prst="rect">
            <a:avLst/>
          </a:prstGeom>
          <a:noFill/>
          <a:ln>
            <a:noFill/>
          </a:ln>
        </p:spPr>
      </p:pic>
    </p:spTree>
    <p:extLst>
      <p:ext uri="{BB962C8B-B14F-4D97-AF65-F5344CB8AC3E}">
        <p14:creationId xmlns:p14="http://schemas.microsoft.com/office/powerpoint/2010/main" val="376262727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e03725c7d_0_4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128</a:t>
            </a:fld>
            <a:endParaRPr/>
          </a:p>
        </p:txBody>
      </p:sp>
      <p:pic>
        <p:nvPicPr>
          <p:cNvPr id="896" name="Google Shape;896;g26e03725c7d_0_42"/>
          <p:cNvPicPr preferRelativeResize="0"/>
          <p:nvPr/>
        </p:nvPicPr>
        <p:blipFill rotWithShape="1">
          <a:blip r:embed="rId3">
            <a:alphaModFix/>
          </a:blip>
          <a:srcRect/>
          <a:stretch/>
        </p:blipFill>
        <p:spPr>
          <a:xfrm>
            <a:off x="953138" y="706425"/>
            <a:ext cx="10106025" cy="5305425"/>
          </a:xfrm>
          <a:prstGeom prst="rect">
            <a:avLst/>
          </a:prstGeom>
          <a:noFill/>
          <a:ln>
            <a:noFill/>
          </a:ln>
        </p:spPr>
      </p:pic>
    </p:spTree>
    <p:extLst>
      <p:ext uri="{BB962C8B-B14F-4D97-AF65-F5344CB8AC3E}">
        <p14:creationId xmlns:p14="http://schemas.microsoft.com/office/powerpoint/2010/main" val="112096610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6e03725c7d_0_4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129</a:t>
            </a:fld>
            <a:endParaRPr/>
          </a:p>
        </p:txBody>
      </p:sp>
      <p:pic>
        <p:nvPicPr>
          <p:cNvPr id="903" name="Google Shape;903;g26e03725c7d_0_48"/>
          <p:cNvPicPr preferRelativeResize="0"/>
          <p:nvPr/>
        </p:nvPicPr>
        <p:blipFill rotWithShape="1">
          <a:blip r:embed="rId3">
            <a:alphaModFix/>
          </a:blip>
          <a:srcRect/>
          <a:stretch/>
        </p:blipFill>
        <p:spPr>
          <a:xfrm>
            <a:off x="1042988" y="733425"/>
            <a:ext cx="10106025" cy="5391150"/>
          </a:xfrm>
          <a:prstGeom prst="rect">
            <a:avLst/>
          </a:prstGeom>
          <a:noFill/>
          <a:ln>
            <a:noFill/>
          </a:ln>
        </p:spPr>
      </p:pic>
    </p:spTree>
    <p:extLst>
      <p:ext uri="{BB962C8B-B14F-4D97-AF65-F5344CB8AC3E}">
        <p14:creationId xmlns:p14="http://schemas.microsoft.com/office/powerpoint/2010/main" val="4200281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e03725c7d_0_5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130</a:t>
            </a:fld>
            <a:endParaRPr/>
          </a:p>
        </p:txBody>
      </p:sp>
      <p:pic>
        <p:nvPicPr>
          <p:cNvPr id="910" name="Google Shape;910;g26e03725c7d_0_54"/>
          <p:cNvPicPr preferRelativeResize="0"/>
          <p:nvPr/>
        </p:nvPicPr>
        <p:blipFill rotWithShape="1">
          <a:blip r:embed="rId3">
            <a:alphaModFix/>
          </a:blip>
          <a:srcRect/>
          <a:stretch/>
        </p:blipFill>
        <p:spPr>
          <a:xfrm>
            <a:off x="1113075" y="762000"/>
            <a:ext cx="10115550" cy="5334000"/>
          </a:xfrm>
          <a:prstGeom prst="rect">
            <a:avLst/>
          </a:prstGeom>
          <a:noFill/>
          <a:ln>
            <a:noFill/>
          </a:ln>
        </p:spPr>
      </p:pic>
    </p:spTree>
    <p:extLst>
      <p:ext uri="{BB962C8B-B14F-4D97-AF65-F5344CB8AC3E}">
        <p14:creationId xmlns:p14="http://schemas.microsoft.com/office/powerpoint/2010/main" val="46335052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6e03725c7d_0_6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131</a:t>
            </a:fld>
            <a:endParaRPr/>
          </a:p>
        </p:txBody>
      </p:sp>
      <p:pic>
        <p:nvPicPr>
          <p:cNvPr id="917" name="Google Shape;917;g26e03725c7d_0_60"/>
          <p:cNvPicPr preferRelativeResize="0"/>
          <p:nvPr/>
        </p:nvPicPr>
        <p:blipFill rotWithShape="1">
          <a:blip r:embed="rId3">
            <a:alphaModFix/>
          </a:blip>
          <a:srcRect/>
          <a:stretch/>
        </p:blipFill>
        <p:spPr>
          <a:xfrm>
            <a:off x="1062025" y="852488"/>
            <a:ext cx="10067925" cy="5153025"/>
          </a:xfrm>
          <a:prstGeom prst="rect">
            <a:avLst/>
          </a:prstGeom>
          <a:noFill/>
          <a:ln>
            <a:noFill/>
          </a:ln>
        </p:spPr>
      </p:pic>
    </p:spTree>
    <p:extLst>
      <p:ext uri="{BB962C8B-B14F-4D97-AF65-F5344CB8AC3E}">
        <p14:creationId xmlns:p14="http://schemas.microsoft.com/office/powerpoint/2010/main" val="73225949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e03725c7d_0_66"/>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132</a:t>
            </a:fld>
            <a:endParaRPr/>
          </a:p>
        </p:txBody>
      </p:sp>
      <p:pic>
        <p:nvPicPr>
          <p:cNvPr id="924" name="Google Shape;924;g26e03725c7d_0_66"/>
          <p:cNvPicPr preferRelativeResize="0"/>
          <p:nvPr/>
        </p:nvPicPr>
        <p:blipFill rotWithShape="1">
          <a:blip r:embed="rId3">
            <a:alphaModFix/>
          </a:blip>
          <a:srcRect/>
          <a:stretch/>
        </p:blipFill>
        <p:spPr>
          <a:xfrm>
            <a:off x="1042988" y="752475"/>
            <a:ext cx="10106025" cy="5353050"/>
          </a:xfrm>
          <a:prstGeom prst="rect">
            <a:avLst/>
          </a:prstGeom>
          <a:noFill/>
          <a:ln>
            <a:noFill/>
          </a:ln>
        </p:spPr>
      </p:pic>
    </p:spTree>
    <p:extLst>
      <p:ext uri="{BB962C8B-B14F-4D97-AF65-F5344CB8AC3E}">
        <p14:creationId xmlns:p14="http://schemas.microsoft.com/office/powerpoint/2010/main" val="179640470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6e03725c7d_0_72"/>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133</a:t>
            </a:fld>
            <a:endParaRPr/>
          </a:p>
        </p:txBody>
      </p:sp>
      <p:pic>
        <p:nvPicPr>
          <p:cNvPr id="931" name="Google Shape;931;g26e03725c7d_0_72"/>
          <p:cNvPicPr preferRelativeResize="0"/>
          <p:nvPr/>
        </p:nvPicPr>
        <p:blipFill rotWithShape="1">
          <a:blip r:embed="rId3">
            <a:alphaModFix/>
          </a:blip>
          <a:srcRect/>
          <a:stretch/>
        </p:blipFill>
        <p:spPr>
          <a:xfrm>
            <a:off x="1028700" y="742950"/>
            <a:ext cx="10134600" cy="5372100"/>
          </a:xfrm>
          <a:prstGeom prst="rect">
            <a:avLst/>
          </a:prstGeom>
          <a:noFill/>
          <a:ln>
            <a:noFill/>
          </a:ln>
        </p:spPr>
      </p:pic>
    </p:spTree>
    <p:extLst>
      <p:ext uri="{BB962C8B-B14F-4D97-AF65-F5344CB8AC3E}">
        <p14:creationId xmlns:p14="http://schemas.microsoft.com/office/powerpoint/2010/main" val="43523066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6e03725c7d_0_78"/>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134</a:t>
            </a:fld>
            <a:endParaRPr/>
          </a:p>
        </p:txBody>
      </p:sp>
      <p:pic>
        <p:nvPicPr>
          <p:cNvPr id="938" name="Google Shape;938;g26e03725c7d_0_78"/>
          <p:cNvPicPr preferRelativeResize="0"/>
          <p:nvPr/>
        </p:nvPicPr>
        <p:blipFill rotWithShape="1">
          <a:blip r:embed="rId3">
            <a:alphaModFix/>
          </a:blip>
          <a:srcRect/>
          <a:stretch/>
        </p:blipFill>
        <p:spPr>
          <a:xfrm>
            <a:off x="1033463" y="719125"/>
            <a:ext cx="10125075" cy="5419725"/>
          </a:xfrm>
          <a:prstGeom prst="rect">
            <a:avLst/>
          </a:prstGeom>
          <a:noFill/>
          <a:ln>
            <a:noFill/>
          </a:ln>
        </p:spPr>
      </p:pic>
    </p:spTree>
    <p:extLst>
      <p:ext uri="{BB962C8B-B14F-4D97-AF65-F5344CB8AC3E}">
        <p14:creationId xmlns:p14="http://schemas.microsoft.com/office/powerpoint/2010/main" val="237683022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6e03725c7d_0_84"/>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135</a:t>
            </a:fld>
            <a:endParaRPr/>
          </a:p>
        </p:txBody>
      </p:sp>
      <p:pic>
        <p:nvPicPr>
          <p:cNvPr id="945" name="Google Shape;945;g26e03725c7d_0_84"/>
          <p:cNvPicPr preferRelativeResize="0"/>
          <p:nvPr/>
        </p:nvPicPr>
        <p:blipFill rotWithShape="1">
          <a:blip r:embed="rId3">
            <a:alphaModFix/>
          </a:blip>
          <a:srcRect/>
          <a:stretch/>
        </p:blipFill>
        <p:spPr>
          <a:xfrm>
            <a:off x="1033463" y="776275"/>
            <a:ext cx="10125075" cy="5305425"/>
          </a:xfrm>
          <a:prstGeom prst="rect">
            <a:avLst/>
          </a:prstGeom>
          <a:noFill/>
          <a:ln>
            <a:noFill/>
          </a:ln>
        </p:spPr>
      </p:pic>
    </p:spTree>
    <p:extLst>
      <p:ext uri="{BB962C8B-B14F-4D97-AF65-F5344CB8AC3E}">
        <p14:creationId xmlns:p14="http://schemas.microsoft.com/office/powerpoint/2010/main" val="372636220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6e03725c7d_0_10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136</a:t>
            </a:fld>
            <a:endParaRPr/>
          </a:p>
        </p:txBody>
      </p:sp>
      <p:pic>
        <p:nvPicPr>
          <p:cNvPr id="952" name="Google Shape;952;g26e03725c7d_0_105"/>
          <p:cNvPicPr preferRelativeResize="0"/>
          <p:nvPr/>
        </p:nvPicPr>
        <p:blipFill rotWithShape="1">
          <a:blip r:embed="rId3">
            <a:alphaModFix/>
          </a:blip>
          <a:srcRect/>
          <a:stretch/>
        </p:blipFill>
        <p:spPr>
          <a:xfrm>
            <a:off x="978287" y="759100"/>
            <a:ext cx="10235426" cy="5339800"/>
          </a:xfrm>
          <a:prstGeom prst="rect">
            <a:avLst/>
          </a:prstGeom>
          <a:noFill/>
          <a:ln>
            <a:noFill/>
          </a:ln>
        </p:spPr>
      </p:pic>
      <p:sp>
        <p:nvSpPr>
          <p:cNvPr id="953" name="Google Shape;953;g26e03725c7d_0_105"/>
          <p:cNvSpPr txBox="1">
            <a:spLocks noGrp="1"/>
          </p:cNvSpPr>
          <p:nvPr>
            <p:ph type="title"/>
          </p:nvPr>
        </p:nvSpPr>
        <p:spPr>
          <a:xfrm>
            <a:off x="2231136" y="964692"/>
            <a:ext cx="7729800" cy="1188600"/>
          </a:xfrm>
          <a:prstGeom prst="rect">
            <a:avLst/>
          </a:prstGeom>
        </p:spPr>
        <p:txBody>
          <a:bodyPr spcFirstLastPara="1" wrap="square" lIns="182875" tIns="182875" rIns="182875" bIns="182875" anchor="ctr" anchorCtr="0">
            <a:normAutofit/>
          </a:bodyPr>
          <a:lstStyle/>
          <a:p>
            <a:pPr marL="0" lvl="0" indent="0" algn="ctr" rtl="0">
              <a:spcBef>
                <a:spcPts val="0"/>
              </a:spcBef>
              <a:spcAft>
                <a:spcPts val="0"/>
              </a:spcAft>
              <a:buNone/>
            </a:pPr>
            <a:endParaRPr/>
          </a:p>
        </p:txBody>
      </p:sp>
      <p:sp>
        <p:nvSpPr>
          <p:cNvPr id="954" name="Google Shape;954;g26e03725c7d_0_105"/>
          <p:cNvSpPr txBox="1">
            <a:spLocks noGrp="1"/>
          </p:cNvSpPr>
          <p:nvPr>
            <p:ph type="body" idx="1"/>
          </p:nvPr>
        </p:nvSpPr>
        <p:spPr>
          <a:xfrm>
            <a:off x="2231136" y="2638044"/>
            <a:ext cx="7729800" cy="3102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extLst>
      <p:ext uri="{BB962C8B-B14F-4D97-AF65-F5344CB8AC3E}">
        <p14:creationId xmlns:p14="http://schemas.microsoft.com/office/powerpoint/2010/main" val="2168629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6e03725c7d_0_11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137</a:t>
            </a:fld>
            <a:endParaRPr/>
          </a:p>
        </p:txBody>
      </p:sp>
      <p:pic>
        <p:nvPicPr>
          <p:cNvPr id="961" name="Google Shape;961;g26e03725c7d_0_113"/>
          <p:cNvPicPr preferRelativeResize="0"/>
          <p:nvPr/>
        </p:nvPicPr>
        <p:blipFill rotWithShape="1">
          <a:blip r:embed="rId3">
            <a:alphaModFix/>
          </a:blip>
          <a:srcRect/>
          <a:stretch/>
        </p:blipFill>
        <p:spPr>
          <a:xfrm>
            <a:off x="1038225" y="862013"/>
            <a:ext cx="10115550" cy="5133975"/>
          </a:xfrm>
          <a:prstGeom prst="rect">
            <a:avLst/>
          </a:prstGeom>
          <a:noFill/>
          <a:ln>
            <a:noFill/>
          </a:ln>
        </p:spPr>
      </p:pic>
    </p:spTree>
    <p:extLst>
      <p:ext uri="{BB962C8B-B14F-4D97-AF65-F5344CB8AC3E}">
        <p14:creationId xmlns:p14="http://schemas.microsoft.com/office/powerpoint/2010/main" val="109049943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6e03725c7d_0_12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138</a:t>
            </a:fld>
            <a:endParaRPr/>
          </a:p>
        </p:txBody>
      </p:sp>
      <p:pic>
        <p:nvPicPr>
          <p:cNvPr id="968" name="Google Shape;968;g26e03725c7d_0_121"/>
          <p:cNvPicPr preferRelativeResize="0"/>
          <p:nvPr/>
        </p:nvPicPr>
        <p:blipFill rotWithShape="1">
          <a:blip r:embed="rId3">
            <a:alphaModFix/>
          </a:blip>
          <a:srcRect/>
          <a:stretch/>
        </p:blipFill>
        <p:spPr>
          <a:xfrm>
            <a:off x="1028700" y="842963"/>
            <a:ext cx="10134600" cy="5172075"/>
          </a:xfrm>
          <a:prstGeom prst="rect">
            <a:avLst/>
          </a:prstGeom>
          <a:noFill/>
          <a:ln>
            <a:noFill/>
          </a:ln>
        </p:spPr>
      </p:pic>
    </p:spTree>
    <p:extLst>
      <p:ext uri="{BB962C8B-B14F-4D97-AF65-F5344CB8AC3E}">
        <p14:creationId xmlns:p14="http://schemas.microsoft.com/office/powerpoint/2010/main" val="23464856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6e03725c7d_0_127"/>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139</a:t>
            </a:fld>
            <a:endParaRPr/>
          </a:p>
        </p:txBody>
      </p:sp>
      <p:pic>
        <p:nvPicPr>
          <p:cNvPr id="975" name="Google Shape;975;g26e03725c7d_0_127"/>
          <p:cNvPicPr preferRelativeResize="0"/>
          <p:nvPr/>
        </p:nvPicPr>
        <p:blipFill rotWithShape="1">
          <a:blip r:embed="rId3">
            <a:alphaModFix/>
          </a:blip>
          <a:srcRect/>
          <a:stretch/>
        </p:blipFill>
        <p:spPr>
          <a:xfrm>
            <a:off x="1033463" y="714375"/>
            <a:ext cx="10125075" cy="5429250"/>
          </a:xfrm>
          <a:prstGeom prst="rect">
            <a:avLst/>
          </a:prstGeom>
          <a:noFill/>
          <a:ln>
            <a:noFill/>
          </a:ln>
        </p:spPr>
      </p:pic>
    </p:spTree>
    <p:extLst>
      <p:ext uri="{BB962C8B-B14F-4D97-AF65-F5344CB8AC3E}">
        <p14:creationId xmlns:p14="http://schemas.microsoft.com/office/powerpoint/2010/main" val="23417952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6e03725c7d_0_133"/>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140</a:t>
            </a:fld>
            <a:endParaRPr/>
          </a:p>
        </p:txBody>
      </p:sp>
      <p:pic>
        <p:nvPicPr>
          <p:cNvPr id="982" name="Google Shape;982;g26e03725c7d_0_133"/>
          <p:cNvPicPr preferRelativeResize="0"/>
          <p:nvPr/>
        </p:nvPicPr>
        <p:blipFill rotWithShape="1">
          <a:blip r:embed="rId3">
            <a:alphaModFix/>
          </a:blip>
          <a:srcRect/>
          <a:stretch/>
        </p:blipFill>
        <p:spPr>
          <a:xfrm>
            <a:off x="1019175" y="914400"/>
            <a:ext cx="10153650" cy="5029200"/>
          </a:xfrm>
          <a:prstGeom prst="rect">
            <a:avLst/>
          </a:prstGeom>
          <a:noFill/>
          <a:ln>
            <a:noFill/>
          </a:ln>
        </p:spPr>
      </p:pic>
    </p:spTree>
    <p:extLst>
      <p:ext uri="{BB962C8B-B14F-4D97-AF65-F5344CB8AC3E}">
        <p14:creationId xmlns:p14="http://schemas.microsoft.com/office/powerpoint/2010/main" val="21177659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6e03725c7d_0_139"/>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141</a:t>
            </a:fld>
            <a:endParaRPr/>
          </a:p>
        </p:txBody>
      </p:sp>
      <p:pic>
        <p:nvPicPr>
          <p:cNvPr id="989" name="Google Shape;989;g26e03725c7d_0_139"/>
          <p:cNvPicPr preferRelativeResize="0"/>
          <p:nvPr/>
        </p:nvPicPr>
        <p:blipFill rotWithShape="1">
          <a:blip r:embed="rId3">
            <a:alphaModFix/>
          </a:blip>
          <a:srcRect/>
          <a:stretch/>
        </p:blipFill>
        <p:spPr>
          <a:xfrm>
            <a:off x="1033463" y="1042975"/>
            <a:ext cx="10125075" cy="4772025"/>
          </a:xfrm>
          <a:prstGeom prst="rect">
            <a:avLst/>
          </a:prstGeom>
          <a:noFill/>
          <a:ln>
            <a:noFill/>
          </a:ln>
        </p:spPr>
      </p:pic>
    </p:spTree>
    <p:extLst>
      <p:ext uri="{BB962C8B-B14F-4D97-AF65-F5344CB8AC3E}">
        <p14:creationId xmlns:p14="http://schemas.microsoft.com/office/powerpoint/2010/main" val="36525776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6e03725c7d_0_145"/>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142</a:t>
            </a:fld>
            <a:endParaRPr/>
          </a:p>
        </p:txBody>
      </p:sp>
      <p:pic>
        <p:nvPicPr>
          <p:cNvPr id="996" name="Google Shape;996;g26e03725c7d_0_145"/>
          <p:cNvPicPr preferRelativeResize="0"/>
          <p:nvPr/>
        </p:nvPicPr>
        <p:blipFill rotWithShape="1">
          <a:blip r:embed="rId3">
            <a:alphaModFix/>
          </a:blip>
          <a:srcRect/>
          <a:stretch/>
        </p:blipFill>
        <p:spPr>
          <a:xfrm>
            <a:off x="1019175" y="823900"/>
            <a:ext cx="10153650" cy="5210175"/>
          </a:xfrm>
          <a:prstGeom prst="rect">
            <a:avLst/>
          </a:prstGeom>
          <a:noFill/>
          <a:ln>
            <a:noFill/>
          </a:ln>
        </p:spPr>
      </p:pic>
    </p:spTree>
    <p:extLst>
      <p:ext uri="{BB962C8B-B14F-4D97-AF65-F5344CB8AC3E}">
        <p14:creationId xmlns:p14="http://schemas.microsoft.com/office/powerpoint/2010/main" val="145684445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6e03725c7d_0_151"/>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143</a:t>
            </a:fld>
            <a:endParaRPr/>
          </a:p>
        </p:txBody>
      </p:sp>
      <p:pic>
        <p:nvPicPr>
          <p:cNvPr id="1003" name="Google Shape;1003;g26e03725c7d_0_151"/>
          <p:cNvPicPr preferRelativeResize="0"/>
          <p:nvPr/>
        </p:nvPicPr>
        <p:blipFill rotWithShape="1">
          <a:blip r:embed="rId3">
            <a:alphaModFix/>
          </a:blip>
          <a:srcRect/>
          <a:stretch/>
        </p:blipFill>
        <p:spPr>
          <a:xfrm>
            <a:off x="1033463" y="766763"/>
            <a:ext cx="10125075" cy="5324475"/>
          </a:xfrm>
          <a:prstGeom prst="rect">
            <a:avLst/>
          </a:prstGeom>
          <a:noFill/>
          <a:ln>
            <a:noFill/>
          </a:ln>
        </p:spPr>
      </p:pic>
    </p:spTree>
    <p:extLst>
      <p:ext uri="{BB962C8B-B14F-4D97-AF65-F5344CB8AC3E}">
        <p14:creationId xmlns:p14="http://schemas.microsoft.com/office/powerpoint/2010/main" val="352716741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6e03725c7d_0_157"/>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lnSpc>
                <a:spcPct val="100000"/>
              </a:lnSpc>
              <a:spcBef>
                <a:spcPts val="0"/>
              </a:spcBef>
              <a:spcAft>
                <a:spcPts val="0"/>
              </a:spcAft>
              <a:buClr>
                <a:srgbClr val="000000"/>
              </a:buClr>
              <a:buSzPts val="1100"/>
              <a:buFont typeface="Arial"/>
              <a:buNone/>
            </a:pPr>
            <a:fld id="{00000000-1234-1234-1234-123412341234}" type="slidenum">
              <a:rPr lang="en-US"/>
              <a:t>144</a:t>
            </a:fld>
            <a:endParaRPr/>
          </a:p>
        </p:txBody>
      </p:sp>
      <p:pic>
        <p:nvPicPr>
          <p:cNvPr id="1010" name="Google Shape;1010;g26e03725c7d_0_157"/>
          <p:cNvPicPr preferRelativeResize="0"/>
          <p:nvPr/>
        </p:nvPicPr>
        <p:blipFill rotWithShape="1">
          <a:blip r:embed="rId3">
            <a:alphaModFix/>
          </a:blip>
          <a:srcRect/>
          <a:stretch/>
        </p:blipFill>
        <p:spPr>
          <a:xfrm>
            <a:off x="1042988" y="966788"/>
            <a:ext cx="10106025" cy="4924425"/>
          </a:xfrm>
          <a:prstGeom prst="rect">
            <a:avLst/>
          </a:prstGeom>
          <a:noFill/>
          <a:ln>
            <a:noFill/>
          </a:ln>
        </p:spPr>
      </p:pic>
    </p:spTree>
    <p:extLst>
      <p:ext uri="{BB962C8B-B14F-4D97-AF65-F5344CB8AC3E}">
        <p14:creationId xmlns:p14="http://schemas.microsoft.com/office/powerpoint/2010/main" val="275874600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6e03725c7d_0_0"/>
          <p:cNvSpPr>
            <a:spLocks noGrp="1"/>
          </p:cNvSpPr>
          <p:nvPr>
            <p:ph type="sldNum" idx="12"/>
          </p:nvPr>
        </p:nvSpPr>
        <p:spPr>
          <a:xfrm>
            <a:off x="10758922" y="6217920"/>
            <a:ext cx="365700" cy="365700"/>
          </a:xfrm>
          <a:prstGeom prst="ellipse">
            <a:avLst/>
          </a:prstGeom>
          <a:solidFill>
            <a:srgbClr val="1D1D1D">
              <a:alpha val="69019"/>
            </a:srgbClr>
          </a:solidFill>
          <a:ln>
            <a:noFill/>
          </a:ln>
        </p:spPr>
        <p:txBody>
          <a:bodyPr spcFirstLastPara="1" wrap="square" lIns="18275" tIns="45700" rIns="18275" bIns="45700" anchor="ctr" anchorCtr="0">
            <a:noAutofit/>
          </a:bodyPr>
          <a:lstStyle/>
          <a:p>
            <a:pPr marL="0" lvl="0" indent="0" algn="ctr" rtl="0">
              <a:spcBef>
                <a:spcPts val="0"/>
              </a:spcBef>
              <a:spcAft>
                <a:spcPts val="0"/>
              </a:spcAft>
              <a:buNone/>
            </a:pPr>
            <a:fld id="{00000000-1234-1234-1234-123412341234}" type="slidenum">
              <a:rPr lang="en-US"/>
              <a:t>145</a:t>
            </a:fld>
            <a:endParaRPr/>
          </a:p>
        </p:txBody>
      </p:sp>
      <p:graphicFrame>
        <p:nvGraphicFramePr>
          <p:cNvPr id="1017" name="Google Shape;1017;g26e03725c7d_0_0"/>
          <p:cNvGraphicFramePr/>
          <p:nvPr/>
        </p:nvGraphicFramePr>
        <p:xfrm>
          <a:off x="3277775" y="639950"/>
          <a:ext cx="6084225" cy="5729478"/>
        </p:xfrm>
        <a:graphic>
          <a:graphicData uri="http://schemas.openxmlformats.org/drawingml/2006/table">
            <a:tbl>
              <a:tblPr>
                <a:solidFill>
                  <a:srgbClr val="FFFFFF"/>
                </a:solidFill>
              </a:tblPr>
              <a:tblGrid>
                <a:gridCol w="1244275"/>
                <a:gridCol w="1009150"/>
                <a:gridCol w="969950"/>
                <a:gridCol w="1058125"/>
                <a:gridCol w="1802725"/>
              </a:tblGrid>
              <a:tr h="288400">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Algorithm</a:t>
                      </a:r>
                      <a:endParaRPr sz="1400" b="1" u="none" strike="noStrike" cap="none">
                        <a:solidFill>
                          <a:srgbClr val="273239"/>
                        </a:solidFill>
                        <a:highlight>
                          <a:srgbClr val="FFFFFF"/>
                        </a:highlight>
                        <a:latin typeface="Nunito"/>
                        <a:ea typeface="Nunito"/>
                        <a:cs typeface="Nunito"/>
                        <a:sym typeface="Nunito"/>
                      </a:endParaRPr>
                    </a:p>
                  </a:txBody>
                  <a:tcPr marL="38100" marR="3810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gridSpan="3">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Time Complexity</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Space Complexity</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258475">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 </a:t>
                      </a:r>
                      <a:endParaRPr sz="1400" b="1" u="none" strike="noStrike" cap="none">
                        <a:solidFill>
                          <a:srgbClr val="273239"/>
                        </a:solidFill>
                        <a:highlight>
                          <a:srgbClr val="FFFFFF"/>
                        </a:highlight>
                        <a:latin typeface="Nunito"/>
                        <a:ea typeface="Nunito"/>
                        <a:cs typeface="Nunito"/>
                        <a:sym typeface="Nunito"/>
                      </a:endParaRPr>
                    </a:p>
                  </a:txBody>
                  <a:tcPr marL="38100" marR="3810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  Best</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Average</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Worst</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rgbClr val="273239"/>
                          </a:solidFill>
                          <a:highlight>
                            <a:srgbClr val="FFFFFF"/>
                          </a:highlight>
                          <a:latin typeface="Nunito"/>
                          <a:ea typeface="Nunito"/>
                          <a:cs typeface="Nunito"/>
                          <a:sym typeface="Nunito"/>
                        </a:rPr>
                        <a:t>Worst</a:t>
                      </a:r>
                      <a:endParaRPr sz="1400" b="1" u="none" strike="noStrike" cap="none">
                        <a:solidFill>
                          <a:srgbClr val="273239"/>
                        </a:solidFill>
                        <a:highlight>
                          <a:srgbClr val="FFFFFF"/>
                        </a:highlight>
                        <a:latin typeface="Nunito"/>
                        <a:ea typeface="Nunito"/>
                        <a:cs typeface="Nunito"/>
                        <a:sym typeface="Nunito"/>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3"/>
                        </a:rPr>
                        <a:t>Selection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O(1)</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4"/>
                        </a:rPr>
                        <a:t>Bubble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O(1)</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5"/>
                        </a:rPr>
                        <a:t>Insertion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O(1)</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6"/>
                        </a:rPr>
                        <a:t>Heap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O(1)</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7"/>
                        </a:rPr>
                        <a:t>Quick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8"/>
                        </a:rPr>
                        <a:t>Merge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9"/>
                        </a:rPr>
                        <a:t>Bucket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 +k)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 +k)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10"/>
                        </a:rPr>
                        <a:t>Radix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 + 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11"/>
                        </a:rPr>
                        <a:t>Count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 +k)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 +k)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 +k)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O(k)</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r h="362850">
                <a:tc>
                  <a:txBody>
                    <a:bodyPr/>
                    <a:lstStyle/>
                    <a:p>
                      <a:pPr marL="0" marR="0" lvl="0" indent="0" algn="l" rtl="0">
                        <a:lnSpc>
                          <a:spcPct val="115000"/>
                        </a:lnSpc>
                        <a:spcBef>
                          <a:spcPts val="0"/>
                        </a:spcBef>
                        <a:spcAft>
                          <a:spcPts val="0"/>
                        </a:spcAft>
                        <a:buClr>
                          <a:srgbClr val="000000"/>
                        </a:buClr>
                        <a:buSzPts val="1250"/>
                        <a:buFont typeface="Arial"/>
                        <a:buNone/>
                      </a:pPr>
                      <a:r>
                        <a:rPr lang="en-US" sz="1250" u="sng" strike="noStrike" cap="none">
                          <a:solidFill>
                            <a:schemeClr val="hlink"/>
                          </a:solidFill>
                          <a:highlight>
                            <a:srgbClr val="FFFFFF"/>
                          </a:highlight>
                          <a:latin typeface="Nunito"/>
                          <a:ea typeface="Nunito"/>
                          <a:cs typeface="Nunito"/>
                          <a:sym typeface="Nunito"/>
                          <a:hlinkClick r:id="rId12"/>
                        </a:rPr>
                        <a:t>Shell Sort</a:t>
                      </a:r>
                      <a:endParaRPr sz="1250" u="sng" strike="noStrike" cap="none">
                        <a:solidFill>
                          <a:schemeClr val="hlink"/>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Ω(n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θ(n log(n))</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O(n^2)</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50"/>
                        <a:buFont typeface="Arial"/>
                        <a:buNone/>
                      </a:pPr>
                      <a:r>
                        <a:rPr lang="en-US" sz="1250" u="none" strike="noStrike" cap="none">
                          <a:solidFill>
                            <a:srgbClr val="273239"/>
                          </a:solidFill>
                          <a:highlight>
                            <a:srgbClr val="FFFFFF"/>
                          </a:highlight>
                          <a:latin typeface="Nunito"/>
                          <a:ea typeface="Nunito"/>
                          <a:cs typeface="Nunito"/>
                          <a:sym typeface="Nunito"/>
                        </a:rPr>
                        <a:t>O(1)</a:t>
                      </a:r>
                      <a:endParaRPr sz="1250" u="none" strike="noStrike" cap="none">
                        <a:solidFill>
                          <a:srgbClr val="273239"/>
                        </a:solidFill>
                        <a:highlight>
                          <a:srgbClr val="FFFFFF"/>
                        </a:highlight>
                        <a:latin typeface="Nunito"/>
                        <a:ea typeface="Nunito"/>
                        <a:cs typeface="Nunito"/>
                        <a:sym typeface="Nunito"/>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99598359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7091</Words>
  <Application>Microsoft Office PowerPoint</Application>
  <PresentationFormat>Custom</PresentationFormat>
  <Paragraphs>1110</Paragraphs>
  <Slides>145</Slides>
  <Notes>145</Notes>
  <HiddenSlides>0</HiddenSlides>
  <MMClips>0</MMClips>
  <ScaleCrop>false</ScaleCrop>
  <HeadingPairs>
    <vt:vector size="4" baseType="variant">
      <vt:variant>
        <vt:lpstr>Theme</vt:lpstr>
      </vt:variant>
      <vt:variant>
        <vt:i4>2</vt:i4>
      </vt:variant>
      <vt:variant>
        <vt:lpstr>Slide Titles</vt:lpstr>
      </vt:variant>
      <vt:variant>
        <vt:i4>145</vt:i4>
      </vt:variant>
    </vt:vector>
  </HeadingPairs>
  <TitlesOfParts>
    <vt:vector size="147" baseType="lpstr">
      <vt:lpstr>Parcel</vt:lpstr>
      <vt:lpstr>Parcel</vt:lpstr>
      <vt:lpstr>1010043316 Analysis and Design of Algorithms Unit 1: Basics of Algorithms, Mathematics and Analysis of Algorithm</vt:lpstr>
      <vt:lpstr>TOPICS </vt:lpstr>
      <vt:lpstr>What is an algorithm?</vt:lpstr>
      <vt:lpstr>Properties of algorithms</vt:lpstr>
      <vt:lpstr>Problems &amp; Instance</vt:lpstr>
      <vt:lpstr>Efficiency of Algorithms</vt:lpstr>
      <vt:lpstr> Empirical Approach</vt:lpstr>
      <vt:lpstr>Theoretical Approach</vt:lpstr>
      <vt:lpstr>Principle of Invariance</vt:lpstr>
      <vt:lpstr>Common time complexities</vt:lpstr>
      <vt:lpstr>The Growth Rate of the Six  Popular  functions</vt:lpstr>
      <vt:lpstr>Average, Best and Worst Case</vt:lpstr>
      <vt:lpstr>Set</vt:lpstr>
      <vt:lpstr>What are the types of Sets?</vt:lpstr>
      <vt:lpstr>What are the types of Sets?</vt:lpstr>
      <vt:lpstr>Formulas For Sets</vt:lpstr>
      <vt:lpstr>Power set</vt:lpstr>
      <vt:lpstr>Cartesian product of Sets</vt:lpstr>
      <vt:lpstr>Properties of Cartesian Product</vt:lpstr>
      <vt:lpstr>Relation</vt:lpstr>
      <vt:lpstr>Domain , Range &amp; Codomain</vt:lpstr>
      <vt:lpstr>Types of Relation</vt:lpstr>
      <vt:lpstr>Function</vt:lpstr>
      <vt:lpstr>Types of Function</vt:lpstr>
      <vt:lpstr>VECTORS</vt:lpstr>
      <vt:lpstr>MATRICES</vt:lpstr>
      <vt:lpstr>Types Matrices</vt:lpstr>
      <vt:lpstr>Operation on Matrices</vt:lpstr>
      <vt:lpstr>Operation on Matrices</vt:lpstr>
      <vt:lpstr>Linear Inequalities and Linear Equations</vt:lpstr>
      <vt:lpstr>Linear Inequalities and Linear Equations</vt:lpstr>
      <vt:lpstr>PowerPoint Presentation</vt:lpstr>
      <vt:lpstr>PERFORMANCE ANALYSIS</vt:lpstr>
      <vt:lpstr>PERFORMANCE ANALYSIS</vt:lpstr>
      <vt:lpstr>SPACE COMPLEXITY</vt:lpstr>
      <vt:lpstr>COMPONENTS OF SPACE COMPLEXITY</vt:lpstr>
      <vt:lpstr>COMPONENTS OF SPACE COMPLEXITY</vt:lpstr>
      <vt:lpstr>SPACE COMPLEXITY</vt:lpstr>
      <vt:lpstr>SPACE COMPLEXITY: EXAMPLE 1</vt:lpstr>
      <vt:lpstr>SPACE COMPLEXITY: EXAMPLE 2</vt:lpstr>
      <vt:lpstr>SPACE COMPLEXITY: EXAMPLE 3</vt:lpstr>
      <vt:lpstr>SPACE COMPLEXITY: EXAMPLE 4</vt:lpstr>
      <vt:lpstr>TIME COMPLEXITY</vt:lpstr>
      <vt:lpstr>TIME COMPLEXITY</vt:lpstr>
      <vt:lpstr>OPERATION COUNT : EXAMPLE 1</vt:lpstr>
      <vt:lpstr>OPERATION COUNT : EXAMPLE 2</vt:lpstr>
      <vt:lpstr>STEP COUNT</vt:lpstr>
      <vt:lpstr>STEP COUNT : EXAMPLE 1</vt:lpstr>
      <vt:lpstr>STEP COUNT : EXAMPLE 2</vt:lpstr>
      <vt:lpstr>STEP COUNT : EXAMPLE 3</vt:lpstr>
      <vt:lpstr>STEP COUNT : EXAMPLE 4</vt:lpstr>
      <vt:lpstr>OBSERVATION WITH STEP COUNT</vt:lpstr>
      <vt:lpstr>GROWTH OF FUNCTIONS</vt:lpstr>
      <vt:lpstr>BIG – O NOTATION</vt:lpstr>
      <vt:lpstr>BIG – O NOTATION</vt:lpstr>
      <vt:lpstr>BIG – O EXAMPLES</vt:lpstr>
      <vt:lpstr>BIG – O EXAMPLES –  INCORRECT BOUND</vt:lpstr>
      <vt:lpstr>BIG – Ω NOTATION</vt:lpstr>
      <vt:lpstr>BIG – Ω NOTATION</vt:lpstr>
      <vt:lpstr>BIG – Ω EXAMPLES</vt:lpstr>
      <vt:lpstr>BIG – Ω EXAMPLES – INCORRECT BOUND</vt:lpstr>
      <vt:lpstr>BIG – ϴ NOTATION</vt:lpstr>
      <vt:lpstr>BIG – ϴ NOTATION</vt:lpstr>
      <vt:lpstr>RELATION BETWEEN O, Ω AND ϴ</vt:lpstr>
      <vt:lpstr>PROBLEM STATEMENTS</vt:lpstr>
      <vt:lpstr>BIG – ϴ NOTATION - EXAMPLES</vt:lpstr>
      <vt:lpstr>DESIGN TECHNIQUE FOR ALGORITHMS</vt:lpstr>
      <vt:lpstr>SOLVING LINEAR  RECURRENCE RELATIONS </vt:lpstr>
      <vt:lpstr>RECURRENCE RELATION</vt:lpstr>
      <vt:lpstr>LINEAR HOMOGENEOUS RECURRENCES</vt:lpstr>
      <vt:lpstr>LINEAR HOMOGENEOUS RECURRENCES</vt:lpstr>
      <vt:lpstr>STEPS</vt:lpstr>
      <vt:lpstr>STEPS</vt:lpstr>
      <vt:lpstr>STEPS</vt:lpstr>
      <vt:lpstr>EXAMPLE 1</vt:lpstr>
      <vt:lpstr>EXAMPLE</vt:lpstr>
      <vt:lpstr>LINEAR RECURRENCES</vt:lpstr>
      <vt:lpstr>INHOMOGENEOUS RECURRENCE </vt:lpstr>
      <vt:lpstr>STEPS</vt:lpstr>
      <vt:lpstr>STEPS</vt:lpstr>
      <vt:lpstr>STEPS</vt:lpstr>
      <vt:lpstr>EXAMPLE</vt:lpstr>
      <vt:lpstr>EXAMPLE</vt:lpstr>
      <vt:lpstr>MASTER METHOD</vt:lpstr>
      <vt:lpstr>EXAMPLE</vt:lpstr>
      <vt:lpstr>RECURSION TREE</vt:lpstr>
      <vt:lpstr>EXAMPLES</vt:lpstr>
      <vt:lpstr>Iteration Method</vt:lpstr>
      <vt:lpstr>Example - 1</vt:lpstr>
      <vt:lpstr>Example - 2</vt:lpstr>
      <vt:lpstr>Example - 3</vt:lpstr>
      <vt:lpstr>SORTING ALGORITHMS</vt:lpstr>
      <vt:lpstr>Bubble sort</vt:lpstr>
      <vt:lpstr>Bubble sort</vt:lpstr>
      <vt:lpstr>Bubble sort</vt:lpstr>
      <vt:lpstr>Bubble sort</vt:lpstr>
      <vt:lpstr>Analysis of Bubble Sort</vt:lpstr>
      <vt:lpstr>Selection sort</vt:lpstr>
      <vt:lpstr>Selection sort</vt:lpstr>
      <vt:lpstr>Analysis of Selection Sort</vt:lpstr>
      <vt:lpstr>Insertion sort</vt:lpstr>
      <vt:lpstr>Insertion sort</vt:lpstr>
      <vt:lpstr>Analysis of Insertion Sort</vt:lpstr>
      <vt:lpstr>Shell sort</vt:lpstr>
      <vt:lpstr>Shell sort</vt:lpstr>
      <vt:lpstr>Shell sort</vt:lpstr>
      <vt:lpstr>Shell sort</vt:lpstr>
      <vt:lpstr>Shell sort</vt:lpstr>
      <vt:lpstr>Shell sort complexity</vt:lpstr>
      <vt:lpstr>HEAP SORT</vt:lpstr>
      <vt:lpstr>HEAP SORT</vt:lpstr>
      <vt:lpstr>Heap Sort Example</vt:lpstr>
      <vt:lpstr>Heap Sort Example</vt:lpstr>
      <vt:lpstr>Heap Sort Example</vt:lpstr>
      <vt:lpstr>Heap Sort Example</vt:lpstr>
      <vt:lpstr>Heap Sort Example</vt:lpstr>
      <vt:lpstr>Heap Sort Example</vt:lpstr>
      <vt:lpstr>Heap Sort Example</vt:lpstr>
      <vt:lpstr>Heap Sort Example</vt:lpstr>
      <vt:lpstr>Bucket Sort </vt:lpstr>
      <vt:lpstr>Bucket Sort </vt:lpstr>
      <vt:lpstr>Bucket Sort Algorithm</vt:lpstr>
      <vt:lpstr>Bucket Sort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1010043316 Analysis and Design of Algorithms Unit 1: Basics of Algorithms and Mathematics</dc:title>
  <dc:creator>Utsav Yagnik</dc:creator>
  <cp:lastModifiedBy>Staff 2</cp:lastModifiedBy>
  <cp:revision>3</cp:revision>
  <dcterms:created xsi:type="dcterms:W3CDTF">2020-09-07T10:12:37Z</dcterms:created>
  <dcterms:modified xsi:type="dcterms:W3CDTF">2024-08-22T10:42:06Z</dcterms:modified>
</cp:coreProperties>
</file>
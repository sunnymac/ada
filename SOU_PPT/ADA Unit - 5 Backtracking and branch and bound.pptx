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50" r:id="rId2"/>
  </p:sldMasterIdLst>
  <p:notesMasterIdLst>
    <p:notesMasterId r:id="rId3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jxsYYBM4+2TCEj/pK7Ae0HhOGD6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480" y="1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6591798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4275c33bf8_0_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g24275c33bf8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4275c33bf8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g24275c33bf8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4275c33bf8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 name="Google Shape;134;g24275c33bf8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4275c33bf8_0_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1" name="Google Shape;141;g24275c33bf8_0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4275c33bf8_0_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8" name="Google Shape;148;g24275c33bf8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4275c33bf8_0_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g24275c33bf8_0_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4275c33bf8_0_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g24275c33bf8_0_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4275c33bf8_0_7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 name="Google Shape;170;g24275c33bf8_0_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4275c33bf8_0_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g24275c33bf8_0_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4275c33bf8_0_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g24275c33bf8_0_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4275c33bf8_0_1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g24275c33bf8_0_1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4275c33bf8_0_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g24275c33bf8_0_1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4275c33bf8_0_1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g24275c33bf8_0_1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4275c33bf8_0_17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g24275c33bf8_0_1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4275c33bf8_0_1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g24275c33bf8_0_1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4275c33bf8_0_1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g24275c33bf8_0_1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4275c33bf8_0_1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8" name="Google Shape;248;g24275c33bf8_0_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4275c33bf8_0_2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 name="Google Shape;256;g24275c33bf8_0_2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4275c33bf8_0_2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g24275c33bf8_0_2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4275c33bf8_0_2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2" name="Google Shape;272;g24275c33bf8_0_2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4275c33bf8_0_2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 name="Google Shape;280;g24275c33bf8_0_2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4275c33bf8_0_2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8" name="Google Shape;288;g24275c33bf8_0_2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4275c33bf8_0_2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6" name="Google Shape;296;g24275c33bf8_0_2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24275c33bf8_0_1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g24275c33bf8_0_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4275c33bf8_0_2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g24275c33bf8_0_2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24275c33bf8_0_2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g24275c33bf8_0_2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2"/>
        </a:solidFill>
        <a:effectLst/>
      </p:bgPr>
    </p:bg>
    <p:spTree>
      <p:nvGrpSpPr>
        <p:cNvPr id="1" name="Shape 15"/>
        <p:cNvGrpSpPr/>
        <p:nvPr/>
      </p:nvGrpSpPr>
      <p:grpSpPr>
        <a:xfrm>
          <a:off x="0" y="0"/>
          <a:ext cx="0" cy="0"/>
          <a:chOff x="0" y="0"/>
          <a:chExt cx="0" cy="0"/>
        </a:xfrm>
      </p:grpSpPr>
      <p:sp>
        <p:nvSpPr>
          <p:cNvPr id="16" name="Google Shape;16;p9"/>
          <p:cNvSpPr txBox="1">
            <a:spLocks noGrp="1"/>
          </p:cNvSpPr>
          <p:nvPr>
            <p:ph type="ctrTitle"/>
          </p:nvPr>
        </p:nvSpPr>
        <p:spPr>
          <a:xfrm>
            <a:off x="1600200" y="2386744"/>
            <a:ext cx="8991600" cy="164592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262626"/>
              </a:buClr>
              <a:buSzPts val="3800"/>
              <a:buFont typeface="Bookman Old Style"/>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9"/>
          <p:cNvSpPr txBox="1">
            <a:spLocks noGrp="1"/>
          </p:cNvSpPr>
          <p:nvPr>
            <p:ph type="subTitle" idx="1"/>
          </p:nvPr>
        </p:nvSpPr>
        <p:spPr>
          <a:xfrm>
            <a:off x="2695194" y="4352544"/>
            <a:ext cx="6801612" cy="1239894"/>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a:endParaRPr/>
          </a:p>
        </p:txBody>
      </p:sp>
      <p:sp>
        <p:nvSpPr>
          <p:cNvPr id="18" name="Google Shape;18;p9"/>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9"/>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9"/>
          <p:cNvSpPr>
            <a:spLocks noGrp="1"/>
          </p:cNvSpPr>
          <p:nvPr>
            <p:ph type="sldNum" idx="12"/>
          </p:nvPr>
        </p:nvSpPr>
        <p:spPr>
          <a:xfrm>
            <a:off x="10758922" y="6217920"/>
            <a:ext cx="365760" cy="365760"/>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pic>
        <p:nvPicPr>
          <p:cNvPr id="21" name="Google Shape;21;p9"/>
          <p:cNvPicPr preferRelativeResize="0"/>
          <p:nvPr/>
        </p:nvPicPr>
        <p:blipFill rotWithShape="1">
          <a:blip r:embed="rId2">
            <a:alphaModFix/>
          </a:blip>
          <a:srcRect/>
          <a:stretch/>
        </p:blipFill>
        <p:spPr>
          <a:xfrm>
            <a:off x="10226037" y="0"/>
            <a:ext cx="1965963" cy="56899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10"/>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31" name="Google Shape;31;p10"/>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0"/>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0"/>
          <p:cNvSpPr>
            <a:spLocks noGrp="1"/>
          </p:cNvSpPr>
          <p:nvPr>
            <p:ph type="sldNum" idx="12"/>
          </p:nvPr>
        </p:nvSpPr>
        <p:spPr>
          <a:xfrm>
            <a:off x="10758922" y="6217920"/>
            <a:ext cx="365760" cy="365760"/>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pic>
        <p:nvPicPr>
          <p:cNvPr id="34" name="Google Shape;34;p10"/>
          <p:cNvPicPr preferRelativeResize="0"/>
          <p:nvPr/>
        </p:nvPicPr>
        <p:blipFill rotWithShape="1">
          <a:blip r:embed="rId2">
            <a:alphaModFix/>
          </a:blip>
          <a:srcRect/>
          <a:stretch/>
        </p:blipFill>
        <p:spPr>
          <a:xfrm>
            <a:off x="10162288" y="0"/>
            <a:ext cx="1997850" cy="57822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5"/>
        <p:cNvGrpSpPr/>
        <p:nvPr/>
      </p:nvGrpSpPr>
      <p:grpSpPr>
        <a:xfrm>
          <a:off x="0" y="0"/>
          <a:ext cx="0" cy="0"/>
          <a:chOff x="0" y="0"/>
          <a:chExt cx="0" cy="0"/>
        </a:xfrm>
      </p:grpSpPr>
      <p:sp>
        <p:nvSpPr>
          <p:cNvPr id="36" name="Google Shape;36;p13"/>
          <p:cNvSpPr/>
          <p:nvPr/>
        </p:nvSpPr>
        <p:spPr>
          <a:xfrm>
            <a:off x="0" y="0"/>
            <a:ext cx="6096000" cy="6858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3"/>
          <p:cNvSpPr txBox="1">
            <a:spLocks noGrp="1"/>
          </p:cNvSpPr>
          <p:nvPr>
            <p:ph type="title"/>
          </p:nvPr>
        </p:nvSpPr>
        <p:spPr>
          <a:xfrm>
            <a:off x="804672" y="2243828"/>
            <a:ext cx="4486656" cy="1141497"/>
          </a:xfrm>
          <a:prstGeom prst="rect">
            <a:avLst/>
          </a:prstGeom>
          <a:solidFill>
            <a:srgbClr val="FFFFFF"/>
          </a:solidFill>
          <a:ln w="9525" cap="flat" cmpd="sng">
            <a:solidFill>
              <a:srgbClr val="404040"/>
            </a:solidFill>
            <a:prstDash val="solid"/>
            <a:round/>
            <a:headEnd type="none" w="sm" len="sm"/>
            <a:tailEnd type="none" w="sm" len="sm"/>
          </a:ln>
        </p:spPr>
        <p:txBody>
          <a:bodyPr spcFirstLastPara="1" wrap="square" lIns="182875" tIns="182875" rIns="182875" bIns="182875" anchor="ctr" anchorCtr="1">
            <a:normAutofit/>
          </a:bodyPr>
          <a:lstStyle>
            <a:lvl1pPr lvl="0" algn="ctr">
              <a:lnSpc>
                <a:spcPct val="90000"/>
              </a:lnSpc>
              <a:spcBef>
                <a:spcPts val="0"/>
              </a:spcBef>
              <a:spcAft>
                <a:spcPts val="0"/>
              </a:spcAft>
              <a:buClr>
                <a:srgbClr val="262626"/>
              </a:buClr>
              <a:buSzPts val="2200"/>
              <a:buFont typeface="Bookman Old Style"/>
              <a:buNone/>
              <a:defRPr sz="22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3"/>
          <p:cNvSpPr txBox="1">
            <a:spLocks noGrp="1"/>
          </p:cNvSpPr>
          <p:nvPr>
            <p:ph type="body" idx="1"/>
          </p:nvPr>
        </p:nvSpPr>
        <p:spPr>
          <a:xfrm>
            <a:off x="6736080" y="804672"/>
            <a:ext cx="4815840" cy="5248656"/>
          </a:xfrm>
          <a:prstGeom prst="rect">
            <a:avLst/>
          </a:prstGeom>
          <a:noFill/>
          <a:ln>
            <a:noFill/>
          </a:ln>
        </p:spPr>
        <p:txBody>
          <a:bodyPr spcFirstLastPara="1" wrap="square" lIns="91425" tIns="45700" rIns="91425" bIns="45700" anchor="t" anchorCtr="0">
            <a:normAutofit/>
          </a:bodyPr>
          <a:lstStyle>
            <a:lvl1pPr marL="457200" lvl="0" indent="-349250" algn="l">
              <a:lnSpc>
                <a:spcPct val="100000"/>
              </a:lnSpc>
              <a:spcBef>
                <a:spcPts val="1000"/>
              </a:spcBef>
              <a:spcAft>
                <a:spcPts val="0"/>
              </a:spcAft>
              <a:buSzPts val="1900"/>
              <a:buChar char="•"/>
              <a:defRPr sz="1900">
                <a:solidFill>
                  <a:schemeClr val="dk1"/>
                </a:solidFill>
              </a:defRPr>
            </a:lvl1pPr>
            <a:lvl2pPr marL="914400" lvl="1" indent="-330200" algn="l">
              <a:lnSpc>
                <a:spcPct val="100000"/>
              </a:lnSpc>
              <a:spcBef>
                <a:spcPts val="1000"/>
              </a:spcBef>
              <a:spcAft>
                <a:spcPts val="0"/>
              </a:spcAft>
              <a:buSzPts val="1600"/>
              <a:buChar char="•"/>
              <a:defRPr sz="1600">
                <a:solidFill>
                  <a:schemeClr val="dk1"/>
                </a:solidFill>
              </a:defRPr>
            </a:lvl2pPr>
            <a:lvl3pPr marL="1371600" lvl="2" indent="-330200" algn="l">
              <a:lnSpc>
                <a:spcPct val="100000"/>
              </a:lnSpc>
              <a:spcBef>
                <a:spcPts val="1000"/>
              </a:spcBef>
              <a:spcAft>
                <a:spcPts val="0"/>
              </a:spcAft>
              <a:buSzPts val="1600"/>
              <a:buChar char="•"/>
              <a:defRPr sz="1600">
                <a:solidFill>
                  <a:schemeClr val="dk1"/>
                </a:solidFill>
              </a:defRPr>
            </a:lvl3pPr>
            <a:lvl4pPr marL="1828800" lvl="3" indent="-330200" algn="l">
              <a:lnSpc>
                <a:spcPct val="100000"/>
              </a:lnSpc>
              <a:spcBef>
                <a:spcPts val="1000"/>
              </a:spcBef>
              <a:spcAft>
                <a:spcPts val="0"/>
              </a:spcAft>
              <a:buSzPts val="1600"/>
              <a:buChar char="•"/>
              <a:defRPr sz="1600">
                <a:solidFill>
                  <a:schemeClr val="dk1"/>
                </a:solidFill>
              </a:defRPr>
            </a:lvl4pPr>
            <a:lvl5pPr marL="2286000" lvl="4" indent="-330200" algn="l">
              <a:lnSpc>
                <a:spcPct val="100000"/>
              </a:lnSpc>
              <a:spcBef>
                <a:spcPts val="1000"/>
              </a:spcBef>
              <a:spcAft>
                <a:spcPts val="0"/>
              </a:spcAft>
              <a:buSzPts val="1600"/>
              <a:buChar char="•"/>
              <a:defRPr sz="1600">
                <a:solidFill>
                  <a:schemeClr val="dk1"/>
                </a:solidFill>
              </a:defRPr>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sp>
        <p:nvSpPr>
          <p:cNvPr id="39" name="Google Shape;39;p13"/>
          <p:cNvSpPr txBox="1">
            <a:spLocks noGrp="1"/>
          </p:cNvSpPr>
          <p:nvPr>
            <p:ph type="body" idx="2"/>
          </p:nvPr>
        </p:nvSpPr>
        <p:spPr>
          <a:xfrm>
            <a:off x="1115568" y="3549918"/>
            <a:ext cx="3794760" cy="2194036"/>
          </a:xfrm>
          <a:prstGeom prst="rect">
            <a:avLst/>
          </a:prstGeom>
          <a:noFill/>
          <a:ln>
            <a:noFill/>
          </a:ln>
        </p:spPr>
        <p:txBody>
          <a:bodyPr spcFirstLastPara="1" wrap="square" lIns="91425" tIns="45700" rIns="91425" bIns="45700" anchor="t" anchorCtr="1">
            <a:normAutofit/>
          </a:bodyPr>
          <a:lstStyle>
            <a:lvl1pPr marL="457200" lvl="0" indent="-228600" algn="ctr">
              <a:lnSpc>
                <a:spcPct val="100000"/>
              </a:lnSpc>
              <a:spcBef>
                <a:spcPts val="1000"/>
              </a:spcBef>
              <a:spcAft>
                <a:spcPts val="0"/>
              </a:spcAft>
              <a:buSzPts val="1500"/>
              <a:buNone/>
              <a:defRPr sz="1500">
                <a:solidFill>
                  <a:srgbClr val="FFFFFF"/>
                </a:solidFill>
              </a:defRPr>
            </a:lvl1pPr>
            <a:lvl2pPr marL="914400" lvl="1" indent="-228600" algn="l">
              <a:lnSpc>
                <a:spcPct val="100000"/>
              </a:lnSpc>
              <a:spcBef>
                <a:spcPts val="1000"/>
              </a:spcBef>
              <a:spcAft>
                <a:spcPts val="0"/>
              </a:spcAft>
              <a:buSzPts val="1400"/>
              <a:buNone/>
              <a:defRPr sz="1400"/>
            </a:lvl2pPr>
            <a:lvl3pPr marL="1371600" lvl="2" indent="-228600" algn="l">
              <a:lnSpc>
                <a:spcPct val="100000"/>
              </a:lnSpc>
              <a:spcBef>
                <a:spcPts val="1000"/>
              </a:spcBef>
              <a:spcAft>
                <a:spcPts val="0"/>
              </a:spcAft>
              <a:buSzPts val="1200"/>
              <a:buNone/>
              <a:defRPr sz="1200"/>
            </a:lvl3pPr>
            <a:lvl4pPr marL="1828800" lvl="3" indent="-228600" algn="l">
              <a:lnSpc>
                <a:spcPct val="100000"/>
              </a:lnSpc>
              <a:spcBef>
                <a:spcPts val="1000"/>
              </a:spcBef>
              <a:spcAft>
                <a:spcPts val="0"/>
              </a:spcAft>
              <a:buSzPts val="1000"/>
              <a:buNone/>
              <a:defRPr sz="1000"/>
            </a:lvl4pPr>
            <a:lvl5pPr marL="2286000" lvl="4" indent="-228600" algn="l">
              <a:lnSpc>
                <a:spcPct val="100000"/>
              </a:lnSpc>
              <a:spcBef>
                <a:spcPts val="1000"/>
              </a:spcBef>
              <a:spcAft>
                <a:spcPts val="0"/>
              </a:spcAft>
              <a:buSzPts val="1000"/>
              <a:buNone/>
              <a:defRPr sz="1000"/>
            </a:lvl5pPr>
            <a:lvl6pPr marL="2743200" lvl="5" indent="-228600" algn="l">
              <a:lnSpc>
                <a:spcPct val="100000"/>
              </a:lnSpc>
              <a:spcBef>
                <a:spcPts val="1000"/>
              </a:spcBef>
              <a:spcAft>
                <a:spcPts val="0"/>
              </a:spcAft>
              <a:buSzPts val="1000"/>
              <a:buNone/>
              <a:defRPr sz="1000"/>
            </a:lvl6pPr>
            <a:lvl7pPr marL="3200400" lvl="6" indent="-228600" algn="l">
              <a:lnSpc>
                <a:spcPct val="100000"/>
              </a:lnSpc>
              <a:spcBef>
                <a:spcPts val="1000"/>
              </a:spcBef>
              <a:spcAft>
                <a:spcPts val="0"/>
              </a:spcAft>
              <a:buSzPts val="1000"/>
              <a:buNone/>
              <a:defRPr sz="1000"/>
            </a:lvl7pPr>
            <a:lvl8pPr marL="3657600" lvl="7" indent="-228600" algn="l">
              <a:lnSpc>
                <a:spcPct val="100000"/>
              </a:lnSpc>
              <a:spcBef>
                <a:spcPts val="1000"/>
              </a:spcBef>
              <a:spcAft>
                <a:spcPts val="0"/>
              </a:spcAft>
              <a:buSzPts val="1000"/>
              <a:buNone/>
              <a:defRPr sz="1000"/>
            </a:lvl8pPr>
            <a:lvl9pPr marL="4114800" lvl="8" indent="-228600" algn="l">
              <a:lnSpc>
                <a:spcPct val="100000"/>
              </a:lnSpc>
              <a:spcBef>
                <a:spcPts val="1000"/>
              </a:spcBef>
              <a:spcAft>
                <a:spcPts val="0"/>
              </a:spcAft>
              <a:buSzPts val="1000"/>
              <a:buNone/>
              <a:defRPr sz="1000"/>
            </a:lvl9pPr>
          </a:lstStyle>
          <a:p>
            <a:endParaRPr/>
          </a:p>
        </p:txBody>
      </p:sp>
      <p:sp>
        <p:nvSpPr>
          <p:cNvPr id="40" name="Google Shape;40;p13"/>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3"/>
          <p:cNvSpPr txBox="1">
            <a:spLocks noGrp="1"/>
          </p:cNvSpPr>
          <p:nvPr>
            <p:ph type="ftr" idx="11"/>
          </p:nvPr>
        </p:nvSpPr>
        <p:spPr>
          <a:xfrm>
            <a:off x="804672" y="6236208"/>
            <a:ext cx="5124797"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3"/>
          <p:cNvSpPr>
            <a:spLocks noGrp="1"/>
          </p:cNvSpPr>
          <p:nvPr>
            <p:ph type="sldNum" idx="12"/>
          </p:nvPr>
        </p:nvSpPr>
        <p:spPr>
          <a:xfrm>
            <a:off x="10758922" y="6217920"/>
            <a:ext cx="365760" cy="365760"/>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pic>
        <p:nvPicPr>
          <p:cNvPr id="43" name="Google Shape;43;p13"/>
          <p:cNvPicPr preferRelativeResize="0"/>
          <p:nvPr/>
        </p:nvPicPr>
        <p:blipFill rotWithShape="1">
          <a:blip r:embed="rId2">
            <a:alphaModFix/>
          </a:blip>
          <a:srcRect/>
          <a:stretch/>
        </p:blipFill>
        <p:spPr>
          <a:xfrm>
            <a:off x="10020764" y="0"/>
            <a:ext cx="2139373" cy="61918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12"/>
          <p:cNvSpPr txBox="1">
            <a:spLocks noGrp="1"/>
          </p:cNvSpPr>
          <p:nvPr>
            <p:ph type="body" idx="1"/>
          </p:nvPr>
        </p:nvSpPr>
        <p:spPr>
          <a:xfrm>
            <a:off x="1583436" y="2313433"/>
            <a:ext cx="4270248" cy="704087"/>
          </a:xfrm>
          <a:prstGeom prst="rect">
            <a:avLst/>
          </a:prstGeom>
          <a:noFill/>
          <a:ln>
            <a:noFill/>
          </a:ln>
        </p:spPr>
        <p:txBody>
          <a:bodyPr spcFirstLastPara="1" wrap="square" lIns="91425" tIns="45700" rIns="91425" bIns="45700" anchor="b" anchorCtr="1">
            <a:normAutofit/>
          </a:bodyPr>
          <a:lstStyle>
            <a:lvl1pPr marL="457200" lvl="0" indent="-228600" algn="ctr">
              <a:lnSpc>
                <a:spcPct val="100000"/>
              </a:lnSpc>
              <a:spcBef>
                <a:spcPts val="1000"/>
              </a:spcBef>
              <a:spcAft>
                <a:spcPts val="0"/>
              </a:spcAft>
              <a:buSzPts val="1900"/>
              <a:buNone/>
              <a:defRPr sz="1900" b="0" cap="none">
                <a:solidFill>
                  <a:srgbClr val="6B8890"/>
                </a:solidFill>
              </a:defRPr>
            </a:lvl1pPr>
            <a:lvl2pPr marL="914400" lvl="1" indent="-228600" algn="l">
              <a:lnSpc>
                <a:spcPct val="100000"/>
              </a:lnSpc>
              <a:spcBef>
                <a:spcPts val="1000"/>
              </a:spcBef>
              <a:spcAft>
                <a:spcPts val="0"/>
              </a:spcAft>
              <a:buSzPts val="1900"/>
              <a:buNone/>
              <a:defRPr sz="19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46" name="Google Shape;46;p12"/>
          <p:cNvSpPr txBox="1">
            <a:spLocks noGrp="1"/>
          </p:cNvSpPr>
          <p:nvPr>
            <p:ph type="body" idx="2"/>
          </p:nvPr>
        </p:nvSpPr>
        <p:spPr>
          <a:xfrm>
            <a:off x="1583436" y="3143250"/>
            <a:ext cx="4270248" cy="259677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47" name="Google Shape;47;p12"/>
          <p:cNvSpPr txBox="1">
            <a:spLocks noGrp="1"/>
          </p:cNvSpPr>
          <p:nvPr>
            <p:ph type="body" idx="3"/>
          </p:nvPr>
        </p:nvSpPr>
        <p:spPr>
          <a:xfrm>
            <a:off x="6338316" y="3143250"/>
            <a:ext cx="4253484" cy="259677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30200" algn="l">
              <a:lnSpc>
                <a:spcPct val="100000"/>
              </a:lnSpc>
              <a:spcBef>
                <a:spcPts val="1000"/>
              </a:spcBef>
              <a:spcAft>
                <a:spcPts val="0"/>
              </a:spcAft>
              <a:buSzPts val="16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48" name="Google Shape;48;p12"/>
          <p:cNvSpPr txBox="1">
            <a:spLocks noGrp="1"/>
          </p:cNvSpPr>
          <p:nvPr>
            <p:ph type="body" idx="4"/>
          </p:nvPr>
        </p:nvSpPr>
        <p:spPr>
          <a:xfrm>
            <a:off x="6338316" y="2313433"/>
            <a:ext cx="4270248" cy="704087"/>
          </a:xfrm>
          <a:prstGeom prst="rect">
            <a:avLst/>
          </a:prstGeom>
          <a:noFill/>
          <a:ln>
            <a:noFill/>
          </a:ln>
        </p:spPr>
        <p:txBody>
          <a:bodyPr spcFirstLastPara="1" wrap="square" lIns="91425" tIns="45700" rIns="91425" bIns="45700" anchor="b" anchorCtr="1">
            <a:normAutofit/>
          </a:bodyPr>
          <a:lstStyle>
            <a:lvl1pPr marL="457200" lvl="0" indent="-228600" algn="ctr">
              <a:lnSpc>
                <a:spcPct val="100000"/>
              </a:lnSpc>
              <a:spcBef>
                <a:spcPts val="1000"/>
              </a:spcBef>
              <a:spcAft>
                <a:spcPts val="0"/>
              </a:spcAft>
              <a:buSzPts val="1900"/>
              <a:buNone/>
              <a:defRPr sz="1900" b="0" cap="none">
                <a:solidFill>
                  <a:srgbClr val="6B8890"/>
                </a:solidFill>
              </a:defRPr>
            </a:lvl1pPr>
            <a:lvl2pPr marL="914400" lvl="1" indent="-228600" algn="l">
              <a:lnSpc>
                <a:spcPct val="100000"/>
              </a:lnSpc>
              <a:spcBef>
                <a:spcPts val="1000"/>
              </a:spcBef>
              <a:spcAft>
                <a:spcPts val="0"/>
              </a:spcAft>
              <a:buSzPts val="1900"/>
              <a:buNone/>
              <a:defRPr sz="19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49" name="Google Shape;49;p12"/>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2"/>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a:spLocks noGrp="1"/>
          </p:cNvSpPr>
          <p:nvPr>
            <p:ph type="sldNum" idx="12"/>
          </p:nvPr>
        </p:nvSpPr>
        <p:spPr>
          <a:xfrm>
            <a:off x="10758922" y="6217920"/>
            <a:ext cx="365760" cy="365760"/>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
        <p:nvSpPr>
          <p:cNvPr id="52" name="Google Shape;52;p12"/>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3" name="Google Shape;53;p12"/>
          <p:cNvPicPr preferRelativeResize="0"/>
          <p:nvPr/>
        </p:nvPicPr>
        <p:blipFill rotWithShape="1">
          <a:blip r:embed="rId2">
            <a:alphaModFix/>
          </a:blip>
          <a:srcRect/>
          <a:stretch/>
        </p:blipFill>
        <p:spPr>
          <a:xfrm>
            <a:off x="10022907" y="1"/>
            <a:ext cx="2137230" cy="61856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11"/>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1"/>
          <p:cNvSpPr txBox="1">
            <a:spLocks noGrp="1"/>
          </p:cNvSpPr>
          <p:nvPr>
            <p:ph type="body" idx="1"/>
          </p:nvPr>
        </p:nvSpPr>
        <p:spPr>
          <a:xfrm>
            <a:off x="1581912" y="2638044"/>
            <a:ext cx="4271771" cy="310198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7" name="Google Shape;57;p11"/>
          <p:cNvSpPr txBox="1">
            <a:spLocks noGrp="1"/>
          </p:cNvSpPr>
          <p:nvPr>
            <p:ph type="body" idx="2"/>
          </p:nvPr>
        </p:nvSpPr>
        <p:spPr>
          <a:xfrm>
            <a:off x="6338315" y="2638044"/>
            <a:ext cx="4270247" cy="310198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8" name="Google Shape;58;p11"/>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1"/>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1"/>
          <p:cNvSpPr>
            <a:spLocks noGrp="1"/>
          </p:cNvSpPr>
          <p:nvPr>
            <p:ph type="sldNum" idx="12"/>
          </p:nvPr>
        </p:nvSpPr>
        <p:spPr>
          <a:xfrm>
            <a:off x="10758922" y="6217920"/>
            <a:ext cx="365760" cy="365760"/>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pic>
        <p:nvPicPr>
          <p:cNvPr id="61" name="Google Shape;61;p11"/>
          <p:cNvPicPr preferRelativeResize="0"/>
          <p:nvPr/>
        </p:nvPicPr>
        <p:blipFill rotWithShape="1">
          <a:blip r:embed="rId2">
            <a:alphaModFix/>
          </a:blip>
          <a:srcRect/>
          <a:stretch/>
        </p:blipFill>
        <p:spPr>
          <a:xfrm>
            <a:off x="10091217" y="0"/>
            <a:ext cx="2066929" cy="59821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2"/>
        </a:solidFill>
        <a:effectLst/>
      </p:bgPr>
    </p:bg>
    <p:spTree>
      <p:nvGrpSpPr>
        <p:cNvPr id="1" name="Shape 62"/>
        <p:cNvGrpSpPr/>
        <p:nvPr/>
      </p:nvGrpSpPr>
      <p:grpSpPr>
        <a:xfrm>
          <a:off x="0" y="0"/>
          <a:ext cx="0" cy="0"/>
          <a:chOff x="0" y="0"/>
          <a:chExt cx="0" cy="0"/>
        </a:xfrm>
      </p:grpSpPr>
      <p:sp>
        <p:nvSpPr>
          <p:cNvPr id="63" name="Google Shape;63;p8"/>
          <p:cNvSpPr txBox="1">
            <a:spLocks noGrp="1"/>
          </p:cNvSpPr>
          <p:nvPr>
            <p:ph type="ctrTitle"/>
          </p:nvPr>
        </p:nvSpPr>
        <p:spPr>
          <a:xfrm>
            <a:off x="1600200" y="2386744"/>
            <a:ext cx="8991600" cy="164592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262626"/>
              </a:buClr>
              <a:buSzPts val="3800"/>
              <a:buFont typeface="Bookman Old Style"/>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8"/>
          <p:cNvSpPr txBox="1">
            <a:spLocks noGrp="1"/>
          </p:cNvSpPr>
          <p:nvPr>
            <p:ph type="subTitle" idx="1"/>
          </p:nvPr>
        </p:nvSpPr>
        <p:spPr>
          <a:xfrm>
            <a:off x="2695194" y="4352544"/>
            <a:ext cx="6801612" cy="1239894"/>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a:endParaRPr/>
          </a:p>
        </p:txBody>
      </p:sp>
      <p:sp>
        <p:nvSpPr>
          <p:cNvPr id="65" name="Google Shape;65;p8"/>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8"/>
          <p:cNvSpPr>
            <a:spLocks noGrp="1"/>
          </p:cNvSpPr>
          <p:nvPr>
            <p:ph type="sldNum" idx="12"/>
          </p:nvPr>
        </p:nvSpPr>
        <p:spPr>
          <a:xfrm>
            <a:off x="10758922" y="6217920"/>
            <a:ext cx="365760" cy="365760"/>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pic>
        <p:nvPicPr>
          <p:cNvPr id="68" name="Google Shape;68;p8"/>
          <p:cNvPicPr preferRelativeResize="0"/>
          <p:nvPr/>
        </p:nvPicPr>
        <p:blipFill rotWithShape="1">
          <a:blip r:embed="rId2">
            <a:alphaModFix/>
          </a:blip>
          <a:srcRect/>
          <a:stretch/>
        </p:blipFill>
        <p:spPr>
          <a:xfrm>
            <a:off x="10226037" y="0"/>
            <a:ext cx="1965963" cy="56899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1"/>
        </a:solidFill>
        <a:effectLst/>
      </p:bgPr>
    </p:bg>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1600200" y="2386744"/>
            <a:ext cx="8991600" cy="164592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262626"/>
              </a:buClr>
              <a:buSzPts val="3800"/>
              <a:buFont typeface="Bookman Old Style"/>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body" idx="1"/>
          </p:nvPr>
        </p:nvSpPr>
        <p:spPr>
          <a:xfrm>
            <a:off x="2695194" y="4352465"/>
            <a:ext cx="6801612" cy="1265082"/>
          </a:xfrm>
          <a:prstGeom prst="rect">
            <a:avLst/>
          </a:prstGeom>
          <a:noFill/>
          <a:ln>
            <a:noFill/>
          </a:ln>
        </p:spPr>
        <p:txBody>
          <a:bodyPr spcFirstLastPara="1" wrap="square" lIns="91425" tIns="45700" rIns="91425" bIns="45700" anchor="t" anchorCtr="1">
            <a:normAutofit/>
          </a:bodyPr>
          <a:lstStyle>
            <a:lvl1pPr marL="457200" lvl="0" indent="-228600" algn="l">
              <a:lnSpc>
                <a:spcPct val="100000"/>
              </a:lnSpc>
              <a:spcBef>
                <a:spcPts val="1000"/>
              </a:spcBef>
              <a:spcAft>
                <a:spcPts val="0"/>
              </a:spcAft>
              <a:buSzPts val="2000"/>
              <a:buNone/>
              <a:defRPr sz="2000">
                <a:solidFill>
                  <a:schemeClr val="lt1"/>
                </a:solidFill>
              </a:defRPr>
            </a:lvl1pPr>
            <a:lvl2pPr marL="914400" lvl="1" indent="-228600" algn="l">
              <a:lnSpc>
                <a:spcPct val="100000"/>
              </a:lnSpc>
              <a:spcBef>
                <a:spcPts val="1000"/>
              </a:spcBef>
              <a:spcAft>
                <a:spcPts val="0"/>
              </a:spcAft>
              <a:buSzPts val="2000"/>
              <a:buNone/>
              <a:defRPr sz="2000">
                <a:solidFill>
                  <a:schemeClr val="lt1"/>
                </a:solidFill>
              </a:defRPr>
            </a:lvl2pPr>
            <a:lvl3pPr marL="1371600" lvl="2" indent="-228600" algn="l">
              <a:lnSpc>
                <a:spcPct val="100000"/>
              </a:lnSpc>
              <a:spcBef>
                <a:spcPts val="1000"/>
              </a:spcBef>
              <a:spcAft>
                <a:spcPts val="0"/>
              </a:spcAft>
              <a:buSzPts val="1800"/>
              <a:buNone/>
              <a:defRPr sz="1800">
                <a:solidFill>
                  <a:schemeClr val="lt1"/>
                </a:solidFill>
              </a:defRPr>
            </a:lvl3pPr>
            <a:lvl4pPr marL="1828800" lvl="3" indent="-228600" algn="l">
              <a:lnSpc>
                <a:spcPct val="100000"/>
              </a:lnSpc>
              <a:spcBef>
                <a:spcPts val="1000"/>
              </a:spcBef>
              <a:spcAft>
                <a:spcPts val="0"/>
              </a:spcAft>
              <a:buSzPts val="1600"/>
              <a:buNone/>
              <a:defRPr sz="1600">
                <a:solidFill>
                  <a:schemeClr val="lt1"/>
                </a:solidFill>
              </a:defRPr>
            </a:lvl4pPr>
            <a:lvl5pPr marL="2286000" lvl="4" indent="-228600" algn="l">
              <a:lnSpc>
                <a:spcPct val="100000"/>
              </a:lnSpc>
              <a:spcBef>
                <a:spcPts val="1000"/>
              </a:spcBef>
              <a:spcAft>
                <a:spcPts val="0"/>
              </a:spcAft>
              <a:buSzPts val="1600"/>
              <a:buNone/>
              <a:defRPr sz="1600">
                <a:solidFill>
                  <a:schemeClr val="lt1"/>
                </a:solidFill>
              </a:defRPr>
            </a:lvl5pPr>
            <a:lvl6pPr marL="2743200" lvl="5" indent="-228600" algn="l">
              <a:lnSpc>
                <a:spcPct val="100000"/>
              </a:lnSpc>
              <a:spcBef>
                <a:spcPts val="1000"/>
              </a:spcBef>
              <a:spcAft>
                <a:spcPts val="0"/>
              </a:spcAft>
              <a:buSzPts val="1600"/>
              <a:buNone/>
              <a:defRPr sz="1600">
                <a:solidFill>
                  <a:schemeClr val="lt1"/>
                </a:solidFill>
              </a:defRPr>
            </a:lvl6pPr>
            <a:lvl7pPr marL="3200400" lvl="6" indent="-228600" algn="l">
              <a:lnSpc>
                <a:spcPct val="100000"/>
              </a:lnSpc>
              <a:spcBef>
                <a:spcPts val="1000"/>
              </a:spcBef>
              <a:spcAft>
                <a:spcPts val="0"/>
              </a:spcAft>
              <a:buSzPts val="1600"/>
              <a:buNone/>
              <a:defRPr sz="1600">
                <a:solidFill>
                  <a:schemeClr val="lt1"/>
                </a:solidFill>
              </a:defRPr>
            </a:lvl7pPr>
            <a:lvl8pPr marL="3657600" lvl="7" indent="-228600" algn="l">
              <a:lnSpc>
                <a:spcPct val="100000"/>
              </a:lnSpc>
              <a:spcBef>
                <a:spcPts val="1000"/>
              </a:spcBef>
              <a:spcAft>
                <a:spcPts val="0"/>
              </a:spcAft>
              <a:buSzPts val="1600"/>
              <a:buNone/>
              <a:defRPr sz="1600">
                <a:solidFill>
                  <a:schemeClr val="lt1"/>
                </a:solidFill>
              </a:defRPr>
            </a:lvl8pPr>
            <a:lvl9pPr marL="4114800" lvl="8" indent="-228600" algn="l">
              <a:lnSpc>
                <a:spcPct val="100000"/>
              </a:lnSpc>
              <a:spcBef>
                <a:spcPts val="1000"/>
              </a:spcBef>
              <a:spcAft>
                <a:spcPts val="0"/>
              </a:spcAft>
              <a:buSzPts val="1600"/>
              <a:buNone/>
              <a:defRPr sz="1600">
                <a:solidFill>
                  <a:schemeClr val="lt1"/>
                </a:solidFill>
              </a:defRPr>
            </a:lvl9pPr>
          </a:lstStyle>
          <a:p>
            <a:endParaRPr/>
          </a:p>
        </p:txBody>
      </p:sp>
      <p:sp>
        <p:nvSpPr>
          <p:cNvPr id="72" name="Google Shape;72;p14"/>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4"/>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4"/>
          <p:cNvSpPr>
            <a:spLocks noGrp="1"/>
          </p:cNvSpPr>
          <p:nvPr>
            <p:ph type="sldNum" idx="12"/>
          </p:nvPr>
        </p:nvSpPr>
        <p:spPr>
          <a:xfrm>
            <a:off x="10758922" y="6217920"/>
            <a:ext cx="365760" cy="365760"/>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5"/>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a:spLocks noGrp="1"/>
          </p:cNvSpPr>
          <p:nvPr>
            <p:ph type="sldNum" idx="12"/>
          </p:nvPr>
        </p:nvSpPr>
        <p:spPr>
          <a:xfrm>
            <a:off x="10758922" y="6217920"/>
            <a:ext cx="365760" cy="365760"/>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6"/>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6"/>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a:spLocks noGrp="1"/>
          </p:cNvSpPr>
          <p:nvPr>
            <p:ph type="sldNum" idx="12"/>
          </p:nvPr>
        </p:nvSpPr>
        <p:spPr>
          <a:xfrm>
            <a:off x="10758922" y="6217920"/>
            <a:ext cx="365760" cy="365760"/>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17"/>
          <p:cNvSpPr/>
          <p:nvPr/>
        </p:nvSpPr>
        <p:spPr>
          <a:xfrm>
            <a:off x="0" y="0"/>
            <a:ext cx="6095999" cy="6858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17"/>
          <p:cNvSpPr txBox="1">
            <a:spLocks noGrp="1"/>
          </p:cNvSpPr>
          <p:nvPr>
            <p:ph type="title"/>
          </p:nvPr>
        </p:nvSpPr>
        <p:spPr>
          <a:xfrm>
            <a:off x="808523" y="2243828"/>
            <a:ext cx="4494998" cy="1134640"/>
          </a:xfrm>
          <a:prstGeom prst="rect">
            <a:avLst/>
          </a:prstGeom>
          <a:solidFill>
            <a:srgbClr val="FFFFFF"/>
          </a:solidFill>
          <a:ln w="9525" cap="flat" cmpd="sng">
            <a:solidFill>
              <a:srgbClr val="404040"/>
            </a:solidFill>
            <a:prstDash val="solid"/>
            <a:round/>
            <a:headEnd type="none" w="sm" len="sm"/>
            <a:tailEnd type="none" w="sm" len="sm"/>
          </a:ln>
        </p:spPr>
        <p:txBody>
          <a:bodyPr spcFirstLastPara="1" wrap="square" lIns="182875" tIns="182875" rIns="182875" bIns="182875" anchor="ctr" anchorCtr="1">
            <a:noAutofit/>
          </a:bodyPr>
          <a:lstStyle>
            <a:lvl1pPr lvl="0" algn="ctr">
              <a:lnSpc>
                <a:spcPct val="90000"/>
              </a:lnSpc>
              <a:spcBef>
                <a:spcPts val="0"/>
              </a:spcBef>
              <a:spcAft>
                <a:spcPts val="0"/>
              </a:spcAft>
              <a:buClr>
                <a:srgbClr val="262626"/>
              </a:buClr>
              <a:buSzPts val="2200"/>
              <a:buFont typeface="Bookman Old Style"/>
              <a:buNone/>
              <a:defRPr sz="22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7"/>
          <p:cNvSpPr>
            <a:spLocks noGrp="1"/>
          </p:cNvSpPr>
          <p:nvPr>
            <p:ph type="pic" idx="2"/>
          </p:nvPr>
        </p:nvSpPr>
        <p:spPr>
          <a:xfrm>
            <a:off x="6095999" y="0"/>
            <a:ext cx="6102097" cy="6858000"/>
          </a:xfrm>
          <a:prstGeom prst="rect">
            <a:avLst/>
          </a:prstGeom>
          <a:solidFill>
            <a:srgbClr val="BFBFBF"/>
          </a:solidFill>
          <a:ln>
            <a:noFill/>
          </a:ln>
        </p:spPr>
      </p:sp>
      <p:sp>
        <p:nvSpPr>
          <p:cNvPr id="88" name="Google Shape;88;p17"/>
          <p:cNvSpPr txBox="1">
            <a:spLocks noGrp="1"/>
          </p:cNvSpPr>
          <p:nvPr>
            <p:ph type="body" idx="1"/>
          </p:nvPr>
        </p:nvSpPr>
        <p:spPr>
          <a:xfrm>
            <a:off x="1115568" y="3549918"/>
            <a:ext cx="3794760" cy="2194037"/>
          </a:xfrm>
          <a:prstGeom prst="rect">
            <a:avLst/>
          </a:prstGeom>
          <a:noFill/>
          <a:ln>
            <a:noFill/>
          </a:ln>
        </p:spPr>
        <p:txBody>
          <a:bodyPr spcFirstLastPara="1" wrap="square" lIns="91425" tIns="45700" rIns="91425" bIns="45700" anchor="t" anchorCtr="1">
            <a:normAutofit/>
          </a:bodyPr>
          <a:lstStyle>
            <a:lvl1pPr marL="457200" lvl="0" indent="-228600" algn="ctr">
              <a:lnSpc>
                <a:spcPct val="100000"/>
              </a:lnSpc>
              <a:spcBef>
                <a:spcPts val="1000"/>
              </a:spcBef>
              <a:spcAft>
                <a:spcPts val="0"/>
              </a:spcAft>
              <a:buSzPts val="1500"/>
              <a:buNone/>
              <a:defRPr sz="1500">
                <a:solidFill>
                  <a:srgbClr val="FFFFFF"/>
                </a:solidFill>
              </a:defRPr>
            </a:lvl1pPr>
            <a:lvl2pPr marL="914400" lvl="1" indent="-228600" algn="l">
              <a:lnSpc>
                <a:spcPct val="100000"/>
              </a:lnSpc>
              <a:spcBef>
                <a:spcPts val="1000"/>
              </a:spcBef>
              <a:spcAft>
                <a:spcPts val="0"/>
              </a:spcAft>
              <a:buSzPts val="1400"/>
              <a:buNone/>
              <a:defRPr sz="1400"/>
            </a:lvl2pPr>
            <a:lvl3pPr marL="1371600" lvl="2" indent="-228600" algn="l">
              <a:lnSpc>
                <a:spcPct val="100000"/>
              </a:lnSpc>
              <a:spcBef>
                <a:spcPts val="1000"/>
              </a:spcBef>
              <a:spcAft>
                <a:spcPts val="0"/>
              </a:spcAft>
              <a:buSzPts val="1200"/>
              <a:buNone/>
              <a:defRPr sz="1200"/>
            </a:lvl3pPr>
            <a:lvl4pPr marL="1828800" lvl="3" indent="-228600" algn="l">
              <a:lnSpc>
                <a:spcPct val="100000"/>
              </a:lnSpc>
              <a:spcBef>
                <a:spcPts val="1000"/>
              </a:spcBef>
              <a:spcAft>
                <a:spcPts val="0"/>
              </a:spcAft>
              <a:buSzPts val="1000"/>
              <a:buNone/>
              <a:defRPr sz="1000"/>
            </a:lvl4pPr>
            <a:lvl5pPr marL="2286000" lvl="4" indent="-228600" algn="l">
              <a:lnSpc>
                <a:spcPct val="100000"/>
              </a:lnSpc>
              <a:spcBef>
                <a:spcPts val="1000"/>
              </a:spcBef>
              <a:spcAft>
                <a:spcPts val="0"/>
              </a:spcAft>
              <a:buSzPts val="1000"/>
              <a:buNone/>
              <a:defRPr sz="1000"/>
            </a:lvl5pPr>
            <a:lvl6pPr marL="2743200" lvl="5" indent="-228600" algn="l">
              <a:lnSpc>
                <a:spcPct val="100000"/>
              </a:lnSpc>
              <a:spcBef>
                <a:spcPts val="1000"/>
              </a:spcBef>
              <a:spcAft>
                <a:spcPts val="0"/>
              </a:spcAft>
              <a:buSzPts val="1000"/>
              <a:buNone/>
              <a:defRPr sz="1000"/>
            </a:lvl6pPr>
            <a:lvl7pPr marL="3200400" lvl="6" indent="-228600" algn="l">
              <a:lnSpc>
                <a:spcPct val="100000"/>
              </a:lnSpc>
              <a:spcBef>
                <a:spcPts val="1000"/>
              </a:spcBef>
              <a:spcAft>
                <a:spcPts val="0"/>
              </a:spcAft>
              <a:buSzPts val="1000"/>
              <a:buNone/>
              <a:defRPr sz="1000"/>
            </a:lvl7pPr>
            <a:lvl8pPr marL="3657600" lvl="7" indent="-228600" algn="l">
              <a:lnSpc>
                <a:spcPct val="100000"/>
              </a:lnSpc>
              <a:spcBef>
                <a:spcPts val="1000"/>
              </a:spcBef>
              <a:spcAft>
                <a:spcPts val="0"/>
              </a:spcAft>
              <a:buSzPts val="1000"/>
              <a:buNone/>
              <a:defRPr sz="1000"/>
            </a:lvl8pPr>
            <a:lvl9pPr marL="4114800" lvl="8" indent="-228600" algn="l">
              <a:lnSpc>
                <a:spcPct val="100000"/>
              </a:lnSpc>
              <a:spcBef>
                <a:spcPts val="1000"/>
              </a:spcBef>
              <a:spcAft>
                <a:spcPts val="0"/>
              </a:spcAft>
              <a:buSzPts val="1000"/>
              <a:buNone/>
              <a:defRPr sz="1000"/>
            </a:lvl9pPr>
          </a:lstStyle>
          <a:p>
            <a:endParaRPr/>
          </a:p>
        </p:txBody>
      </p:sp>
      <p:sp>
        <p:nvSpPr>
          <p:cNvPr id="89" name="Google Shape;89;p17"/>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ftr" idx="11"/>
          </p:nvPr>
        </p:nvSpPr>
        <p:spPr>
          <a:xfrm>
            <a:off x="804672" y="6236208"/>
            <a:ext cx="5124797"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7"/>
          <p:cNvSpPr>
            <a:spLocks noGrp="1"/>
          </p:cNvSpPr>
          <p:nvPr>
            <p:ph type="sldNum" idx="12"/>
          </p:nvPr>
        </p:nvSpPr>
        <p:spPr>
          <a:xfrm>
            <a:off x="10758922" y="6217920"/>
            <a:ext cx="365760" cy="365760"/>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2"/>
        <p:cNvGrpSpPr/>
        <p:nvPr/>
      </p:nvGrpSpPr>
      <p:grpSpPr>
        <a:xfrm>
          <a:off x="0" y="0"/>
          <a:ext cx="0" cy="0"/>
          <a:chOff x="0" y="0"/>
          <a:chExt cx="0" cy="0"/>
        </a:xfrm>
      </p:grpSpPr>
      <p:sp>
        <p:nvSpPr>
          <p:cNvPr id="93" name="Google Shape;93;p18"/>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18"/>
          <p:cNvSpPr txBox="1">
            <a:spLocks noGrp="1"/>
          </p:cNvSpPr>
          <p:nvPr>
            <p:ph type="body" idx="1"/>
          </p:nvPr>
        </p:nvSpPr>
        <p:spPr>
          <a:xfrm rot="5400000">
            <a:off x="4545009" y="324172"/>
            <a:ext cx="3101983" cy="772972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95" name="Google Shape;95;p18"/>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18"/>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18"/>
          <p:cNvSpPr>
            <a:spLocks noGrp="1"/>
          </p:cNvSpPr>
          <p:nvPr>
            <p:ph type="sldNum" idx="12"/>
          </p:nvPr>
        </p:nvSpPr>
        <p:spPr>
          <a:xfrm>
            <a:off x="10758922" y="6217920"/>
            <a:ext cx="365760" cy="365760"/>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rot="5400000">
            <a:off x="6810676" y="2779696"/>
            <a:ext cx="4983480" cy="1298608"/>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19"/>
          <p:cNvSpPr txBox="1">
            <a:spLocks noGrp="1"/>
          </p:cNvSpPr>
          <p:nvPr>
            <p:ph type="body" idx="1"/>
          </p:nvPr>
        </p:nvSpPr>
        <p:spPr>
          <a:xfrm rot="5400000">
            <a:off x="2838641" y="329756"/>
            <a:ext cx="4983480" cy="6198489"/>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01" name="Google Shape;101;p19"/>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19"/>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19"/>
          <p:cNvSpPr>
            <a:spLocks noGrp="1"/>
          </p:cNvSpPr>
          <p:nvPr>
            <p:ph type="sldNum" idx="12"/>
          </p:nvPr>
        </p:nvSpPr>
        <p:spPr>
          <a:xfrm>
            <a:off x="10758922" y="6217920"/>
            <a:ext cx="365760" cy="365760"/>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marR="0" lvl="0" algn="ctr" rtl="0">
              <a:lnSpc>
                <a:spcPct val="90000"/>
              </a:lnSpc>
              <a:spcBef>
                <a:spcPts val="0"/>
              </a:spcBef>
              <a:spcAft>
                <a:spcPts val="0"/>
              </a:spcAft>
              <a:buClr>
                <a:srgbClr val="262626"/>
              </a:buClr>
              <a:buSzPts val="2800"/>
              <a:buFont typeface="Bookman Old Style"/>
              <a:buNone/>
              <a:defRPr sz="2800" b="0" i="0" u="none" strike="noStrike" cap="none">
                <a:solidFill>
                  <a:srgbClr val="262626"/>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7"/>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2"/>
              </a:buClr>
              <a:buSzPts val="1800"/>
              <a:buFont typeface="Arial"/>
              <a:buChar char="•"/>
              <a:defRPr sz="1800" b="0" i="0" u="none" strike="noStrike" cap="none">
                <a:solidFill>
                  <a:srgbClr val="FEFEFE"/>
                </a:solidFill>
                <a:latin typeface="Bookman Old Style"/>
                <a:ea typeface="Bookman Old Style"/>
                <a:cs typeface="Bookman Old Style"/>
                <a:sym typeface="Bookman Old Style"/>
              </a:defRPr>
            </a:lvl1pPr>
            <a:lvl2pPr marL="914400" marR="0" lvl="1" indent="-330200" algn="l" rtl="0">
              <a:lnSpc>
                <a:spcPct val="100000"/>
              </a:lnSpc>
              <a:spcBef>
                <a:spcPts val="1000"/>
              </a:spcBef>
              <a:spcAft>
                <a:spcPts val="0"/>
              </a:spcAft>
              <a:buClr>
                <a:schemeClr val="accent2"/>
              </a:buClr>
              <a:buSzPts val="1600"/>
              <a:buFont typeface="Arial"/>
              <a:buChar char="•"/>
              <a:defRPr sz="1600" b="0" i="0" u="none" strike="noStrike" cap="none">
                <a:solidFill>
                  <a:srgbClr val="FEFEFE"/>
                </a:solidFill>
                <a:latin typeface="Bookman Old Style"/>
                <a:ea typeface="Bookman Old Style"/>
                <a:cs typeface="Bookman Old Style"/>
                <a:sym typeface="Bookman Old Style"/>
              </a:defRPr>
            </a:lvl2pPr>
            <a:lvl3pPr marL="1371600" marR="0" lvl="2" indent="-330200" algn="l" rtl="0">
              <a:lnSpc>
                <a:spcPct val="100000"/>
              </a:lnSpc>
              <a:spcBef>
                <a:spcPts val="1000"/>
              </a:spcBef>
              <a:spcAft>
                <a:spcPts val="0"/>
              </a:spcAft>
              <a:buClr>
                <a:schemeClr val="accent2"/>
              </a:buClr>
              <a:buSzPts val="1600"/>
              <a:buFont typeface="Arial"/>
              <a:buChar char="•"/>
              <a:defRPr sz="1600" b="0" i="0" u="none" strike="noStrike" cap="none">
                <a:solidFill>
                  <a:srgbClr val="FEFEFE"/>
                </a:solidFill>
                <a:latin typeface="Bookman Old Style"/>
                <a:ea typeface="Bookman Old Style"/>
                <a:cs typeface="Bookman Old Style"/>
                <a:sym typeface="Bookman Old Style"/>
              </a:defRPr>
            </a:lvl3pPr>
            <a:lvl4pPr marL="1828800" marR="0" lvl="3" indent="-330200" algn="l" rtl="0">
              <a:lnSpc>
                <a:spcPct val="100000"/>
              </a:lnSpc>
              <a:spcBef>
                <a:spcPts val="1000"/>
              </a:spcBef>
              <a:spcAft>
                <a:spcPts val="0"/>
              </a:spcAft>
              <a:buClr>
                <a:schemeClr val="accent2"/>
              </a:buClr>
              <a:buSzPts val="1600"/>
              <a:buFont typeface="Arial"/>
              <a:buChar char="•"/>
              <a:defRPr sz="1600" b="0" i="0" u="none" strike="noStrike" cap="none">
                <a:solidFill>
                  <a:srgbClr val="FEFEFE"/>
                </a:solidFill>
                <a:latin typeface="Bookman Old Style"/>
                <a:ea typeface="Bookman Old Style"/>
                <a:cs typeface="Bookman Old Style"/>
                <a:sym typeface="Bookman Old Style"/>
              </a:defRPr>
            </a:lvl4pPr>
            <a:lvl5pPr marL="2286000" marR="0" lvl="4" indent="-330200" algn="l" rtl="0">
              <a:lnSpc>
                <a:spcPct val="100000"/>
              </a:lnSpc>
              <a:spcBef>
                <a:spcPts val="1000"/>
              </a:spcBef>
              <a:spcAft>
                <a:spcPts val="0"/>
              </a:spcAft>
              <a:buClr>
                <a:schemeClr val="accent2"/>
              </a:buClr>
              <a:buSzPts val="1600"/>
              <a:buFont typeface="Arial"/>
              <a:buChar char="•"/>
              <a:defRPr sz="1600" b="0" i="0" u="none" strike="noStrike" cap="none">
                <a:solidFill>
                  <a:srgbClr val="FEFEFE"/>
                </a:solidFill>
                <a:latin typeface="Bookman Old Style"/>
                <a:ea typeface="Bookman Old Style"/>
                <a:cs typeface="Bookman Old Style"/>
                <a:sym typeface="Bookman Old Style"/>
              </a:defRPr>
            </a:lvl5pPr>
            <a:lvl6pPr marL="2743200" marR="0" lvl="5"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lt1"/>
                </a:solidFill>
                <a:latin typeface="Bookman Old Style"/>
                <a:ea typeface="Bookman Old Style"/>
                <a:cs typeface="Bookman Old Style"/>
                <a:sym typeface="Bookman Old Style"/>
              </a:defRPr>
            </a:lvl6pPr>
            <a:lvl7pPr marL="3200400" marR="0" lvl="6"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lt1"/>
                </a:solidFill>
                <a:latin typeface="Bookman Old Style"/>
                <a:ea typeface="Bookman Old Style"/>
                <a:cs typeface="Bookman Old Style"/>
                <a:sym typeface="Bookman Old Style"/>
              </a:defRPr>
            </a:lvl7pPr>
            <a:lvl8pPr marL="3657600" marR="0" lvl="7"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lt1"/>
                </a:solidFill>
                <a:latin typeface="Bookman Old Style"/>
                <a:ea typeface="Bookman Old Style"/>
                <a:cs typeface="Bookman Old Style"/>
                <a:sym typeface="Bookman Old Style"/>
              </a:defRPr>
            </a:lvl8pPr>
            <a:lvl9pPr marL="4114800" marR="0" lvl="8"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lt1"/>
                </a:solidFill>
                <a:latin typeface="Bookman Old Style"/>
                <a:ea typeface="Bookman Old Style"/>
                <a:cs typeface="Bookman Old Style"/>
                <a:sym typeface="Bookman Old Style"/>
              </a:defRPr>
            </a:lvl9pPr>
          </a:lstStyle>
          <a:p>
            <a:endParaRPr/>
          </a:p>
        </p:txBody>
      </p:sp>
      <p:sp>
        <p:nvSpPr>
          <p:cNvPr id="12" name="Google Shape;12;p7"/>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9pPr>
          </a:lstStyle>
          <a:p>
            <a:endParaRPr/>
          </a:p>
        </p:txBody>
      </p:sp>
      <p:sp>
        <p:nvSpPr>
          <p:cNvPr id="13" name="Google Shape;13;p7"/>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9pPr>
          </a:lstStyle>
          <a:p>
            <a:endParaRPr/>
          </a:p>
        </p:txBody>
      </p:sp>
      <p:sp>
        <p:nvSpPr>
          <p:cNvPr id="14" name="Google Shape;14;p7"/>
          <p:cNvSpPr>
            <a:spLocks noGrp="1"/>
          </p:cNvSpPr>
          <p:nvPr>
            <p:ph type="sldNum" idx="12"/>
          </p:nvPr>
        </p:nvSpPr>
        <p:spPr>
          <a:xfrm>
            <a:off x="10758922" y="6217920"/>
            <a:ext cx="365760" cy="365760"/>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marR="0" lvl="0" algn="ctr" rtl="0">
              <a:lnSpc>
                <a:spcPct val="90000"/>
              </a:lnSpc>
              <a:spcBef>
                <a:spcPts val="0"/>
              </a:spcBef>
              <a:spcAft>
                <a:spcPts val="0"/>
              </a:spcAft>
              <a:buClr>
                <a:srgbClr val="262626"/>
              </a:buClr>
              <a:buSzPts val="2800"/>
              <a:buFont typeface="Bookman Old Style"/>
              <a:buNone/>
              <a:defRPr sz="2800" b="0" i="0" u="none" strike="noStrike" cap="none">
                <a:solidFill>
                  <a:srgbClr val="262626"/>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4" name="Google Shape;24;p6"/>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2"/>
              </a:buClr>
              <a:buSzPts val="1800"/>
              <a:buFont typeface="Arial"/>
              <a:buChar char="•"/>
              <a:defRPr sz="1800" b="0" i="0" u="none" strike="noStrike" cap="none">
                <a:solidFill>
                  <a:srgbClr val="262626"/>
                </a:solidFill>
                <a:latin typeface="Bookman Old Style"/>
                <a:ea typeface="Bookman Old Style"/>
                <a:cs typeface="Bookman Old Style"/>
                <a:sym typeface="Bookman Old Style"/>
              </a:defRPr>
            </a:lvl1pPr>
            <a:lvl2pPr marL="914400" marR="0" lvl="1"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Bookman Old Style"/>
                <a:ea typeface="Bookman Old Style"/>
                <a:cs typeface="Bookman Old Style"/>
                <a:sym typeface="Bookman Old Style"/>
              </a:defRPr>
            </a:lvl2pPr>
            <a:lvl3pPr marL="1371600" marR="0" lvl="2"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Bookman Old Style"/>
                <a:ea typeface="Bookman Old Style"/>
                <a:cs typeface="Bookman Old Style"/>
                <a:sym typeface="Bookman Old Style"/>
              </a:defRPr>
            </a:lvl3pPr>
            <a:lvl4pPr marL="1828800" marR="0" lvl="3"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Bookman Old Style"/>
                <a:ea typeface="Bookman Old Style"/>
                <a:cs typeface="Bookman Old Style"/>
                <a:sym typeface="Bookman Old Style"/>
              </a:defRPr>
            </a:lvl4pPr>
            <a:lvl5pPr marL="2286000" marR="0" lvl="4"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Bookman Old Style"/>
                <a:ea typeface="Bookman Old Style"/>
                <a:cs typeface="Bookman Old Style"/>
                <a:sym typeface="Bookman Old Style"/>
              </a:defRPr>
            </a:lvl5pPr>
            <a:lvl6pPr marL="2743200" marR="0" lvl="5"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Bookman Old Style"/>
                <a:ea typeface="Bookman Old Style"/>
                <a:cs typeface="Bookman Old Style"/>
                <a:sym typeface="Bookman Old Style"/>
              </a:defRPr>
            </a:lvl6pPr>
            <a:lvl7pPr marL="3200400" marR="0" lvl="6"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Bookman Old Style"/>
                <a:ea typeface="Bookman Old Style"/>
                <a:cs typeface="Bookman Old Style"/>
                <a:sym typeface="Bookman Old Style"/>
              </a:defRPr>
            </a:lvl7pPr>
            <a:lvl8pPr marL="3657600" marR="0" lvl="7"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Bookman Old Style"/>
                <a:ea typeface="Bookman Old Style"/>
                <a:cs typeface="Bookman Old Style"/>
                <a:sym typeface="Bookman Old Style"/>
              </a:defRPr>
            </a:lvl8pPr>
            <a:lvl9pPr marL="4114800" marR="0" lvl="8"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25" name="Google Shape;25;p6"/>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dk1"/>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26" name="Google Shape;26;p6"/>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dk1"/>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27" name="Google Shape;27;p6"/>
          <p:cNvSpPr>
            <a:spLocks noGrp="1"/>
          </p:cNvSpPr>
          <p:nvPr>
            <p:ph type="sldNum" idx="12"/>
          </p:nvPr>
        </p:nvSpPr>
        <p:spPr>
          <a:xfrm>
            <a:off x="10758922" y="6217920"/>
            <a:ext cx="365760" cy="365760"/>
          </a:xfrm>
          <a:prstGeom prst="ellipse">
            <a:avLst/>
          </a:prstGeom>
          <a:solidFill>
            <a:srgbClr val="1D1D1D">
              <a:alpha val="68627"/>
            </a:srgbClr>
          </a:solidFill>
          <a:ln>
            <a:noFill/>
          </a:ln>
        </p:spPr>
        <p:txBody>
          <a:bodyPr spcFirstLastPara="1" wrap="square" lIns="18275" tIns="45700" rIns="18275" bIns="45700" anchor="ctr" anchorCtr="0">
            <a:noAutofit/>
          </a:bodyPr>
          <a:lstStyle>
            <a:lvl1pPr marL="0" marR="0" lvl="0"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
          <p:cNvSpPr txBox="1">
            <a:spLocks noGrp="1"/>
          </p:cNvSpPr>
          <p:nvPr>
            <p:ph type="ctrTitle"/>
          </p:nvPr>
        </p:nvSpPr>
        <p:spPr>
          <a:xfrm>
            <a:off x="1600200" y="2386752"/>
            <a:ext cx="8991600" cy="206100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fontScale="90000"/>
          </a:bodyPr>
          <a:lstStyle/>
          <a:p>
            <a:pPr marL="0" lvl="0" indent="0" algn="ctr" rtl="0">
              <a:spcBef>
                <a:spcPts val="0"/>
              </a:spcBef>
              <a:spcAft>
                <a:spcPts val="0"/>
              </a:spcAft>
              <a:buClr>
                <a:srgbClr val="262626"/>
              </a:buClr>
              <a:buSzPct val="100000"/>
              <a:buFont typeface="Bookman Old Style"/>
              <a:buNone/>
            </a:pPr>
            <a:r>
              <a:rPr lang="en-IN" dirty="0"/>
              <a:t>1010043316</a:t>
            </a:r>
            <a:endParaRPr dirty="0"/>
          </a:p>
          <a:p>
            <a:pPr marL="0" lvl="0" indent="0" algn="ctr" rtl="0">
              <a:spcBef>
                <a:spcPts val="0"/>
              </a:spcBef>
              <a:spcAft>
                <a:spcPts val="0"/>
              </a:spcAft>
              <a:buClr>
                <a:srgbClr val="262626"/>
              </a:buClr>
              <a:buSzPct val="100000"/>
              <a:buFont typeface="Bookman Old Style"/>
              <a:buNone/>
            </a:pPr>
            <a:r>
              <a:rPr lang="en-IN" dirty="0"/>
              <a:t>Analysis and Design of Algorithms</a:t>
            </a:r>
            <a:endParaRPr dirty="0"/>
          </a:p>
          <a:p>
            <a:pPr marL="0" lvl="0" indent="0" algn="ctr" rtl="0">
              <a:lnSpc>
                <a:spcPct val="90000"/>
              </a:lnSpc>
              <a:spcBef>
                <a:spcPts val="0"/>
              </a:spcBef>
              <a:spcAft>
                <a:spcPts val="0"/>
              </a:spcAft>
              <a:buClr>
                <a:srgbClr val="262626"/>
              </a:buClr>
              <a:buSzPct val="111764"/>
              <a:buFont typeface="Bookman Old Style"/>
              <a:buNone/>
            </a:pPr>
            <a:r>
              <a:rPr lang="en-IN"/>
              <a:t>Unit </a:t>
            </a:r>
            <a:r>
              <a:rPr lang="en-IN"/>
              <a:t>5</a:t>
            </a:r>
            <a:r>
              <a:rPr lang="en-IN" smtClean="0"/>
              <a:t>: </a:t>
            </a:r>
            <a:r>
              <a:rPr lang="en-IN" sz="3400"/>
              <a:t>ANALYSIS AND DESIGN ALGORITHMS LECTURE COMPANION</a:t>
            </a:r>
            <a:endParaRPr sz="3400" dirty="0"/>
          </a:p>
        </p:txBody>
      </p:sp>
      <p:sp>
        <p:nvSpPr>
          <p:cNvPr id="109" name="Google Shape;109;p1"/>
          <p:cNvSpPr txBox="1"/>
          <p:nvPr/>
        </p:nvSpPr>
        <p:spPr>
          <a:xfrm>
            <a:off x="4459800" y="5016150"/>
            <a:ext cx="3272400" cy="97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IN" sz="2000" dirty="0">
                <a:solidFill>
                  <a:srgbClr val="FEFEFE"/>
                </a:solidFill>
                <a:latin typeface="Bookman Old Style"/>
                <a:ea typeface="Bookman Old Style"/>
                <a:cs typeface="Bookman Old Style"/>
                <a:sym typeface="Bookman Old Style"/>
              </a:rPr>
              <a:t>SEMESTER: </a:t>
            </a:r>
            <a:r>
              <a:rPr lang="en-IN" sz="2000" dirty="0" smtClean="0">
                <a:solidFill>
                  <a:srgbClr val="FEFEFE"/>
                </a:solidFill>
                <a:latin typeface="Bookman Old Style"/>
                <a:ea typeface="Bookman Old Style"/>
                <a:cs typeface="Bookman Old Style"/>
                <a:sym typeface="Bookman Old Style"/>
              </a:rPr>
              <a:t>5</a:t>
            </a:r>
            <a:endParaRPr sz="2000" dirty="0">
              <a:solidFill>
                <a:srgbClr val="FEFEFE"/>
              </a:solidFill>
              <a:latin typeface="Bookman Old Style"/>
              <a:ea typeface="Bookman Old Style"/>
              <a:cs typeface="Bookman Old Style"/>
              <a:sym typeface="Bookman Old Styl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24275c33bf8_0_89"/>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IN"/>
              <a:t>BACKTRACKING AND BRANCH AND BOUND ALGORITHM </a:t>
            </a:r>
            <a:endParaRPr/>
          </a:p>
        </p:txBody>
      </p:sp>
      <p:sp>
        <p:nvSpPr>
          <p:cNvPr id="115" name="Google Shape;115;g24275c33bf8_0_89"/>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228600" lvl="0" indent="0" algn="l" rtl="0">
              <a:lnSpc>
                <a:spcPct val="100000"/>
              </a:lnSpc>
              <a:spcBef>
                <a:spcPts val="0"/>
              </a:spcBef>
              <a:spcAft>
                <a:spcPts val="0"/>
              </a:spcAft>
              <a:buSzPts val="1800"/>
              <a:buNone/>
            </a:pPr>
            <a:r>
              <a:rPr lang="en-IN" b="1"/>
              <a:t>Introduction of Backtracking:</a:t>
            </a:r>
            <a:endParaRPr b="1"/>
          </a:p>
          <a:p>
            <a:pPr marL="228600" lvl="0" indent="0" algn="l" rtl="0">
              <a:lnSpc>
                <a:spcPct val="100000"/>
              </a:lnSpc>
              <a:spcBef>
                <a:spcPts val="0"/>
              </a:spcBef>
              <a:spcAft>
                <a:spcPts val="0"/>
              </a:spcAft>
              <a:buSzPts val="1800"/>
              <a:buNone/>
            </a:pPr>
            <a:endParaRPr b="1"/>
          </a:p>
          <a:p>
            <a:pPr marL="228600" lvl="0" indent="-228600" algn="l" rtl="0">
              <a:lnSpc>
                <a:spcPct val="100000"/>
              </a:lnSpc>
              <a:spcBef>
                <a:spcPts val="0"/>
              </a:spcBef>
              <a:spcAft>
                <a:spcPts val="0"/>
              </a:spcAft>
              <a:buSzPts val="1800"/>
              <a:buChar char="•"/>
            </a:pPr>
            <a:r>
              <a:rPr lang="en-IN"/>
              <a:t>Recursive approach and it is refinement of brute force method.</a:t>
            </a:r>
            <a:endParaRPr/>
          </a:p>
          <a:p>
            <a:pPr marL="228600" lvl="0" indent="-228600" algn="l" rtl="0">
              <a:lnSpc>
                <a:spcPct val="100000"/>
              </a:lnSpc>
              <a:spcBef>
                <a:spcPts val="0"/>
              </a:spcBef>
              <a:spcAft>
                <a:spcPts val="0"/>
              </a:spcAft>
              <a:buSzPts val="1800"/>
              <a:buChar char="•"/>
            </a:pPr>
            <a:r>
              <a:rPr lang="en-IN"/>
              <a:t>Often faster than brute force approach.</a:t>
            </a:r>
            <a:endParaRPr/>
          </a:p>
          <a:p>
            <a:pPr marL="228600" lvl="0" indent="-228600" algn="l" rtl="0">
              <a:lnSpc>
                <a:spcPct val="100000"/>
              </a:lnSpc>
              <a:spcBef>
                <a:spcPts val="0"/>
              </a:spcBef>
              <a:spcAft>
                <a:spcPts val="0"/>
              </a:spcAft>
              <a:buSzPts val="1800"/>
              <a:buChar char="•"/>
            </a:pPr>
            <a:r>
              <a:rPr lang="en-IN"/>
              <a:t>Generate all partial candidates that could generate complete solution.</a:t>
            </a:r>
            <a:endParaRPr/>
          </a:p>
          <a:p>
            <a:pPr marL="228600" lvl="0" indent="-228600" algn="l" rtl="0">
              <a:lnSpc>
                <a:spcPct val="100000"/>
              </a:lnSpc>
              <a:spcBef>
                <a:spcPts val="0"/>
              </a:spcBef>
              <a:spcAft>
                <a:spcPts val="0"/>
              </a:spcAft>
              <a:buSzPts val="1800"/>
              <a:buChar char="•"/>
            </a:pPr>
            <a:r>
              <a:rPr lang="en-IN"/>
              <a:t>Partial solutions are explored in DFS order.</a:t>
            </a:r>
            <a:endParaRPr/>
          </a:p>
          <a:p>
            <a:pPr marL="228600" lvl="0" indent="-228600" algn="l" rtl="0">
              <a:lnSpc>
                <a:spcPct val="100000"/>
              </a:lnSpc>
              <a:spcBef>
                <a:spcPts val="0"/>
              </a:spcBef>
              <a:spcAft>
                <a:spcPts val="0"/>
              </a:spcAft>
              <a:buSzPts val="1800"/>
              <a:buChar char="•"/>
            </a:pPr>
            <a:r>
              <a:rPr lang="en-IN"/>
              <a:t>Decision problem:we search for the feasible solution</a:t>
            </a:r>
            <a:endParaRPr/>
          </a:p>
          <a:p>
            <a:pPr marL="228600" lvl="0" indent="-228600" algn="l" rtl="0">
              <a:lnSpc>
                <a:spcPct val="100000"/>
              </a:lnSpc>
              <a:spcBef>
                <a:spcPts val="0"/>
              </a:spcBef>
              <a:spcAft>
                <a:spcPts val="0"/>
              </a:spcAft>
              <a:buSzPts val="1800"/>
              <a:buChar char="•"/>
            </a:pPr>
            <a:r>
              <a:rPr lang="en-IN"/>
              <a:t>Optimization problem:we search for the best solution.</a:t>
            </a: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p:txBody>
      </p:sp>
      <p:sp>
        <p:nvSpPr>
          <p:cNvPr id="116" name="Google Shape;116;g24275c33bf8_0_89"/>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24275c33bf8_0_2"/>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IN"/>
              <a:t>Backtracking</a:t>
            </a:r>
            <a:endParaRPr/>
          </a:p>
        </p:txBody>
      </p:sp>
      <p:sp>
        <p:nvSpPr>
          <p:cNvPr id="122" name="Google Shape;122;g24275c33bf8_0_2"/>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800"/>
              <a:buNone/>
            </a:pPr>
            <a:endParaRPr/>
          </a:p>
          <a:p>
            <a:pPr marL="228600" lvl="0" indent="-228600" algn="l" rtl="0">
              <a:lnSpc>
                <a:spcPct val="100000"/>
              </a:lnSpc>
              <a:spcBef>
                <a:spcPts val="0"/>
              </a:spcBef>
              <a:spcAft>
                <a:spcPts val="0"/>
              </a:spcAft>
              <a:buSzPts val="2388"/>
              <a:buChar char="•"/>
            </a:pPr>
            <a:r>
              <a:rPr lang="en-IN" sz="2388" b="1"/>
              <a:t>Problem:</a:t>
            </a:r>
            <a:endParaRPr sz="2388" b="1"/>
          </a:p>
          <a:p>
            <a:pPr marL="228600" lvl="0" indent="-228600" algn="l" rtl="0">
              <a:lnSpc>
                <a:spcPct val="100000"/>
              </a:lnSpc>
              <a:spcBef>
                <a:spcPts val="0"/>
              </a:spcBef>
              <a:spcAft>
                <a:spcPts val="0"/>
              </a:spcAft>
              <a:buSzPts val="1800"/>
              <a:buChar char="•"/>
            </a:pPr>
            <a:r>
              <a:rPr lang="en-IN"/>
              <a:t>Find out all 3 bit binary number for which the sum of the 1’s is greater than or equal to 2.</a:t>
            </a:r>
            <a:endParaRPr/>
          </a:p>
          <a:p>
            <a:pPr marL="228600" lvl="0" indent="-228600" algn="l" rtl="0">
              <a:lnSpc>
                <a:spcPct val="100000"/>
              </a:lnSpc>
              <a:spcBef>
                <a:spcPts val="0"/>
              </a:spcBef>
              <a:spcAft>
                <a:spcPts val="0"/>
              </a:spcAft>
              <a:buSzPts val="1800"/>
              <a:buChar char="•"/>
            </a:pPr>
            <a:r>
              <a:rPr lang="en-IN"/>
              <a:t>The only way to solve this problem is to check all possibilities:(000,001,010,...,111)</a:t>
            </a:r>
            <a:endParaRPr/>
          </a:p>
          <a:p>
            <a:pPr marL="228600" lvl="0" indent="-228600" algn="l" rtl="0">
              <a:lnSpc>
                <a:spcPct val="100000"/>
              </a:lnSpc>
              <a:spcBef>
                <a:spcPts val="0"/>
              </a:spcBef>
              <a:spcAft>
                <a:spcPts val="0"/>
              </a:spcAft>
              <a:buSzPts val="1800"/>
              <a:buChar char="•"/>
            </a:pPr>
            <a:r>
              <a:rPr lang="en-IN"/>
              <a:t>The 8 possibilities are called the search space of the problem.They can be organized into a tree.</a:t>
            </a: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p:txBody>
      </p:sp>
      <p:sp>
        <p:nvSpPr>
          <p:cNvPr id="123" name="Google Shape;123;g24275c33bf8_0_2"/>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5"/>
          <p:cNvSpPr txBox="1">
            <a:spLocks noGrp="1"/>
          </p:cNvSpPr>
          <p:nvPr>
            <p:ph type="title"/>
          </p:nvPr>
        </p:nvSpPr>
        <p:spPr>
          <a:xfrm>
            <a:off x="886872" y="804678"/>
            <a:ext cx="4486800" cy="1141500"/>
          </a:xfrm>
          <a:prstGeom prst="rect">
            <a:avLst/>
          </a:prstGeom>
          <a:solidFill>
            <a:srgbClr val="FFFFFF"/>
          </a:solidFill>
          <a:ln w="9525" cap="flat" cmpd="sng">
            <a:solidFill>
              <a:srgbClr val="404040"/>
            </a:solidFill>
            <a:prstDash val="solid"/>
            <a:round/>
            <a:headEnd type="none" w="sm" len="sm"/>
            <a:tailEnd type="none" w="sm" len="sm"/>
          </a:ln>
        </p:spPr>
        <p:txBody>
          <a:bodyPr spcFirstLastPara="1" wrap="square" lIns="182875" tIns="182875" rIns="182875" bIns="182875" anchor="ctr" anchorCtr="1">
            <a:normAutofit/>
          </a:bodyPr>
          <a:lstStyle/>
          <a:p>
            <a:pPr marL="0" lvl="0" indent="0" algn="ctr" rtl="0">
              <a:lnSpc>
                <a:spcPct val="90000"/>
              </a:lnSpc>
              <a:spcBef>
                <a:spcPts val="0"/>
              </a:spcBef>
              <a:spcAft>
                <a:spcPts val="0"/>
              </a:spcAft>
              <a:buClr>
                <a:srgbClr val="262626"/>
              </a:buClr>
              <a:buSzPts val="2200"/>
              <a:buFont typeface="Bookman Old Style"/>
              <a:buNone/>
            </a:pPr>
            <a:r>
              <a:rPr lang="en-IN"/>
              <a:t>Processing of Backtracking</a:t>
            </a:r>
            <a:endParaRPr/>
          </a:p>
        </p:txBody>
      </p:sp>
      <p:sp>
        <p:nvSpPr>
          <p:cNvPr id="129" name="Google Shape;129;p5"/>
          <p:cNvSpPr txBox="1">
            <a:spLocks noGrp="1"/>
          </p:cNvSpPr>
          <p:nvPr>
            <p:ph type="body" idx="1"/>
          </p:nvPr>
        </p:nvSpPr>
        <p:spPr>
          <a:xfrm>
            <a:off x="6736080" y="804672"/>
            <a:ext cx="4815840" cy="5248656"/>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2100"/>
              <a:buChar char="•"/>
            </a:pPr>
            <a:r>
              <a:rPr lang="en-IN" sz="2100">
                <a:solidFill>
                  <a:srgbClr val="262626"/>
                </a:solidFill>
              </a:rPr>
              <a:t>For some problem, the only way to solve is to check all possibilities.</a:t>
            </a:r>
            <a:endParaRPr sz="2100">
              <a:solidFill>
                <a:srgbClr val="262626"/>
              </a:solidFill>
            </a:endParaRPr>
          </a:p>
          <a:p>
            <a:pPr marL="228600" lvl="0" indent="-228600" algn="l" rtl="0">
              <a:lnSpc>
                <a:spcPct val="100000"/>
              </a:lnSpc>
              <a:spcBef>
                <a:spcPts val="0"/>
              </a:spcBef>
              <a:spcAft>
                <a:spcPts val="0"/>
              </a:spcAft>
              <a:buClr>
                <a:srgbClr val="262626"/>
              </a:buClr>
              <a:buSzPts val="2100"/>
              <a:buChar char="•"/>
            </a:pPr>
            <a:r>
              <a:rPr lang="en-IN" sz="2100">
                <a:solidFill>
                  <a:srgbClr val="262626"/>
                </a:solidFill>
              </a:rPr>
              <a:t>Backtracking ia a systematic way to go through all the possible configuration of a search space.</a:t>
            </a:r>
            <a:endParaRPr sz="2100">
              <a:solidFill>
                <a:srgbClr val="262626"/>
              </a:solidFill>
            </a:endParaRPr>
          </a:p>
          <a:p>
            <a:pPr marL="228600" lvl="0" indent="-228600" algn="l" rtl="0">
              <a:lnSpc>
                <a:spcPct val="100000"/>
              </a:lnSpc>
              <a:spcBef>
                <a:spcPts val="0"/>
              </a:spcBef>
              <a:spcAft>
                <a:spcPts val="0"/>
              </a:spcAft>
              <a:buClr>
                <a:srgbClr val="262626"/>
              </a:buClr>
              <a:buSzPts val="2100"/>
              <a:buChar char="•"/>
            </a:pPr>
            <a:r>
              <a:rPr lang="en-IN" sz="2100">
                <a:solidFill>
                  <a:srgbClr val="262626"/>
                </a:solidFill>
              </a:rPr>
              <a:t>The principle idea of backtracking is to construct solutions as component at a time and then evaluate such partially constructed solutions.</a:t>
            </a:r>
            <a:endParaRPr sz="2100">
              <a:solidFill>
                <a:srgbClr val="262626"/>
              </a:solidFill>
            </a:endParaRPr>
          </a:p>
          <a:p>
            <a:pPr marL="228600" lvl="0" indent="-107950" algn="l" rtl="0">
              <a:lnSpc>
                <a:spcPct val="100000"/>
              </a:lnSpc>
              <a:spcBef>
                <a:spcPts val="0"/>
              </a:spcBef>
              <a:spcAft>
                <a:spcPts val="0"/>
              </a:spcAft>
              <a:buSzPts val="1900"/>
              <a:buNone/>
            </a:pPr>
            <a:endParaRPr/>
          </a:p>
        </p:txBody>
      </p:sp>
      <p:sp>
        <p:nvSpPr>
          <p:cNvPr id="130" name="Google Shape;130;p5"/>
          <p:cNvSpPr>
            <a:spLocks noGrp="1"/>
          </p:cNvSpPr>
          <p:nvPr>
            <p:ph type="sldNum" idx="12"/>
          </p:nvPr>
        </p:nvSpPr>
        <p:spPr>
          <a:xfrm>
            <a:off x="10758922" y="6217920"/>
            <a:ext cx="365760" cy="36576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4</a:t>
            </a:fld>
            <a:endParaRPr/>
          </a:p>
        </p:txBody>
      </p:sp>
      <p:pic>
        <p:nvPicPr>
          <p:cNvPr id="131" name="Google Shape;131;p5"/>
          <p:cNvPicPr preferRelativeResize="0"/>
          <p:nvPr/>
        </p:nvPicPr>
        <p:blipFill rotWithShape="1">
          <a:blip r:embed="rId3">
            <a:alphaModFix/>
          </a:blip>
          <a:srcRect/>
          <a:stretch/>
        </p:blipFill>
        <p:spPr>
          <a:xfrm>
            <a:off x="481625" y="2294449"/>
            <a:ext cx="5124800" cy="3596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24275c33bf8_0_35"/>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IN"/>
              <a:t>Advantages of Backtracking</a:t>
            </a:r>
            <a:endParaRPr/>
          </a:p>
        </p:txBody>
      </p:sp>
      <p:sp>
        <p:nvSpPr>
          <p:cNvPr id="137" name="Google Shape;137;g24275c33bf8_0_35"/>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800"/>
              <a:buNone/>
            </a:pPr>
            <a:endParaRPr sz="2388" b="1"/>
          </a:p>
          <a:p>
            <a:pPr marL="228600" lvl="0" indent="-228600" algn="l" rtl="0">
              <a:lnSpc>
                <a:spcPct val="100000"/>
              </a:lnSpc>
              <a:spcBef>
                <a:spcPts val="0"/>
              </a:spcBef>
              <a:spcAft>
                <a:spcPts val="0"/>
              </a:spcAft>
              <a:buSzPts val="1900"/>
              <a:buChar char="•"/>
            </a:pPr>
            <a:r>
              <a:rPr lang="en-IN" sz="1900"/>
              <a:t>Best option for solving tactical problem.</a:t>
            </a:r>
            <a:endParaRPr sz="1900"/>
          </a:p>
          <a:p>
            <a:pPr marL="228600" lvl="0" indent="-228600" algn="l" rtl="0">
              <a:lnSpc>
                <a:spcPct val="100000"/>
              </a:lnSpc>
              <a:spcBef>
                <a:spcPts val="0"/>
              </a:spcBef>
              <a:spcAft>
                <a:spcPts val="0"/>
              </a:spcAft>
              <a:buSzPts val="1900"/>
              <a:buChar char="•"/>
            </a:pPr>
            <a:r>
              <a:rPr lang="en-IN" sz="1900"/>
              <a:t>Backtracking is effective for constraint satisfaction problem.</a:t>
            </a:r>
            <a:endParaRPr sz="1900"/>
          </a:p>
          <a:p>
            <a:pPr marL="228600" lvl="0" indent="-228600" algn="l" rtl="0">
              <a:lnSpc>
                <a:spcPct val="100000"/>
              </a:lnSpc>
              <a:spcBef>
                <a:spcPts val="0"/>
              </a:spcBef>
              <a:spcAft>
                <a:spcPts val="0"/>
              </a:spcAft>
              <a:buSzPts val="1900"/>
              <a:buChar char="•"/>
            </a:pPr>
            <a:r>
              <a:rPr lang="en-IN" sz="1900"/>
              <a:t>Simple to implement and easy to code.</a:t>
            </a:r>
            <a:endParaRPr sz="1900"/>
          </a:p>
          <a:p>
            <a:pPr marL="228600" lvl="0" indent="-228600" algn="l" rtl="0">
              <a:lnSpc>
                <a:spcPct val="100000"/>
              </a:lnSpc>
              <a:spcBef>
                <a:spcPts val="0"/>
              </a:spcBef>
              <a:spcAft>
                <a:spcPts val="0"/>
              </a:spcAft>
              <a:buSzPts val="1900"/>
              <a:buChar char="•"/>
            </a:pPr>
            <a:r>
              <a:rPr lang="en-IN" sz="1900"/>
              <a:t>Comparison with DP, Backtracking approach is more effective in some cases.</a:t>
            </a:r>
            <a:endParaRPr sz="1900"/>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p:txBody>
      </p:sp>
      <p:sp>
        <p:nvSpPr>
          <p:cNvPr id="138" name="Google Shape;138;g24275c33bf8_0_35"/>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g24275c33bf8_0_27"/>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IN"/>
              <a:t>Disadvantages of Backtracking</a:t>
            </a:r>
            <a:endParaRPr/>
          </a:p>
        </p:txBody>
      </p:sp>
      <p:sp>
        <p:nvSpPr>
          <p:cNvPr id="144" name="Google Shape;144;g24275c33bf8_0_27"/>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800"/>
              <a:buNone/>
            </a:pPr>
            <a:endParaRPr sz="2388" b="1"/>
          </a:p>
          <a:p>
            <a:pPr marL="228600" lvl="0" indent="-228600" algn="l" rtl="0">
              <a:lnSpc>
                <a:spcPct val="100000"/>
              </a:lnSpc>
              <a:spcBef>
                <a:spcPts val="0"/>
              </a:spcBef>
              <a:spcAft>
                <a:spcPts val="0"/>
              </a:spcAft>
              <a:buSzPts val="1800"/>
              <a:buChar char="•"/>
            </a:pPr>
            <a:r>
              <a:rPr lang="en-IN"/>
              <a:t>The overall runtime of Backtracking algorithm is normally slow</a:t>
            </a:r>
            <a:endParaRPr/>
          </a:p>
          <a:p>
            <a:pPr marL="228600" lvl="0" indent="-228600" algn="l" rtl="0">
              <a:lnSpc>
                <a:spcPct val="100000"/>
              </a:lnSpc>
              <a:spcBef>
                <a:spcPts val="0"/>
              </a:spcBef>
              <a:spcAft>
                <a:spcPts val="0"/>
              </a:spcAft>
              <a:buSzPts val="1800"/>
              <a:buChar char="•"/>
            </a:pPr>
            <a:r>
              <a:rPr lang="en-IN"/>
              <a:t>Need large amount of memory space</a:t>
            </a:r>
            <a:endParaRPr/>
          </a:p>
          <a:p>
            <a:pPr marL="228600" lvl="0" indent="-228600" algn="l" rtl="0">
              <a:lnSpc>
                <a:spcPct val="100000"/>
              </a:lnSpc>
              <a:spcBef>
                <a:spcPts val="0"/>
              </a:spcBef>
              <a:spcAft>
                <a:spcPts val="0"/>
              </a:spcAft>
              <a:buSzPts val="1800"/>
              <a:buChar char="•"/>
            </a:pPr>
            <a:r>
              <a:rPr lang="en-IN"/>
              <a:t>Thrashing is one of the main problem of Backtracking.</a:t>
            </a:r>
            <a:endParaRPr/>
          </a:p>
          <a:p>
            <a:pPr marL="228600" lvl="0" indent="-228600" algn="l" rtl="0">
              <a:lnSpc>
                <a:spcPct val="100000"/>
              </a:lnSpc>
              <a:spcBef>
                <a:spcPts val="0"/>
              </a:spcBef>
              <a:spcAft>
                <a:spcPts val="0"/>
              </a:spcAft>
              <a:buSzPts val="1800"/>
              <a:buChar char="•"/>
            </a:pPr>
            <a:r>
              <a:rPr lang="en-IN"/>
              <a:t>To solve large problem sometimes it needs to take help of other techniques like Branch and Bound.</a:t>
            </a:r>
            <a:endParaRPr/>
          </a:p>
          <a:p>
            <a:pPr marL="228600" lvl="0" indent="-228600" algn="l" rtl="0">
              <a:lnSpc>
                <a:spcPct val="100000"/>
              </a:lnSpc>
              <a:spcBef>
                <a:spcPts val="0"/>
              </a:spcBef>
              <a:spcAft>
                <a:spcPts val="0"/>
              </a:spcAft>
              <a:buSzPts val="1800"/>
              <a:buChar char="•"/>
            </a:pPr>
            <a:r>
              <a:rPr lang="en-IN"/>
              <a:t>The basic approach detects the conflicts too late.</a:t>
            </a: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p:txBody>
      </p:sp>
      <p:sp>
        <p:nvSpPr>
          <p:cNvPr id="145" name="Google Shape;145;g24275c33bf8_0_27"/>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g24275c33bf8_0_43"/>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dirty="0"/>
              <a:t>            Application </a:t>
            </a:r>
            <a:r>
              <a:rPr lang="en-IN" dirty="0" smtClean="0"/>
              <a:t>of </a:t>
            </a:r>
            <a:r>
              <a:rPr lang="en-IN" dirty="0"/>
              <a:t>Backtracking</a:t>
            </a:r>
            <a:endParaRPr dirty="0"/>
          </a:p>
        </p:txBody>
      </p:sp>
      <p:sp>
        <p:nvSpPr>
          <p:cNvPr id="151" name="Google Shape;151;g24275c33bf8_0_43"/>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800"/>
              <a:buNone/>
            </a:pPr>
            <a:endParaRPr sz="2388" b="1"/>
          </a:p>
          <a:p>
            <a:pPr marL="228600" lvl="0" indent="-228600" algn="l" rtl="0">
              <a:lnSpc>
                <a:spcPct val="100000"/>
              </a:lnSpc>
              <a:spcBef>
                <a:spcPts val="0"/>
              </a:spcBef>
              <a:spcAft>
                <a:spcPts val="0"/>
              </a:spcAft>
              <a:buSzPts val="1800"/>
              <a:buChar char="•"/>
            </a:pPr>
            <a:r>
              <a:rPr lang="en-IN"/>
              <a:t>Constraints satisfaction problem</a:t>
            </a:r>
            <a:endParaRPr/>
          </a:p>
          <a:p>
            <a:pPr marL="228600" lvl="0" indent="-228600" algn="l" rtl="0">
              <a:lnSpc>
                <a:spcPct val="100000"/>
              </a:lnSpc>
              <a:spcBef>
                <a:spcPts val="0"/>
              </a:spcBef>
              <a:spcAft>
                <a:spcPts val="0"/>
              </a:spcAft>
              <a:buSzPts val="1800"/>
              <a:buChar char="•"/>
            </a:pPr>
            <a:r>
              <a:rPr lang="en-IN"/>
              <a:t>Electrical Engineering</a:t>
            </a:r>
            <a:endParaRPr/>
          </a:p>
          <a:p>
            <a:pPr marL="228600" lvl="0" indent="-228600" algn="l" rtl="0">
              <a:lnSpc>
                <a:spcPct val="100000"/>
              </a:lnSpc>
              <a:spcBef>
                <a:spcPts val="0"/>
              </a:spcBef>
              <a:spcAft>
                <a:spcPts val="0"/>
              </a:spcAft>
              <a:buSzPts val="1800"/>
              <a:buChar char="•"/>
            </a:pPr>
            <a:r>
              <a:rPr lang="en-IN"/>
              <a:t>Robotics</a:t>
            </a:r>
            <a:endParaRPr/>
          </a:p>
          <a:p>
            <a:pPr marL="228600" lvl="0" indent="-228600" algn="l" rtl="0">
              <a:lnSpc>
                <a:spcPct val="100000"/>
              </a:lnSpc>
              <a:spcBef>
                <a:spcPts val="0"/>
              </a:spcBef>
              <a:spcAft>
                <a:spcPts val="0"/>
              </a:spcAft>
              <a:buSzPts val="1800"/>
              <a:buChar char="•"/>
            </a:pPr>
            <a:r>
              <a:rPr lang="en-IN"/>
              <a:t>Artificial Intelligence</a:t>
            </a:r>
            <a:endParaRPr/>
          </a:p>
          <a:p>
            <a:pPr marL="228600" lvl="0" indent="-228600" algn="l" rtl="0">
              <a:lnSpc>
                <a:spcPct val="100000"/>
              </a:lnSpc>
              <a:spcBef>
                <a:spcPts val="0"/>
              </a:spcBef>
              <a:spcAft>
                <a:spcPts val="0"/>
              </a:spcAft>
              <a:buSzPts val="1800"/>
              <a:buChar char="•"/>
            </a:pPr>
            <a:r>
              <a:rPr lang="en-IN"/>
              <a:t>Genetic and bioinformatics algorithm</a:t>
            </a:r>
            <a:endParaRPr/>
          </a:p>
          <a:p>
            <a:pPr marL="228600" lvl="0" indent="-228600" algn="l" rtl="0">
              <a:lnSpc>
                <a:spcPct val="100000"/>
              </a:lnSpc>
              <a:spcBef>
                <a:spcPts val="0"/>
              </a:spcBef>
              <a:spcAft>
                <a:spcPts val="0"/>
              </a:spcAft>
              <a:buSzPts val="1800"/>
              <a:buChar char="•"/>
            </a:pPr>
            <a:r>
              <a:rPr lang="en-IN"/>
              <a:t>Network communication </a:t>
            </a:r>
            <a:endParaRPr/>
          </a:p>
          <a:p>
            <a:pPr marL="228600" lvl="0" indent="-228600" algn="l" rtl="0">
              <a:lnSpc>
                <a:spcPct val="100000"/>
              </a:lnSpc>
              <a:spcBef>
                <a:spcPts val="0"/>
              </a:spcBef>
              <a:spcAft>
                <a:spcPts val="0"/>
              </a:spcAft>
              <a:buSzPts val="1800"/>
              <a:buChar char="•"/>
            </a:pPr>
            <a:r>
              <a:rPr lang="en-IN"/>
              <a:t>Solving puzzle and path</a:t>
            </a: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p:txBody>
      </p:sp>
      <p:sp>
        <p:nvSpPr>
          <p:cNvPr id="152" name="Google Shape;152;g24275c33bf8_0_43"/>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4275c33bf8_0_51"/>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dirty="0"/>
              <a:t>   			</a:t>
            </a:r>
            <a:r>
              <a:rPr lang="en-IN" dirty="0" smtClean="0"/>
              <a:t>N-Queen </a:t>
            </a:r>
            <a:r>
              <a:rPr lang="en-IN" dirty="0"/>
              <a:t>Problem</a:t>
            </a:r>
            <a:endParaRPr dirty="0"/>
          </a:p>
        </p:txBody>
      </p:sp>
      <p:sp>
        <p:nvSpPr>
          <p:cNvPr id="158" name="Google Shape;158;g24275c33bf8_0_51"/>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100000"/>
              </a:lnSpc>
              <a:spcBef>
                <a:spcPts val="0"/>
              </a:spcBef>
              <a:spcAft>
                <a:spcPts val="0"/>
              </a:spcAft>
              <a:buSzPct val="159999"/>
              <a:buNone/>
            </a:pPr>
            <a:endParaRPr/>
          </a:p>
          <a:p>
            <a:pPr marL="228600" lvl="0" indent="-201265" algn="l" rtl="0">
              <a:lnSpc>
                <a:spcPct val="100000"/>
              </a:lnSpc>
              <a:spcBef>
                <a:spcPts val="0"/>
              </a:spcBef>
              <a:spcAft>
                <a:spcPts val="0"/>
              </a:spcAft>
              <a:buSzPct val="100000"/>
              <a:buChar char="•"/>
            </a:pPr>
            <a:r>
              <a:rPr lang="en-IN" sz="2187" b="1"/>
              <a:t>Problem:</a:t>
            </a:r>
            <a:endParaRPr sz="2187" b="1"/>
          </a:p>
          <a:p>
            <a:pPr marL="228600" lvl="0" indent="-201265" algn="l" rtl="0">
              <a:lnSpc>
                <a:spcPct val="100000"/>
              </a:lnSpc>
              <a:spcBef>
                <a:spcPts val="0"/>
              </a:spcBef>
              <a:spcAft>
                <a:spcPts val="0"/>
              </a:spcAft>
              <a:buSzPct val="100000"/>
              <a:buChar char="•"/>
            </a:pPr>
            <a:endParaRPr sz="2187" b="1"/>
          </a:p>
          <a:p>
            <a:pPr marL="228600" lvl="0" indent="-197898" algn="l" rtl="0">
              <a:lnSpc>
                <a:spcPct val="100000"/>
              </a:lnSpc>
              <a:spcBef>
                <a:spcPts val="0"/>
              </a:spcBef>
              <a:spcAft>
                <a:spcPts val="0"/>
              </a:spcAft>
              <a:buSzPct val="100000"/>
              <a:buChar char="•"/>
            </a:pPr>
            <a:r>
              <a:rPr lang="en-IN" sz="2102"/>
              <a:t>To place n queens on an n by n chessboard so that no two queens attack each other by being in the same row, or in the same column, or in the same diagonal.</a:t>
            </a:r>
            <a:endParaRPr sz="2102"/>
          </a:p>
          <a:p>
            <a:pPr marL="0" lvl="0" indent="0" algn="l" rtl="0">
              <a:lnSpc>
                <a:spcPct val="100000"/>
              </a:lnSpc>
              <a:spcBef>
                <a:spcPts val="0"/>
              </a:spcBef>
              <a:spcAft>
                <a:spcPts val="0"/>
              </a:spcAft>
              <a:buSzPct val="159999"/>
              <a:buNone/>
            </a:pPr>
            <a:endParaRPr b="1"/>
          </a:p>
          <a:p>
            <a:pPr marL="0" lvl="0" indent="0" algn="l" rtl="0">
              <a:lnSpc>
                <a:spcPct val="100000"/>
              </a:lnSpc>
              <a:spcBef>
                <a:spcPts val="0"/>
              </a:spcBef>
              <a:spcAft>
                <a:spcPts val="0"/>
              </a:spcAft>
              <a:buSzPct val="159999"/>
              <a:buNone/>
            </a:pPr>
            <a:endParaRPr b="1"/>
          </a:p>
          <a:p>
            <a:pPr marL="228600" lvl="0" indent="-202839" algn="l" rtl="0">
              <a:lnSpc>
                <a:spcPct val="100000"/>
              </a:lnSpc>
              <a:spcBef>
                <a:spcPts val="0"/>
              </a:spcBef>
              <a:spcAft>
                <a:spcPts val="0"/>
              </a:spcAft>
              <a:buSzPct val="100000"/>
              <a:buChar char="•"/>
            </a:pPr>
            <a:r>
              <a:rPr lang="en-IN" sz="2228" b="1"/>
              <a:t>Observation:</a:t>
            </a:r>
            <a:endParaRPr sz="2228" b="1"/>
          </a:p>
          <a:p>
            <a:pPr marL="228600" lvl="0" indent="0" algn="l" rtl="0">
              <a:lnSpc>
                <a:spcPct val="100000"/>
              </a:lnSpc>
              <a:spcBef>
                <a:spcPts val="0"/>
              </a:spcBef>
              <a:spcAft>
                <a:spcPts val="0"/>
              </a:spcAft>
              <a:buSzPct val="159999"/>
              <a:buNone/>
            </a:pPr>
            <a:endParaRPr/>
          </a:p>
          <a:p>
            <a:pPr marL="228600" lvl="0" indent="-197898" algn="l" rtl="0">
              <a:lnSpc>
                <a:spcPct val="100000"/>
              </a:lnSpc>
              <a:spcBef>
                <a:spcPts val="0"/>
              </a:spcBef>
              <a:spcAft>
                <a:spcPts val="0"/>
              </a:spcAft>
              <a:buSzPct val="100000"/>
              <a:buChar char="•"/>
            </a:pPr>
            <a:r>
              <a:rPr lang="en-IN" sz="2102"/>
              <a:t>Case 1 : n=1</a:t>
            </a:r>
            <a:endParaRPr sz="2102"/>
          </a:p>
          <a:p>
            <a:pPr marL="228600" lvl="0" indent="-203447" algn="l" rtl="0">
              <a:lnSpc>
                <a:spcPct val="100000"/>
              </a:lnSpc>
              <a:spcBef>
                <a:spcPts val="0"/>
              </a:spcBef>
              <a:spcAft>
                <a:spcPts val="0"/>
              </a:spcAft>
              <a:buSzPct val="100000"/>
              <a:buChar char="•"/>
            </a:pPr>
            <a:r>
              <a:rPr lang="en-IN" sz="2245"/>
              <a:t>Case 2 : n=2</a:t>
            </a:r>
            <a:endParaRPr sz="2245"/>
          </a:p>
          <a:p>
            <a:pPr marL="228600" lvl="0" indent="-203447" algn="l" rtl="0">
              <a:lnSpc>
                <a:spcPct val="100000"/>
              </a:lnSpc>
              <a:spcBef>
                <a:spcPts val="0"/>
              </a:spcBef>
              <a:spcAft>
                <a:spcPts val="0"/>
              </a:spcAft>
              <a:buSzPct val="100000"/>
              <a:buChar char="•"/>
            </a:pPr>
            <a:r>
              <a:rPr lang="en-IN" sz="2245"/>
              <a:t>Case 3 : n=3</a:t>
            </a:r>
            <a:endParaRPr sz="2245"/>
          </a:p>
          <a:p>
            <a:pPr marL="228600" lvl="0" indent="-203447" algn="l" rtl="0">
              <a:lnSpc>
                <a:spcPct val="100000"/>
              </a:lnSpc>
              <a:spcBef>
                <a:spcPts val="0"/>
              </a:spcBef>
              <a:spcAft>
                <a:spcPts val="0"/>
              </a:spcAft>
              <a:buSzPct val="100000"/>
              <a:buChar char="•"/>
            </a:pPr>
            <a:r>
              <a:rPr lang="en-IN" sz="2245"/>
              <a:t>Case 4 : n=4  </a:t>
            </a:r>
            <a:endParaRPr sz="2245"/>
          </a:p>
          <a:p>
            <a:pPr marL="228600" lvl="0" indent="0" algn="l" rtl="0">
              <a:lnSpc>
                <a:spcPct val="100000"/>
              </a:lnSpc>
              <a:spcBef>
                <a:spcPts val="0"/>
              </a:spcBef>
              <a:spcAft>
                <a:spcPts val="0"/>
              </a:spcAft>
              <a:buSzPct val="128284"/>
              <a:buNone/>
            </a:pPr>
            <a:endParaRPr sz="2245"/>
          </a:p>
          <a:p>
            <a:pPr marL="228600" lvl="0" indent="0" algn="l" rtl="0">
              <a:lnSpc>
                <a:spcPct val="100000"/>
              </a:lnSpc>
              <a:spcBef>
                <a:spcPts val="0"/>
              </a:spcBef>
              <a:spcAft>
                <a:spcPts val="0"/>
              </a:spcAft>
              <a:buSzPct val="148300"/>
              <a:buNone/>
            </a:pPr>
            <a:endParaRPr sz="1942"/>
          </a:p>
          <a:p>
            <a:pPr marL="228600" lvl="0" indent="0" algn="l" rtl="0">
              <a:lnSpc>
                <a:spcPct val="100000"/>
              </a:lnSpc>
              <a:spcBef>
                <a:spcPts val="0"/>
              </a:spcBef>
              <a:spcAft>
                <a:spcPts val="0"/>
              </a:spcAft>
              <a:buSzPct val="159999"/>
              <a:buNone/>
            </a:pPr>
            <a:endParaRPr/>
          </a:p>
          <a:p>
            <a:pPr marL="228600" lvl="0" indent="0" algn="l" rtl="0">
              <a:lnSpc>
                <a:spcPct val="100000"/>
              </a:lnSpc>
              <a:spcBef>
                <a:spcPts val="0"/>
              </a:spcBef>
              <a:spcAft>
                <a:spcPts val="0"/>
              </a:spcAft>
              <a:buSzPct val="159999"/>
              <a:buNone/>
            </a:pPr>
            <a:endParaRPr/>
          </a:p>
          <a:p>
            <a:pPr marL="228600" lvl="0" indent="0" algn="l" rtl="0">
              <a:lnSpc>
                <a:spcPct val="100000"/>
              </a:lnSpc>
              <a:spcBef>
                <a:spcPts val="0"/>
              </a:spcBef>
              <a:spcAft>
                <a:spcPts val="0"/>
              </a:spcAft>
              <a:buSzPct val="159999"/>
              <a:buNone/>
            </a:pPr>
            <a:endParaRPr/>
          </a:p>
        </p:txBody>
      </p:sp>
      <p:sp>
        <p:nvSpPr>
          <p:cNvPr id="159" name="Google Shape;159;g24275c33bf8_0_51"/>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24275c33bf8_0_59"/>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dirty="0"/>
              <a:t>   			</a:t>
            </a:r>
            <a:r>
              <a:rPr lang="en-IN" dirty="0" smtClean="0"/>
              <a:t>N-Queen </a:t>
            </a:r>
            <a:r>
              <a:rPr lang="en-IN" dirty="0"/>
              <a:t>Problem</a:t>
            </a:r>
            <a:endParaRPr dirty="0"/>
          </a:p>
        </p:txBody>
      </p:sp>
      <p:sp>
        <p:nvSpPr>
          <p:cNvPr id="165" name="Google Shape;165;g24275c33bf8_0_59"/>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ct val="108107"/>
              <a:buNone/>
            </a:pPr>
            <a:endParaRPr/>
          </a:p>
          <a:p>
            <a:pPr marL="228600" lvl="0" indent="-228661" algn="l" rtl="0">
              <a:lnSpc>
                <a:spcPct val="100000"/>
              </a:lnSpc>
              <a:spcBef>
                <a:spcPts val="0"/>
              </a:spcBef>
              <a:spcAft>
                <a:spcPts val="0"/>
              </a:spcAft>
              <a:buSzPct val="100000"/>
              <a:buChar char="•"/>
            </a:pPr>
            <a:r>
              <a:rPr lang="en-IN" sz="2187" b="1"/>
              <a:t>For example:</a:t>
            </a:r>
            <a:endParaRPr sz="2187" b="1"/>
          </a:p>
          <a:p>
            <a:pPr marL="228600" lvl="0" indent="-228637" algn="l" rtl="0">
              <a:lnSpc>
                <a:spcPct val="100000"/>
              </a:lnSpc>
              <a:spcBef>
                <a:spcPts val="0"/>
              </a:spcBef>
              <a:spcAft>
                <a:spcPts val="0"/>
              </a:spcAft>
              <a:buSzPct val="93638"/>
              <a:buChar char="•"/>
            </a:pPr>
            <a:r>
              <a:rPr lang="en-IN" sz="2245"/>
              <a:t>To explain n queen problem, n=4 using a 4 by 4 chessboard where 4 Queens have to be placed in such a way so that no two queen can attack each other.</a:t>
            </a:r>
            <a:endParaRPr sz="2245"/>
          </a:p>
          <a:p>
            <a:pPr marL="228600" lvl="0" indent="-228639" algn="l" rtl="0">
              <a:lnSpc>
                <a:spcPct val="100000"/>
              </a:lnSpc>
              <a:spcBef>
                <a:spcPts val="0"/>
              </a:spcBef>
              <a:spcAft>
                <a:spcPts val="0"/>
              </a:spcAft>
              <a:buSzPct val="100000"/>
              <a:buChar char="•"/>
            </a:pPr>
            <a:endParaRPr sz="2245"/>
          </a:p>
          <a:p>
            <a:pPr marL="228600" lvl="0" indent="0" algn="l" rtl="0">
              <a:lnSpc>
                <a:spcPct val="100000"/>
              </a:lnSpc>
              <a:spcBef>
                <a:spcPts val="0"/>
              </a:spcBef>
              <a:spcAft>
                <a:spcPts val="0"/>
              </a:spcAft>
              <a:buSzPct val="86679"/>
              <a:buNone/>
            </a:pPr>
            <a:endParaRPr sz="2245"/>
          </a:p>
          <a:p>
            <a:pPr marL="228600" lvl="0" indent="0" algn="l" rtl="0">
              <a:lnSpc>
                <a:spcPct val="100000"/>
              </a:lnSpc>
              <a:spcBef>
                <a:spcPts val="0"/>
              </a:spcBef>
              <a:spcAft>
                <a:spcPts val="0"/>
              </a:spcAft>
              <a:buSzPct val="100203"/>
              <a:buNone/>
            </a:pPr>
            <a:endParaRPr sz="1942"/>
          </a:p>
          <a:p>
            <a:pPr marL="228600" lvl="0" indent="0" algn="l" rtl="0">
              <a:lnSpc>
                <a:spcPct val="100000"/>
              </a:lnSpc>
              <a:spcBef>
                <a:spcPts val="0"/>
              </a:spcBef>
              <a:spcAft>
                <a:spcPts val="0"/>
              </a:spcAft>
              <a:buSzPct val="108107"/>
              <a:buNone/>
            </a:pPr>
            <a:endParaRPr/>
          </a:p>
          <a:p>
            <a:pPr marL="228600" lvl="0" indent="0" algn="l" rtl="0">
              <a:lnSpc>
                <a:spcPct val="100000"/>
              </a:lnSpc>
              <a:spcBef>
                <a:spcPts val="0"/>
              </a:spcBef>
              <a:spcAft>
                <a:spcPts val="0"/>
              </a:spcAft>
              <a:buSzPct val="108107"/>
              <a:buNone/>
            </a:pPr>
            <a:endParaRPr/>
          </a:p>
          <a:p>
            <a:pPr marL="228600" lvl="0" indent="0" algn="l" rtl="0">
              <a:lnSpc>
                <a:spcPct val="100000"/>
              </a:lnSpc>
              <a:spcBef>
                <a:spcPts val="0"/>
              </a:spcBef>
              <a:spcAft>
                <a:spcPts val="0"/>
              </a:spcAft>
              <a:buSzPct val="108107"/>
              <a:buNone/>
            </a:pPr>
            <a:endParaRPr/>
          </a:p>
        </p:txBody>
      </p:sp>
      <p:sp>
        <p:nvSpPr>
          <p:cNvPr id="166" name="Google Shape;166;g24275c33bf8_0_59"/>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9</a:t>
            </a:fld>
            <a:endParaRPr/>
          </a:p>
        </p:txBody>
      </p:sp>
      <p:pic>
        <p:nvPicPr>
          <p:cNvPr id="167" name="Google Shape;167;g24275c33bf8_0_59"/>
          <p:cNvPicPr preferRelativeResize="0"/>
          <p:nvPr/>
        </p:nvPicPr>
        <p:blipFill rotWithShape="1">
          <a:blip r:embed="rId3">
            <a:alphaModFix/>
          </a:blip>
          <a:srcRect/>
          <a:stretch/>
        </p:blipFill>
        <p:spPr>
          <a:xfrm>
            <a:off x="4234825" y="4112900"/>
            <a:ext cx="3017500" cy="1627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g24275c33bf8_0_77"/>
          <p:cNvSpPr txBox="1">
            <a:spLocks noGrp="1"/>
          </p:cNvSpPr>
          <p:nvPr>
            <p:ph type="title"/>
          </p:nvPr>
        </p:nvSpPr>
        <p:spPr>
          <a:xfrm>
            <a:off x="558975" y="804675"/>
            <a:ext cx="10362300" cy="789900"/>
          </a:xfrm>
          <a:prstGeom prst="rect">
            <a:avLst/>
          </a:prstGeom>
          <a:solidFill>
            <a:srgbClr val="FFFFFF"/>
          </a:solidFill>
          <a:ln w="9525" cap="flat" cmpd="sng">
            <a:solidFill>
              <a:srgbClr val="404040"/>
            </a:solidFill>
            <a:prstDash val="solid"/>
            <a:round/>
            <a:headEnd type="none" w="sm" len="sm"/>
            <a:tailEnd type="none" w="sm" len="sm"/>
          </a:ln>
        </p:spPr>
        <p:txBody>
          <a:bodyPr spcFirstLastPara="1" wrap="square" lIns="182875" tIns="182875" rIns="182875" bIns="182875" anchor="ctr" anchorCtr="1">
            <a:normAutofit/>
          </a:bodyPr>
          <a:lstStyle/>
          <a:p>
            <a:pPr marL="0" lvl="0" indent="0" algn="ctr" rtl="0">
              <a:lnSpc>
                <a:spcPct val="90000"/>
              </a:lnSpc>
              <a:spcBef>
                <a:spcPts val="0"/>
              </a:spcBef>
              <a:spcAft>
                <a:spcPts val="0"/>
              </a:spcAft>
              <a:buClr>
                <a:srgbClr val="262626"/>
              </a:buClr>
              <a:buSzPts val="2200"/>
              <a:buFont typeface="Bookman Old Style"/>
              <a:buNone/>
            </a:pPr>
            <a:r>
              <a:rPr lang="en-IN"/>
              <a:t>We can obtain two solution shown in the figure.</a:t>
            </a:r>
            <a:endParaRPr/>
          </a:p>
        </p:txBody>
      </p:sp>
      <p:sp>
        <p:nvSpPr>
          <p:cNvPr id="173" name="Google Shape;173;g24275c33bf8_0_77"/>
          <p:cNvSpPr txBox="1">
            <a:spLocks noGrp="1"/>
          </p:cNvSpPr>
          <p:nvPr>
            <p:ph type="body" idx="1"/>
          </p:nvPr>
        </p:nvSpPr>
        <p:spPr>
          <a:xfrm>
            <a:off x="6736075" y="2141324"/>
            <a:ext cx="4815900" cy="3912300"/>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2100"/>
              <a:buChar char="•"/>
            </a:pPr>
            <a:endParaRPr sz="2100">
              <a:solidFill>
                <a:srgbClr val="262626"/>
              </a:solidFill>
            </a:endParaRPr>
          </a:p>
          <a:p>
            <a:pPr marL="228600" lvl="0" indent="-107950" algn="l" rtl="0">
              <a:lnSpc>
                <a:spcPct val="100000"/>
              </a:lnSpc>
              <a:spcBef>
                <a:spcPts val="0"/>
              </a:spcBef>
              <a:spcAft>
                <a:spcPts val="0"/>
              </a:spcAft>
              <a:buSzPts val="1900"/>
              <a:buNone/>
            </a:pPr>
            <a:endParaRPr/>
          </a:p>
        </p:txBody>
      </p:sp>
      <p:sp>
        <p:nvSpPr>
          <p:cNvPr id="174" name="Google Shape;174;g24275c33bf8_0_77"/>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10</a:t>
            </a:fld>
            <a:endParaRPr/>
          </a:p>
        </p:txBody>
      </p:sp>
      <p:pic>
        <p:nvPicPr>
          <p:cNvPr id="175" name="Google Shape;175;g24275c33bf8_0_77"/>
          <p:cNvPicPr preferRelativeResize="0"/>
          <p:nvPr/>
        </p:nvPicPr>
        <p:blipFill rotWithShape="1">
          <a:blip r:embed="rId3">
            <a:alphaModFix/>
          </a:blip>
          <a:srcRect/>
          <a:stretch/>
        </p:blipFill>
        <p:spPr>
          <a:xfrm>
            <a:off x="487700" y="2141325"/>
            <a:ext cx="5263500" cy="3722275"/>
          </a:xfrm>
          <a:prstGeom prst="rect">
            <a:avLst/>
          </a:prstGeom>
          <a:noFill/>
          <a:ln>
            <a:noFill/>
          </a:ln>
        </p:spPr>
      </p:pic>
      <p:pic>
        <p:nvPicPr>
          <p:cNvPr id="176" name="Google Shape;176;g24275c33bf8_0_77"/>
          <p:cNvPicPr preferRelativeResize="0"/>
          <p:nvPr/>
        </p:nvPicPr>
        <p:blipFill rotWithShape="1">
          <a:blip r:embed="rId4">
            <a:alphaModFix/>
          </a:blip>
          <a:srcRect/>
          <a:stretch/>
        </p:blipFill>
        <p:spPr>
          <a:xfrm>
            <a:off x="6558400" y="2141325"/>
            <a:ext cx="5263500" cy="3722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24275c33bf8_0_68"/>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dirty="0"/>
              <a:t>                  8 Queen Problem   			</a:t>
            </a:r>
            <a:endParaRPr dirty="0"/>
          </a:p>
        </p:txBody>
      </p:sp>
      <p:sp>
        <p:nvSpPr>
          <p:cNvPr id="182" name="Google Shape;182;g24275c33bf8_0_68"/>
          <p:cNvSpPr txBox="1">
            <a:spLocks noGrp="1"/>
          </p:cNvSpPr>
          <p:nvPr>
            <p:ph type="body" idx="1"/>
          </p:nvPr>
        </p:nvSpPr>
        <p:spPr>
          <a:xfrm>
            <a:off x="2231125" y="2638053"/>
            <a:ext cx="7729800" cy="17511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ct val="181818"/>
              <a:buNone/>
            </a:pPr>
            <a:endParaRPr/>
          </a:p>
          <a:p>
            <a:pPr marL="228600" lvl="0" indent="-190843" algn="l" rtl="0">
              <a:lnSpc>
                <a:spcPct val="100000"/>
              </a:lnSpc>
              <a:spcBef>
                <a:spcPts val="0"/>
              </a:spcBef>
              <a:spcAft>
                <a:spcPts val="0"/>
              </a:spcAft>
              <a:buSzPct val="100000"/>
              <a:buChar char="•"/>
            </a:pPr>
            <a:r>
              <a:rPr lang="en-IN" sz="2187"/>
              <a:t>Define an 8 by 8 array</a:t>
            </a:r>
            <a:endParaRPr sz="2187"/>
          </a:p>
          <a:p>
            <a:pPr marL="228600" lvl="0" indent="-190843" algn="l" rtl="0">
              <a:lnSpc>
                <a:spcPct val="100000"/>
              </a:lnSpc>
              <a:spcBef>
                <a:spcPts val="0"/>
              </a:spcBef>
              <a:spcAft>
                <a:spcPts val="0"/>
              </a:spcAft>
              <a:buSzPct val="100000"/>
              <a:buChar char="•"/>
            </a:pPr>
            <a:r>
              <a:rPr lang="en-IN" sz="2187"/>
              <a:t>Search space is very huge - 16,772,216 possibilities</a:t>
            </a:r>
            <a:endParaRPr sz="2187"/>
          </a:p>
          <a:p>
            <a:pPr marL="228600" lvl="0" indent="-190843" algn="l" rtl="0">
              <a:lnSpc>
                <a:spcPct val="100000"/>
              </a:lnSpc>
              <a:spcBef>
                <a:spcPts val="0"/>
              </a:spcBef>
              <a:spcAft>
                <a:spcPts val="0"/>
              </a:spcAft>
              <a:buSzPct val="100000"/>
              <a:buChar char="•"/>
            </a:pPr>
            <a:r>
              <a:rPr lang="en-IN" sz="2187"/>
              <a:t>Each row ,column and diagonal will have exactly one queen</a:t>
            </a:r>
            <a:endParaRPr sz="2187"/>
          </a:p>
          <a:p>
            <a:pPr marL="228600" lvl="0" indent="0" algn="l" rtl="0">
              <a:lnSpc>
                <a:spcPct val="100000"/>
              </a:lnSpc>
              <a:spcBef>
                <a:spcPts val="0"/>
              </a:spcBef>
              <a:spcAft>
                <a:spcPts val="0"/>
              </a:spcAft>
              <a:buSzPct val="149644"/>
              <a:buNone/>
            </a:pPr>
            <a:endParaRPr sz="2187" b="1"/>
          </a:p>
          <a:p>
            <a:pPr marL="228600" lvl="0" indent="0" algn="l" rtl="0">
              <a:lnSpc>
                <a:spcPct val="100000"/>
              </a:lnSpc>
              <a:spcBef>
                <a:spcPts val="0"/>
              </a:spcBef>
              <a:spcAft>
                <a:spcPts val="0"/>
              </a:spcAft>
              <a:buSzPct val="145778"/>
              <a:buNone/>
            </a:pPr>
            <a:endParaRPr sz="2245"/>
          </a:p>
          <a:p>
            <a:pPr marL="228600" lvl="0" indent="0" algn="l" rtl="0">
              <a:lnSpc>
                <a:spcPct val="100000"/>
              </a:lnSpc>
              <a:spcBef>
                <a:spcPts val="0"/>
              </a:spcBef>
              <a:spcAft>
                <a:spcPts val="0"/>
              </a:spcAft>
              <a:buSzPct val="145778"/>
              <a:buNone/>
            </a:pPr>
            <a:endParaRPr sz="2245"/>
          </a:p>
          <a:p>
            <a:pPr marL="228600" lvl="0" indent="0" algn="l" rtl="0">
              <a:lnSpc>
                <a:spcPct val="100000"/>
              </a:lnSpc>
              <a:spcBef>
                <a:spcPts val="0"/>
              </a:spcBef>
              <a:spcAft>
                <a:spcPts val="0"/>
              </a:spcAft>
              <a:buSzPct val="168523"/>
              <a:buNone/>
            </a:pPr>
            <a:endParaRPr sz="1942"/>
          </a:p>
          <a:p>
            <a:pPr marL="228600" lvl="0" indent="0" algn="l" rtl="0">
              <a:lnSpc>
                <a:spcPct val="100000"/>
              </a:lnSpc>
              <a:spcBef>
                <a:spcPts val="0"/>
              </a:spcBef>
              <a:spcAft>
                <a:spcPts val="0"/>
              </a:spcAft>
              <a:buSzPct val="181818"/>
              <a:buNone/>
            </a:pPr>
            <a:endParaRPr/>
          </a:p>
          <a:p>
            <a:pPr marL="228600" lvl="0" indent="0" algn="l" rtl="0">
              <a:lnSpc>
                <a:spcPct val="100000"/>
              </a:lnSpc>
              <a:spcBef>
                <a:spcPts val="0"/>
              </a:spcBef>
              <a:spcAft>
                <a:spcPts val="0"/>
              </a:spcAft>
              <a:buSzPct val="181818"/>
              <a:buNone/>
            </a:pPr>
            <a:endParaRPr/>
          </a:p>
          <a:p>
            <a:pPr marL="228600" lvl="0" indent="0" algn="l" rtl="0">
              <a:lnSpc>
                <a:spcPct val="100000"/>
              </a:lnSpc>
              <a:spcBef>
                <a:spcPts val="0"/>
              </a:spcBef>
              <a:spcAft>
                <a:spcPts val="0"/>
              </a:spcAft>
              <a:buSzPct val="181818"/>
              <a:buNone/>
            </a:pPr>
            <a:endParaRPr/>
          </a:p>
        </p:txBody>
      </p:sp>
      <p:sp>
        <p:nvSpPr>
          <p:cNvPr id="183" name="Google Shape;183;g24275c33bf8_0_68"/>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11</a:t>
            </a:fld>
            <a:endParaRPr/>
          </a:p>
        </p:txBody>
      </p:sp>
      <p:pic>
        <p:nvPicPr>
          <p:cNvPr id="184" name="Google Shape;184;g24275c33bf8_0_68"/>
          <p:cNvPicPr preferRelativeResize="0"/>
          <p:nvPr/>
        </p:nvPicPr>
        <p:blipFill rotWithShape="1">
          <a:blip r:embed="rId3">
            <a:alphaModFix/>
          </a:blip>
          <a:srcRect/>
          <a:stretch/>
        </p:blipFill>
        <p:spPr>
          <a:xfrm>
            <a:off x="2463375" y="3532800"/>
            <a:ext cx="7497549" cy="2685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4"/>
          <p:cNvSpPr txBox="1">
            <a:spLocks noGrp="1"/>
          </p:cNvSpPr>
          <p:nvPr>
            <p:ph type="body" idx="1"/>
          </p:nvPr>
        </p:nvSpPr>
        <p:spPr>
          <a:xfrm>
            <a:off x="754225" y="626900"/>
            <a:ext cx="4509300" cy="7041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b" anchorCtr="1">
            <a:normAutofit/>
          </a:bodyPr>
          <a:lstStyle/>
          <a:p>
            <a:pPr marL="0" lvl="0" indent="0" algn="ctr" rtl="0">
              <a:lnSpc>
                <a:spcPct val="100000"/>
              </a:lnSpc>
              <a:spcBef>
                <a:spcPts val="0"/>
              </a:spcBef>
              <a:spcAft>
                <a:spcPts val="0"/>
              </a:spcAft>
              <a:buSzPts val="1900"/>
              <a:buNone/>
            </a:pPr>
            <a:r>
              <a:rPr lang="en-IN" b="1"/>
              <a:t>BACKTRACKING</a:t>
            </a:r>
            <a:endParaRPr b="1"/>
          </a:p>
        </p:txBody>
      </p:sp>
      <p:sp>
        <p:nvSpPr>
          <p:cNvPr id="190" name="Google Shape;190;p4"/>
          <p:cNvSpPr txBox="1">
            <a:spLocks noGrp="1"/>
          </p:cNvSpPr>
          <p:nvPr>
            <p:ph type="body" idx="2"/>
          </p:nvPr>
        </p:nvSpPr>
        <p:spPr>
          <a:xfrm>
            <a:off x="754375" y="1331000"/>
            <a:ext cx="4509300" cy="44811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rmAutofit/>
          </a:bodyPr>
          <a:lstStyle/>
          <a:p>
            <a:pPr marL="457200" lvl="0" indent="-367480" algn="l" rtl="0">
              <a:lnSpc>
                <a:spcPct val="100000"/>
              </a:lnSpc>
              <a:spcBef>
                <a:spcPts val="0"/>
              </a:spcBef>
              <a:spcAft>
                <a:spcPts val="0"/>
              </a:spcAft>
              <a:buSzPts val="2187"/>
              <a:buChar char="•"/>
            </a:pPr>
            <a:r>
              <a:rPr lang="en-IN" sz="2187"/>
              <a:t>Backtracking traverses the state space tree by DFS</a:t>
            </a:r>
            <a:endParaRPr sz="2187"/>
          </a:p>
          <a:p>
            <a:pPr marL="457200" lvl="0" indent="-367480" algn="l" rtl="0">
              <a:lnSpc>
                <a:spcPct val="100000"/>
              </a:lnSpc>
              <a:spcBef>
                <a:spcPts val="0"/>
              </a:spcBef>
              <a:spcAft>
                <a:spcPts val="0"/>
              </a:spcAft>
              <a:buSzPts val="2187"/>
              <a:buChar char="•"/>
            </a:pPr>
            <a:r>
              <a:rPr lang="en-IN" sz="2187"/>
              <a:t>Involves feasibility function</a:t>
            </a:r>
            <a:endParaRPr sz="2187"/>
          </a:p>
          <a:p>
            <a:pPr marL="457200" lvl="0" indent="-367480" algn="l" rtl="0">
              <a:lnSpc>
                <a:spcPct val="100000"/>
              </a:lnSpc>
              <a:spcBef>
                <a:spcPts val="0"/>
              </a:spcBef>
              <a:spcAft>
                <a:spcPts val="0"/>
              </a:spcAft>
              <a:buSzPts val="2187"/>
              <a:buChar char="•"/>
            </a:pPr>
            <a:r>
              <a:rPr lang="en-IN" sz="2187"/>
              <a:t>Used for solving decision problem</a:t>
            </a:r>
            <a:endParaRPr sz="2187"/>
          </a:p>
          <a:p>
            <a:pPr marL="457200" lvl="0" indent="-367480" algn="l" rtl="0">
              <a:lnSpc>
                <a:spcPct val="100000"/>
              </a:lnSpc>
              <a:spcBef>
                <a:spcPts val="0"/>
              </a:spcBef>
              <a:spcAft>
                <a:spcPts val="0"/>
              </a:spcAft>
              <a:buSzPts val="2187"/>
              <a:buChar char="•"/>
            </a:pPr>
            <a:r>
              <a:rPr lang="en-IN" sz="2187"/>
              <a:t>More efficient</a:t>
            </a:r>
            <a:endParaRPr sz="2187"/>
          </a:p>
          <a:p>
            <a:pPr marL="457200" lvl="0" indent="-367480" algn="l" rtl="0">
              <a:lnSpc>
                <a:spcPct val="100000"/>
              </a:lnSpc>
              <a:spcBef>
                <a:spcPts val="0"/>
              </a:spcBef>
              <a:spcAft>
                <a:spcPts val="0"/>
              </a:spcAft>
              <a:buSzPts val="2187"/>
              <a:buChar char="•"/>
            </a:pPr>
            <a:r>
              <a:rPr lang="en-IN" sz="2187"/>
              <a:t>Next move from current state can lead to bad choice.</a:t>
            </a:r>
            <a:endParaRPr sz="2187"/>
          </a:p>
          <a:p>
            <a:pPr marL="457200" lvl="0" indent="-367480" algn="l" rtl="0">
              <a:lnSpc>
                <a:spcPct val="100000"/>
              </a:lnSpc>
              <a:spcBef>
                <a:spcPts val="0"/>
              </a:spcBef>
              <a:spcAft>
                <a:spcPts val="0"/>
              </a:spcAft>
              <a:buSzPts val="2187"/>
              <a:buChar char="•"/>
            </a:pPr>
            <a:r>
              <a:rPr lang="en-IN" sz="2187"/>
              <a:t>Useful in solving N Queen Problem , sum of subset ,Hamilton cycle,Graph coloring problem.</a:t>
            </a:r>
            <a:endParaRPr sz="2187"/>
          </a:p>
          <a:p>
            <a:pPr marL="228600" lvl="0" indent="-114300" algn="l" rtl="0">
              <a:lnSpc>
                <a:spcPct val="100000"/>
              </a:lnSpc>
              <a:spcBef>
                <a:spcPts val="0"/>
              </a:spcBef>
              <a:spcAft>
                <a:spcPts val="0"/>
              </a:spcAft>
              <a:buSzPts val="1800"/>
              <a:buNone/>
            </a:pPr>
            <a:endParaRPr/>
          </a:p>
        </p:txBody>
      </p:sp>
      <p:sp>
        <p:nvSpPr>
          <p:cNvPr id="191" name="Google Shape;191;p4"/>
          <p:cNvSpPr txBox="1">
            <a:spLocks noGrp="1"/>
          </p:cNvSpPr>
          <p:nvPr>
            <p:ph type="body" idx="3"/>
          </p:nvPr>
        </p:nvSpPr>
        <p:spPr>
          <a:xfrm>
            <a:off x="5263525" y="1331000"/>
            <a:ext cx="4270200" cy="44811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2187"/>
              <a:buChar char="•"/>
            </a:pPr>
            <a:r>
              <a:rPr lang="en-IN" sz="2187"/>
              <a:t>Branch and bound  traverses by DFS or BFS.</a:t>
            </a:r>
            <a:endParaRPr sz="2187"/>
          </a:p>
          <a:p>
            <a:pPr marL="228600" lvl="0" indent="-228600" algn="l" rtl="0">
              <a:lnSpc>
                <a:spcPct val="100000"/>
              </a:lnSpc>
              <a:spcBef>
                <a:spcPts val="0"/>
              </a:spcBef>
              <a:spcAft>
                <a:spcPts val="0"/>
              </a:spcAft>
              <a:buSzPts val="2187"/>
              <a:buChar char="•"/>
            </a:pPr>
            <a:r>
              <a:rPr lang="en-IN" sz="2187"/>
              <a:t>Involves bounding function</a:t>
            </a:r>
            <a:endParaRPr sz="2187"/>
          </a:p>
          <a:p>
            <a:pPr marL="228600" lvl="0" indent="-228600" algn="l" rtl="0">
              <a:lnSpc>
                <a:spcPct val="100000"/>
              </a:lnSpc>
              <a:spcBef>
                <a:spcPts val="0"/>
              </a:spcBef>
              <a:spcAft>
                <a:spcPts val="0"/>
              </a:spcAft>
              <a:buSzPts val="2187"/>
              <a:buChar char="•"/>
            </a:pPr>
            <a:r>
              <a:rPr lang="en-IN" sz="2187"/>
              <a:t>Used for solving Optimisation Problem.</a:t>
            </a:r>
            <a:endParaRPr sz="2187"/>
          </a:p>
          <a:p>
            <a:pPr marL="228600" lvl="0" indent="-228600" algn="l" rtl="0">
              <a:lnSpc>
                <a:spcPct val="100000"/>
              </a:lnSpc>
              <a:spcBef>
                <a:spcPts val="0"/>
              </a:spcBef>
              <a:spcAft>
                <a:spcPts val="0"/>
              </a:spcAft>
              <a:buSzPts val="2187"/>
              <a:buChar char="•"/>
            </a:pPr>
            <a:r>
              <a:rPr lang="en-IN" sz="2187"/>
              <a:t>Less efficient</a:t>
            </a:r>
            <a:endParaRPr sz="2187"/>
          </a:p>
          <a:p>
            <a:pPr marL="228600" lvl="0" indent="-228600" algn="l" rtl="0">
              <a:lnSpc>
                <a:spcPct val="100000"/>
              </a:lnSpc>
              <a:spcBef>
                <a:spcPts val="0"/>
              </a:spcBef>
              <a:spcAft>
                <a:spcPts val="0"/>
              </a:spcAft>
              <a:buSzPts val="2187"/>
              <a:buChar char="•"/>
            </a:pPr>
            <a:r>
              <a:rPr lang="en-IN" sz="2187"/>
              <a:t>Next move is always towards better solution.</a:t>
            </a:r>
            <a:endParaRPr sz="2187"/>
          </a:p>
          <a:p>
            <a:pPr marL="228600" lvl="0" indent="-228600" algn="l" rtl="0">
              <a:lnSpc>
                <a:spcPct val="100000"/>
              </a:lnSpc>
              <a:spcBef>
                <a:spcPts val="0"/>
              </a:spcBef>
              <a:spcAft>
                <a:spcPts val="0"/>
              </a:spcAft>
              <a:buSzPts val="2187"/>
              <a:buChar char="•"/>
            </a:pPr>
            <a:r>
              <a:rPr lang="en-IN" sz="2187"/>
              <a:t>Useful in solving knapsack Problem,Travelling salesman Problem.</a:t>
            </a:r>
            <a:endParaRPr sz="2187"/>
          </a:p>
        </p:txBody>
      </p:sp>
      <p:sp>
        <p:nvSpPr>
          <p:cNvPr id="192" name="Google Shape;192;p4"/>
          <p:cNvSpPr txBox="1">
            <a:spLocks noGrp="1"/>
          </p:cNvSpPr>
          <p:nvPr>
            <p:ph type="body" idx="4"/>
          </p:nvPr>
        </p:nvSpPr>
        <p:spPr>
          <a:xfrm>
            <a:off x="5263516" y="626908"/>
            <a:ext cx="4270200" cy="7041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b" anchorCtr="1">
            <a:normAutofit/>
          </a:bodyPr>
          <a:lstStyle/>
          <a:p>
            <a:pPr marL="0" lvl="0" indent="0" algn="ctr" rtl="0">
              <a:lnSpc>
                <a:spcPct val="100000"/>
              </a:lnSpc>
              <a:spcBef>
                <a:spcPts val="0"/>
              </a:spcBef>
              <a:spcAft>
                <a:spcPts val="0"/>
              </a:spcAft>
              <a:buSzPts val="1900"/>
              <a:buNone/>
            </a:pPr>
            <a:r>
              <a:rPr lang="en-IN" b="1"/>
              <a:t>BRANCH AND BOUND</a:t>
            </a:r>
            <a:endParaRPr b="1"/>
          </a:p>
        </p:txBody>
      </p:sp>
      <p:sp>
        <p:nvSpPr>
          <p:cNvPr id="193" name="Google Shape;193;p4"/>
          <p:cNvSpPr>
            <a:spLocks noGrp="1"/>
          </p:cNvSpPr>
          <p:nvPr>
            <p:ph type="sldNum" idx="12"/>
          </p:nvPr>
        </p:nvSpPr>
        <p:spPr>
          <a:xfrm>
            <a:off x="10758922" y="6217920"/>
            <a:ext cx="365760" cy="36576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24275c33bf8_0_99"/>
          <p:cNvSpPr txBox="1">
            <a:spLocks noGrp="1"/>
          </p:cNvSpPr>
          <p:nvPr>
            <p:ph type="title"/>
          </p:nvPr>
        </p:nvSpPr>
        <p:spPr>
          <a:xfrm>
            <a:off x="2383525" y="2588901"/>
            <a:ext cx="7729800" cy="33807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1992"/>
              </a:lnSpc>
              <a:spcBef>
                <a:spcPts val="0"/>
              </a:spcBef>
              <a:spcAft>
                <a:spcPts val="0"/>
              </a:spcAft>
              <a:buSzPts val="1800"/>
              <a:buNone/>
            </a:pPr>
            <a:r>
              <a:rPr lang="en-IN" sz="2266">
                <a:solidFill>
                  <a:schemeClr val="dk1"/>
                </a:solidFill>
                <a:highlight>
                  <a:srgbClr val="FFFFFF"/>
                </a:highlight>
                <a:latin typeface="Arial"/>
                <a:ea typeface="Arial"/>
                <a:cs typeface="Arial"/>
                <a:sym typeface="Arial"/>
              </a:rPr>
              <a:t>function backTrack Sack(m,W)</a:t>
            </a:r>
            <a:endParaRPr sz="2266">
              <a:solidFill>
                <a:schemeClr val="dk1"/>
              </a:solidFill>
              <a:highlight>
                <a:srgbClr val="FFFFFF"/>
              </a:highlight>
              <a:latin typeface="Arial"/>
              <a:ea typeface="Arial"/>
              <a:cs typeface="Arial"/>
              <a:sym typeface="Arial"/>
            </a:endParaRPr>
          </a:p>
          <a:p>
            <a:pPr marL="0" lvl="0" indent="0" algn="l" rtl="0">
              <a:lnSpc>
                <a:spcPct val="91992"/>
              </a:lnSpc>
              <a:spcBef>
                <a:spcPts val="0"/>
              </a:spcBef>
              <a:spcAft>
                <a:spcPts val="0"/>
              </a:spcAft>
              <a:buSzPts val="1800"/>
              <a:buNone/>
            </a:pPr>
            <a:r>
              <a:rPr lang="en-IN" sz="1488">
                <a:solidFill>
                  <a:schemeClr val="dk1"/>
                </a:solidFill>
                <a:highlight>
                  <a:srgbClr val="FFFFFF"/>
                </a:highlight>
                <a:latin typeface="Arial"/>
                <a:ea typeface="Arial"/>
                <a:cs typeface="Arial"/>
                <a:sym typeface="Arial"/>
              </a:rPr>
              <a:t> {</a:t>
            </a:r>
            <a:endParaRPr sz="1488">
              <a:solidFill>
                <a:schemeClr val="dk1"/>
              </a:solidFill>
              <a:highlight>
                <a:srgbClr val="FFFFFF"/>
              </a:highlight>
              <a:latin typeface="Arial"/>
              <a:ea typeface="Arial"/>
              <a:cs typeface="Arial"/>
              <a:sym typeface="Arial"/>
            </a:endParaRPr>
          </a:p>
          <a:p>
            <a:pPr marL="228600" lvl="0" indent="0" algn="l" rtl="0">
              <a:lnSpc>
                <a:spcPct val="91992"/>
              </a:lnSpc>
              <a:spcBef>
                <a:spcPts val="0"/>
              </a:spcBef>
              <a:spcAft>
                <a:spcPts val="0"/>
              </a:spcAft>
              <a:buSzPts val="1800"/>
              <a:buNone/>
            </a:pPr>
            <a:r>
              <a:rPr lang="en-IN" sz="1488">
                <a:solidFill>
                  <a:schemeClr val="dk1"/>
                </a:solidFill>
                <a:highlight>
                  <a:srgbClr val="FFFFFF"/>
                </a:highlight>
                <a:latin typeface="Arial"/>
                <a:ea typeface="Arial"/>
                <a:cs typeface="Arial"/>
                <a:sym typeface="Arial"/>
              </a:rPr>
              <a:t>value =0;</a:t>
            </a:r>
            <a:endParaRPr sz="1488">
              <a:solidFill>
                <a:schemeClr val="dk1"/>
              </a:solidFill>
              <a:highlight>
                <a:srgbClr val="FFFFFF"/>
              </a:highlight>
              <a:latin typeface="Arial"/>
              <a:ea typeface="Arial"/>
              <a:cs typeface="Arial"/>
              <a:sym typeface="Arial"/>
            </a:endParaRPr>
          </a:p>
          <a:p>
            <a:pPr marL="228600" lvl="0" indent="0" algn="l" rtl="0">
              <a:lnSpc>
                <a:spcPct val="91992"/>
              </a:lnSpc>
              <a:spcBef>
                <a:spcPts val="0"/>
              </a:spcBef>
              <a:spcAft>
                <a:spcPts val="0"/>
              </a:spcAft>
              <a:buSzPts val="1800"/>
              <a:buNone/>
            </a:pPr>
            <a:r>
              <a:rPr lang="en-IN" sz="1488">
                <a:solidFill>
                  <a:schemeClr val="dk1"/>
                </a:solidFill>
                <a:highlight>
                  <a:srgbClr val="FFFFFF"/>
                </a:highlight>
                <a:latin typeface="Arial"/>
                <a:ea typeface="Arial"/>
                <a:cs typeface="Arial"/>
                <a:sym typeface="Arial"/>
              </a:rPr>
              <a:t>for i = m to n</a:t>
            </a:r>
            <a:endParaRPr sz="1488">
              <a:solidFill>
                <a:schemeClr val="dk1"/>
              </a:solidFill>
              <a:highlight>
                <a:srgbClr val="FFFFFF"/>
              </a:highlight>
              <a:latin typeface="Arial"/>
              <a:ea typeface="Arial"/>
              <a:cs typeface="Arial"/>
              <a:sym typeface="Arial"/>
            </a:endParaRPr>
          </a:p>
          <a:p>
            <a:pPr marL="0" lvl="0" indent="0" algn="l" rtl="0">
              <a:lnSpc>
                <a:spcPct val="91992"/>
              </a:lnSpc>
              <a:spcBef>
                <a:spcPts val="0"/>
              </a:spcBef>
              <a:spcAft>
                <a:spcPts val="0"/>
              </a:spcAft>
              <a:buSzPts val="1800"/>
              <a:buNone/>
            </a:pPr>
            <a:r>
              <a:rPr lang="en-IN" sz="1488">
                <a:solidFill>
                  <a:schemeClr val="dk1"/>
                </a:solidFill>
                <a:highlight>
                  <a:srgbClr val="FFFFFF"/>
                </a:highlight>
                <a:latin typeface="Arial"/>
                <a:ea typeface="Arial"/>
                <a:cs typeface="Arial"/>
                <a:sym typeface="Arial"/>
              </a:rPr>
              <a:t> {</a:t>
            </a:r>
            <a:endParaRPr sz="1488">
              <a:solidFill>
                <a:schemeClr val="dk1"/>
              </a:solidFill>
              <a:highlight>
                <a:srgbClr val="FFFFFF"/>
              </a:highlight>
              <a:latin typeface="Arial"/>
              <a:ea typeface="Arial"/>
              <a:cs typeface="Arial"/>
              <a:sym typeface="Arial"/>
            </a:endParaRPr>
          </a:p>
          <a:p>
            <a:pPr marL="228600" lvl="0" indent="0" algn="l" rtl="0">
              <a:lnSpc>
                <a:spcPct val="91992"/>
              </a:lnSpc>
              <a:spcBef>
                <a:spcPts val="0"/>
              </a:spcBef>
              <a:spcAft>
                <a:spcPts val="0"/>
              </a:spcAft>
              <a:buSzPts val="1800"/>
              <a:buNone/>
            </a:pPr>
            <a:r>
              <a:rPr lang="en-IN" sz="1488">
                <a:solidFill>
                  <a:schemeClr val="dk1"/>
                </a:solidFill>
                <a:highlight>
                  <a:srgbClr val="FFFFFF"/>
                </a:highlight>
                <a:latin typeface="Arial"/>
                <a:ea typeface="Arial"/>
                <a:cs typeface="Arial"/>
                <a:sym typeface="Arial"/>
              </a:rPr>
              <a:t> if (w[i]&lt;=W)</a:t>
            </a:r>
            <a:endParaRPr sz="1488">
              <a:solidFill>
                <a:schemeClr val="dk1"/>
              </a:solidFill>
              <a:highlight>
                <a:srgbClr val="FFFFFF"/>
              </a:highlight>
              <a:latin typeface="Arial"/>
              <a:ea typeface="Arial"/>
              <a:cs typeface="Arial"/>
              <a:sym typeface="Arial"/>
            </a:endParaRPr>
          </a:p>
          <a:p>
            <a:pPr marL="0" lvl="0" indent="0" algn="l" rtl="0">
              <a:lnSpc>
                <a:spcPct val="91992"/>
              </a:lnSpc>
              <a:spcBef>
                <a:spcPts val="0"/>
              </a:spcBef>
              <a:spcAft>
                <a:spcPts val="0"/>
              </a:spcAft>
              <a:buSzPts val="1800"/>
              <a:buNone/>
            </a:pPr>
            <a:r>
              <a:rPr lang="en-IN" sz="1488">
                <a:solidFill>
                  <a:schemeClr val="dk1"/>
                </a:solidFill>
                <a:highlight>
                  <a:srgbClr val="FFFFFF"/>
                </a:highlight>
                <a:latin typeface="Arial"/>
                <a:ea typeface="Arial"/>
                <a:cs typeface="Arial"/>
                <a:sym typeface="Arial"/>
              </a:rPr>
              <a:t>{</a:t>
            </a:r>
            <a:endParaRPr sz="1488">
              <a:solidFill>
                <a:schemeClr val="dk1"/>
              </a:solidFill>
              <a:highlight>
                <a:srgbClr val="FFFFFF"/>
              </a:highlight>
              <a:latin typeface="Arial"/>
              <a:ea typeface="Arial"/>
              <a:cs typeface="Arial"/>
              <a:sym typeface="Arial"/>
            </a:endParaRPr>
          </a:p>
          <a:p>
            <a:pPr marL="228600" lvl="0" indent="0" algn="l" rtl="0">
              <a:lnSpc>
                <a:spcPct val="91992"/>
              </a:lnSpc>
              <a:spcBef>
                <a:spcPts val="0"/>
              </a:spcBef>
              <a:spcAft>
                <a:spcPts val="0"/>
              </a:spcAft>
              <a:buSzPts val="1800"/>
              <a:buNone/>
            </a:pPr>
            <a:r>
              <a:rPr lang="en-IN" sz="1488">
                <a:solidFill>
                  <a:schemeClr val="dk1"/>
                </a:solidFill>
                <a:highlight>
                  <a:srgbClr val="FFFFFF"/>
                </a:highlight>
                <a:latin typeface="Arial"/>
                <a:ea typeface="Arial"/>
                <a:cs typeface="Arial"/>
                <a:sym typeface="Arial"/>
              </a:rPr>
              <a:t> value =maximum(value, v[i]+backTrack Sack(i,W-w[i]))</a:t>
            </a:r>
            <a:endParaRPr sz="1488">
              <a:solidFill>
                <a:schemeClr val="dk1"/>
              </a:solidFill>
              <a:highlight>
                <a:srgbClr val="FFFFFF"/>
              </a:highlight>
              <a:latin typeface="Arial"/>
              <a:ea typeface="Arial"/>
              <a:cs typeface="Arial"/>
              <a:sym typeface="Arial"/>
            </a:endParaRPr>
          </a:p>
          <a:p>
            <a:pPr marL="0" lvl="0" indent="0" algn="l" rtl="0">
              <a:lnSpc>
                <a:spcPct val="91992"/>
              </a:lnSpc>
              <a:spcBef>
                <a:spcPts val="0"/>
              </a:spcBef>
              <a:spcAft>
                <a:spcPts val="0"/>
              </a:spcAft>
              <a:buSzPts val="1800"/>
              <a:buNone/>
            </a:pPr>
            <a:r>
              <a:rPr lang="en-IN" sz="1488">
                <a:solidFill>
                  <a:schemeClr val="dk1"/>
                </a:solidFill>
                <a:highlight>
                  <a:srgbClr val="FFFFFF"/>
                </a:highlight>
                <a:latin typeface="Arial"/>
                <a:ea typeface="Arial"/>
                <a:cs typeface="Arial"/>
                <a:sym typeface="Arial"/>
              </a:rPr>
              <a:t>}</a:t>
            </a:r>
            <a:endParaRPr sz="1488">
              <a:solidFill>
                <a:schemeClr val="dk1"/>
              </a:solidFill>
              <a:highlight>
                <a:srgbClr val="FFFFFF"/>
              </a:highlight>
              <a:latin typeface="Arial"/>
              <a:ea typeface="Arial"/>
              <a:cs typeface="Arial"/>
              <a:sym typeface="Arial"/>
            </a:endParaRPr>
          </a:p>
          <a:p>
            <a:pPr marL="228600" lvl="0" indent="0" algn="l" rtl="0">
              <a:lnSpc>
                <a:spcPct val="91992"/>
              </a:lnSpc>
              <a:spcBef>
                <a:spcPts val="0"/>
              </a:spcBef>
              <a:spcAft>
                <a:spcPts val="0"/>
              </a:spcAft>
              <a:buSzPts val="1800"/>
              <a:buNone/>
            </a:pPr>
            <a:r>
              <a:rPr lang="en-IN" sz="1488">
                <a:solidFill>
                  <a:schemeClr val="dk1"/>
                </a:solidFill>
                <a:highlight>
                  <a:srgbClr val="FFFFFF"/>
                </a:highlight>
                <a:latin typeface="Arial"/>
                <a:ea typeface="Arial"/>
                <a:cs typeface="Arial"/>
                <a:sym typeface="Arial"/>
              </a:rPr>
              <a:t> return Value;</a:t>
            </a:r>
            <a:endParaRPr sz="1488">
              <a:solidFill>
                <a:schemeClr val="dk1"/>
              </a:solidFill>
              <a:highlight>
                <a:srgbClr val="FFFFFF"/>
              </a:highlight>
              <a:latin typeface="Arial"/>
              <a:ea typeface="Arial"/>
              <a:cs typeface="Arial"/>
              <a:sym typeface="Arial"/>
            </a:endParaRPr>
          </a:p>
          <a:p>
            <a:pPr marL="0" lvl="0" indent="0" algn="l" rtl="0">
              <a:lnSpc>
                <a:spcPct val="91992"/>
              </a:lnSpc>
              <a:spcBef>
                <a:spcPts val="0"/>
              </a:spcBef>
              <a:spcAft>
                <a:spcPts val="0"/>
              </a:spcAft>
              <a:buSzPts val="1800"/>
              <a:buNone/>
            </a:pPr>
            <a:r>
              <a:rPr lang="en-IN" sz="1488">
                <a:solidFill>
                  <a:schemeClr val="dk1"/>
                </a:solidFill>
                <a:highlight>
                  <a:srgbClr val="FFFFFF"/>
                </a:highlight>
                <a:latin typeface="Arial"/>
                <a:ea typeface="Arial"/>
                <a:cs typeface="Arial"/>
                <a:sym typeface="Arial"/>
              </a:rPr>
              <a:t> }</a:t>
            </a:r>
            <a:endParaRPr sz="1488">
              <a:solidFill>
                <a:schemeClr val="dk1"/>
              </a:solidFill>
              <a:highlight>
                <a:srgbClr val="FFFFFF"/>
              </a:highlight>
              <a:latin typeface="Arial"/>
              <a:ea typeface="Arial"/>
              <a:cs typeface="Arial"/>
              <a:sym typeface="Arial"/>
            </a:endParaRPr>
          </a:p>
          <a:p>
            <a:pPr marL="0" lvl="0" indent="0" algn="l" rtl="0">
              <a:lnSpc>
                <a:spcPct val="90000"/>
              </a:lnSpc>
              <a:spcBef>
                <a:spcPts val="0"/>
              </a:spcBef>
              <a:spcAft>
                <a:spcPts val="0"/>
              </a:spcAft>
              <a:buClr>
                <a:srgbClr val="262626"/>
              </a:buClr>
              <a:buSzPts val="2800"/>
              <a:buFont typeface="Bookman Old Style"/>
              <a:buNone/>
            </a:pPr>
            <a:endParaRPr/>
          </a:p>
        </p:txBody>
      </p:sp>
      <p:sp>
        <p:nvSpPr>
          <p:cNvPr id="199" name="Google Shape;199;g24275c33bf8_0_99"/>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13</a:t>
            </a:fld>
            <a:endParaRPr/>
          </a:p>
        </p:txBody>
      </p:sp>
      <p:sp>
        <p:nvSpPr>
          <p:cNvPr id="200" name="Google Shape;200;g24275c33bf8_0_99"/>
          <p:cNvSpPr txBox="1">
            <a:spLocks noGrp="1"/>
          </p:cNvSpPr>
          <p:nvPr>
            <p:ph type="title"/>
          </p:nvPr>
        </p:nvSpPr>
        <p:spPr>
          <a:xfrm>
            <a:off x="2383536" y="11170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dirty="0"/>
              <a:t>   		</a:t>
            </a:r>
            <a:r>
              <a:rPr lang="en-IN" dirty="0" smtClean="0"/>
              <a:t>	Knapsack </a:t>
            </a:r>
            <a:r>
              <a:rPr lang="en-IN" dirty="0"/>
              <a:t>Problem</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24275c33bf8_0_138"/>
          <p:cNvSpPr txBox="1">
            <a:spLocks noGrp="1"/>
          </p:cNvSpPr>
          <p:nvPr>
            <p:ph type="title"/>
          </p:nvPr>
        </p:nvSpPr>
        <p:spPr>
          <a:xfrm>
            <a:off x="445775" y="964700"/>
            <a:ext cx="10767000" cy="9897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dirty="0"/>
              <a:t>   				</a:t>
            </a:r>
            <a:r>
              <a:rPr lang="en-IN" dirty="0" smtClean="0"/>
              <a:t>KNAPSACK </a:t>
            </a:r>
            <a:r>
              <a:rPr lang="en-IN" dirty="0"/>
              <a:t>PROBLEM</a:t>
            </a:r>
            <a:endParaRPr dirty="0"/>
          </a:p>
        </p:txBody>
      </p:sp>
      <p:sp>
        <p:nvSpPr>
          <p:cNvPr id="206" name="Google Shape;206;g24275c33bf8_0_138"/>
          <p:cNvSpPr txBox="1">
            <a:spLocks noGrp="1"/>
          </p:cNvSpPr>
          <p:nvPr>
            <p:ph type="body" idx="1"/>
          </p:nvPr>
        </p:nvSpPr>
        <p:spPr>
          <a:xfrm>
            <a:off x="445775" y="1954525"/>
            <a:ext cx="10767000" cy="42633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800"/>
              <a:buNone/>
            </a:pPr>
            <a:endParaRPr sz="1300"/>
          </a:p>
          <a:p>
            <a:pPr marL="228600" lvl="0" indent="-221429" algn="l" rtl="0">
              <a:lnSpc>
                <a:spcPct val="100000"/>
              </a:lnSpc>
              <a:spcBef>
                <a:spcPts val="0"/>
              </a:spcBef>
              <a:spcAft>
                <a:spcPts val="0"/>
              </a:spcAft>
              <a:buSzPts val="1687"/>
              <a:buChar char="•"/>
            </a:pPr>
            <a:r>
              <a:rPr lang="en-IN" sz="1687" b="1"/>
              <a:t>EXAMPLE:</a:t>
            </a:r>
            <a:r>
              <a:rPr lang="en-IN" sz="1687"/>
              <a:t> Consider knapsack problem : n =8. (W1,W2,W3,W4,W5,W6,W7,W8)=(1,11,21,23,33,43,45,55) P=(11,21,31,33,43,53,55,65) , m=110 Solve the problem using backtracking approach.                </a:t>
            </a:r>
            <a:endParaRPr sz="1687"/>
          </a:p>
          <a:p>
            <a:pPr marL="0" lvl="0" indent="0" algn="l" rtl="0">
              <a:lnSpc>
                <a:spcPct val="100000"/>
              </a:lnSpc>
              <a:spcBef>
                <a:spcPts val="0"/>
              </a:spcBef>
              <a:spcAft>
                <a:spcPts val="0"/>
              </a:spcAft>
              <a:buSzPts val="1800"/>
              <a:buNone/>
            </a:pPr>
            <a:endParaRPr sz="1687"/>
          </a:p>
          <a:p>
            <a:pPr marL="228600" lvl="0" indent="-228600" algn="l" rtl="0">
              <a:lnSpc>
                <a:spcPct val="100000"/>
              </a:lnSpc>
              <a:spcBef>
                <a:spcPts val="0"/>
              </a:spcBef>
              <a:spcAft>
                <a:spcPts val="0"/>
              </a:spcAft>
              <a:buSzPts val="2187"/>
              <a:buChar char="•"/>
            </a:pPr>
            <a:endParaRPr sz="2187" b="1"/>
          </a:p>
          <a:p>
            <a:pPr marL="228600" lvl="0" indent="0" algn="l" rtl="0">
              <a:lnSpc>
                <a:spcPct val="100000"/>
              </a:lnSpc>
              <a:spcBef>
                <a:spcPts val="0"/>
              </a:spcBef>
              <a:spcAft>
                <a:spcPts val="0"/>
              </a:spcAft>
              <a:buSzPts val="1800"/>
              <a:buNone/>
            </a:pPr>
            <a:endParaRPr sz="2245"/>
          </a:p>
          <a:p>
            <a:pPr marL="228600" lvl="0" indent="0" algn="l" rtl="0">
              <a:lnSpc>
                <a:spcPct val="100000"/>
              </a:lnSpc>
              <a:spcBef>
                <a:spcPts val="0"/>
              </a:spcBef>
              <a:spcAft>
                <a:spcPts val="0"/>
              </a:spcAft>
              <a:buSzPts val="1800"/>
              <a:buNone/>
            </a:pPr>
            <a:endParaRPr sz="1942"/>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p:txBody>
      </p:sp>
      <p:sp>
        <p:nvSpPr>
          <p:cNvPr id="207" name="Google Shape;207;g24275c33bf8_0_138"/>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14</a:t>
            </a:fld>
            <a:endParaRPr/>
          </a:p>
        </p:txBody>
      </p:sp>
      <p:pic>
        <p:nvPicPr>
          <p:cNvPr id="208" name="Google Shape;208;g24275c33bf8_0_138"/>
          <p:cNvPicPr preferRelativeResize="0"/>
          <p:nvPr/>
        </p:nvPicPr>
        <p:blipFill rotWithShape="1">
          <a:blip r:embed="rId3">
            <a:alphaModFix/>
          </a:blip>
          <a:srcRect/>
          <a:stretch/>
        </p:blipFill>
        <p:spPr>
          <a:xfrm>
            <a:off x="974850" y="3068825"/>
            <a:ext cx="5629275" cy="3034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g24275c33bf8_0_159"/>
          <p:cNvSpPr txBox="1">
            <a:spLocks noGrp="1"/>
          </p:cNvSpPr>
          <p:nvPr>
            <p:ph type="title"/>
          </p:nvPr>
        </p:nvSpPr>
        <p:spPr>
          <a:xfrm>
            <a:off x="960125" y="2400300"/>
            <a:ext cx="10269900" cy="3713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115000"/>
              </a:lnSpc>
              <a:spcBef>
                <a:spcPts val="0"/>
              </a:spcBef>
              <a:spcAft>
                <a:spcPts val="0"/>
              </a:spcAft>
              <a:buClr>
                <a:schemeClr val="dk1"/>
              </a:buClr>
              <a:buSzPct val="70966"/>
              <a:buFont typeface="Arial"/>
              <a:buNone/>
            </a:pPr>
            <a:r>
              <a:rPr lang="en-IN" sz="1550">
                <a:solidFill>
                  <a:srgbClr val="666666"/>
                </a:solidFill>
                <a:highlight>
                  <a:srgbClr val="FFFFFF"/>
                </a:highlight>
                <a:latin typeface="Arial"/>
                <a:ea typeface="Arial"/>
                <a:cs typeface="Arial"/>
                <a:sym typeface="Arial"/>
              </a:rPr>
              <a:t>Here M = 110 and n = 8.</a:t>
            </a: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Clr>
                <a:schemeClr val="dk1"/>
              </a:buClr>
              <a:buSzPct val="70966"/>
              <a:buFont typeface="Arial"/>
              <a:buNone/>
            </a:pPr>
            <a:r>
              <a:rPr lang="en-IN" sz="1550">
                <a:solidFill>
                  <a:srgbClr val="666666"/>
                </a:solidFill>
                <a:highlight>
                  <a:srgbClr val="FFFFFF"/>
                </a:highlight>
                <a:latin typeface="Arial"/>
                <a:ea typeface="Arial"/>
                <a:cs typeface="Arial"/>
                <a:sym typeface="Arial"/>
              </a:rPr>
              <a:t>Initially,  cp = cw = 0, fp = – 1, k = 0</a:t>
            </a: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Clr>
                <a:schemeClr val="dk1"/>
              </a:buClr>
              <a:buSzPct val="70966"/>
              <a:buFont typeface="Arial"/>
              <a:buNone/>
            </a:pPr>
            <a:r>
              <a:rPr lang="en-IN" sz="1550">
                <a:solidFill>
                  <a:srgbClr val="666666"/>
                </a:solidFill>
                <a:highlight>
                  <a:srgbClr val="FFFFFF"/>
                </a:highlight>
                <a:latin typeface="Arial"/>
                <a:ea typeface="Arial"/>
                <a:cs typeface="Arial"/>
                <a:sym typeface="Arial"/>
              </a:rPr>
              <a:t>For k = 1:</a:t>
            </a: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Clr>
                <a:schemeClr val="dk1"/>
              </a:buClr>
              <a:buSzPct val="70966"/>
              <a:buFont typeface="Arial"/>
              <a:buNone/>
            </a:pPr>
            <a:r>
              <a:rPr lang="en-IN" sz="1550">
                <a:solidFill>
                  <a:srgbClr val="666666"/>
                </a:solidFill>
                <a:highlight>
                  <a:srgbClr val="FFFFFF"/>
                </a:highlight>
                <a:latin typeface="Arial"/>
                <a:ea typeface="Arial"/>
                <a:cs typeface="Arial"/>
                <a:sym typeface="Arial"/>
              </a:rPr>
              <a:t>cp	=   cp + p</a:t>
            </a:r>
            <a:r>
              <a:rPr lang="en-IN" sz="1600" baseline="-25000">
                <a:solidFill>
                  <a:srgbClr val="666666"/>
                </a:solidFill>
                <a:highlight>
                  <a:srgbClr val="FFFFFF"/>
                </a:highlight>
                <a:latin typeface="Arial"/>
                <a:ea typeface="Arial"/>
                <a:cs typeface="Arial"/>
                <a:sym typeface="Arial"/>
              </a:rPr>
              <a:t>1</a:t>
            </a:r>
            <a:r>
              <a:rPr lang="en-IN" sz="1550">
                <a:solidFill>
                  <a:srgbClr val="666666"/>
                </a:solidFill>
                <a:highlight>
                  <a:srgbClr val="FFFFFF"/>
                </a:highlight>
                <a:latin typeface="Arial"/>
                <a:ea typeface="Arial"/>
                <a:cs typeface="Arial"/>
                <a:sym typeface="Arial"/>
              </a:rPr>
              <a:t> = 0 + 11 = 11</a:t>
            </a: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Clr>
                <a:schemeClr val="dk1"/>
              </a:buClr>
              <a:buSzPct val="70966"/>
              <a:buFont typeface="Arial"/>
              <a:buNone/>
            </a:pPr>
            <a:r>
              <a:rPr lang="en-IN" sz="1550">
                <a:solidFill>
                  <a:srgbClr val="666666"/>
                </a:solidFill>
                <a:highlight>
                  <a:srgbClr val="FFFFFF"/>
                </a:highlight>
                <a:latin typeface="Arial"/>
                <a:ea typeface="Arial"/>
                <a:cs typeface="Arial"/>
                <a:sym typeface="Arial"/>
              </a:rPr>
              <a:t>cw	=   cw + w</a:t>
            </a:r>
            <a:r>
              <a:rPr lang="en-IN" sz="1600" baseline="-25000">
                <a:solidFill>
                  <a:srgbClr val="666666"/>
                </a:solidFill>
                <a:highlight>
                  <a:srgbClr val="FFFFFF"/>
                </a:highlight>
                <a:latin typeface="Arial"/>
                <a:ea typeface="Arial"/>
                <a:cs typeface="Arial"/>
                <a:sym typeface="Arial"/>
              </a:rPr>
              <a:t>1</a:t>
            </a:r>
            <a:r>
              <a:rPr lang="en-IN" sz="1550">
                <a:solidFill>
                  <a:srgbClr val="666666"/>
                </a:solidFill>
                <a:highlight>
                  <a:srgbClr val="FFFFFF"/>
                </a:highlight>
                <a:latin typeface="Arial"/>
                <a:ea typeface="Arial"/>
                <a:cs typeface="Arial"/>
                <a:sym typeface="Arial"/>
              </a:rPr>
              <a:t> = 0 + 1 = 1</a:t>
            </a: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Clr>
                <a:schemeClr val="dk1"/>
              </a:buClr>
              <a:buSzPct val="70966"/>
              <a:buFont typeface="Arial"/>
              <a:buNone/>
            </a:pPr>
            <a:r>
              <a:rPr lang="en-IN" sz="1550">
                <a:solidFill>
                  <a:srgbClr val="666666"/>
                </a:solidFill>
                <a:highlight>
                  <a:srgbClr val="FFFFFF"/>
                </a:highlight>
                <a:latin typeface="Arial"/>
                <a:ea typeface="Arial"/>
                <a:cs typeface="Arial"/>
                <a:sym typeface="Arial"/>
              </a:rPr>
              <a:t>cw	&lt;   M, so select item 1</a:t>
            </a: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Clr>
                <a:schemeClr val="dk1"/>
              </a:buClr>
              <a:buSzPct val="70966"/>
              <a:buFont typeface="Arial"/>
              <a:buNone/>
            </a:pPr>
            <a:r>
              <a:rPr lang="en-IN" sz="1550">
                <a:solidFill>
                  <a:srgbClr val="666666"/>
                </a:solidFill>
                <a:highlight>
                  <a:srgbClr val="FFFFFF"/>
                </a:highlight>
                <a:latin typeface="Arial"/>
                <a:ea typeface="Arial"/>
                <a:cs typeface="Arial"/>
                <a:sym typeface="Arial"/>
              </a:rPr>
              <a:t>k    =   k + 1 = 2</a:t>
            </a:r>
            <a:endParaRPr sz="1550">
              <a:solidFill>
                <a:srgbClr val="666666"/>
              </a:solidFill>
              <a:highlight>
                <a:srgbClr val="FFFFFF"/>
              </a:highlight>
              <a:latin typeface="Arial"/>
              <a:ea typeface="Arial"/>
              <a:cs typeface="Arial"/>
              <a:sym typeface="Arial"/>
            </a:endParaRPr>
          </a:p>
          <a:p>
            <a:pPr marL="0" lvl="0" indent="0" algn="l" rtl="0">
              <a:lnSpc>
                <a:spcPct val="90000"/>
              </a:lnSpc>
              <a:spcBef>
                <a:spcPts val="1500"/>
              </a:spcBef>
              <a:spcAft>
                <a:spcPts val="0"/>
              </a:spcAft>
              <a:buClr>
                <a:srgbClr val="262626"/>
              </a:buClr>
              <a:buSzPct val="100000"/>
              <a:buFont typeface="Bookman Old Style"/>
              <a:buNone/>
            </a:pPr>
            <a:endParaRPr/>
          </a:p>
        </p:txBody>
      </p:sp>
      <p:sp>
        <p:nvSpPr>
          <p:cNvPr id="214" name="Google Shape;214;g24275c33bf8_0_159"/>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15</a:t>
            </a:fld>
            <a:endParaRPr/>
          </a:p>
        </p:txBody>
      </p:sp>
      <p:sp>
        <p:nvSpPr>
          <p:cNvPr id="215" name="Google Shape;215;g24275c33bf8_0_159"/>
          <p:cNvSpPr txBox="1">
            <a:spLocks noGrp="1"/>
          </p:cNvSpPr>
          <p:nvPr>
            <p:ph type="title"/>
          </p:nvPr>
        </p:nvSpPr>
        <p:spPr>
          <a:xfrm>
            <a:off x="960175" y="1117100"/>
            <a:ext cx="102699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dirty="0"/>
              <a:t>   				</a:t>
            </a:r>
            <a:r>
              <a:rPr lang="en-IN" dirty="0" smtClean="0"/>
              <a:t>Knapsack </a:t>
            </a:r>
            <a:r>
              <a:rPr lang="en-IN" dirty="0"/>
              <a:t>Problem</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g24275c33bf8_0_168"/>
          <p:cNvSpPr txBox="1">
            <a:spLocks noGrp="1"/>
          </p:cNvSpPr>
          <p:nvPr>
            <p:ph type="title"/>
          </p:nvPr>
        </p:nvSpPr>
        <p:spPr>
          <a:xfrm>
            <a:off x="960125" y="2077213"/>
            <a:ext cx="10269900" cy="40362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l" rtl="0">
              <a:lnSpc>
                <a:spcPct val="115000"/>
              </a:lnSpc>
              <a:spcBef>
                <a:spcPts val="0"/>
              </a:spcBef>
              <a:spcAft>
                <a:spcPts val="0"/>
              </a:spcAft>
              <a:buSzPct val="129032"/>
              <a:buNone/>
            </a:pP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9032"/>
              <a:buNone/>
            </a:pPr>
            <a:r>
              <a:rPr lang="en-IN" sz="1550">
                <a:solidFill>
                  <a:srgbClr val="666666"/>
                </a:solidFill>
                <a:highlight>
                  <a:srgbClr val="FFFFFF"/>
                </a:highlight>
                <a:latin typeface="Arial"/>
                <a:ea typeface="Arial"/>
                <a:cs typeface="Arial"/>
                <a:sym typeface="Arial"/>
              </a:rPr>
              <a:t>For k=1:</a:t>
            </a:r>
            <a:endParaRPr sz="177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259066"/>
              <a:buNone/>
            </a:pPr>
            <a:r>
              <a:rPr lang="en-IN" sz="772">
                <a:solidFill>
                  <a:srgbClr val="666666"/>
                </a:solidFill>
                <a:highlight>
                  <a:srgbClr val="FFFFFF"/>
                </a:highlight>
                <a:latin typeface="Arial"/>
                <a:ea typeface="Arial"/>
                <a:cs typeface="Arial"/>
                <a:sym typeface="Arial"/>
              </a:rPr>
              <a:t>cp	=   cp + p</a:t>
            </a:r>
            <a:r>
              <a:rPr lang="en-IN" sz="822" baseline="-25000">
                <a:solidFill>
                  <a:srgbClr val="666666"/>
                </a:solidFill>
                <a:highlight>
                  <a:srgbClr val="FFFFFF"/>
                </a:highlight>
                <a:latin typeface="Arial"/>
                <a:ea typeface="Arial"/>
                <a:cs typeface="Arial"/>
                <a:sym typeface="Arial"/>
              </a:rPr>
              <a:t>2</a:t>
            </a:r>
            <a:r>
              <a:rPr lang="en-IN" sz="772">
                <a:solidFill>
                  <a:srgbClr val="666666"/>
                </a:solidFill>
                <a:highlight>
                  <a:srgbClr val="FFFFFF"/>
                </a:highlight>
                <a:latin typeface="Arial"/>
                <a:ea typeface="Arial"/>
                <a:cs typeface="Arial"/>
                <a:sym typeface="Arial"/>
              </a:rPr>
              <a:t> = 11 + 21 = 32</a:t>
            </a:r>
            <a:endParaRPr sz="772">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259066"/>
              <a:buNone/>
            </a:pPr>
            <a:r>
              <a:rPr lang="en-IN" sz="772">
                <a:solidFill>
                  <a:srgbClr val="666666"/>
                </a:solidFill>
                <a:highlight>
                  <a:srgbClr val="FFFFFF"/>
                </a:highlight>
                <a:latin typeface="Arial"/>
                <a:ea typeface="Arial"/>
                <a:cs typeface="Arial"/>
                <a:sym typeface="Arial"/>
              </a:rPr>
              <a:t>cw	=   cw + w</a:t>
            </a:r>
            <a:r>
              <a:rPr lang="en-IN" sz="822" baseline="-25000">
                <a:solidFill>
                  <a:srgbClr val="666666"/>
                </a:solidFill>
                <a:highlight>
                  <a:srgbClr val="FFFFFF"/>
                </a:highlight>
                <a:latin typeface="Arial"/>
                <a:ea typeface="Arial"/>
                <a:cs typeface="Arial"/>
                <a:sym typeface="Arial"/>
              </a:rPr>
              <a:t>2</a:t>
            </a:r>
            <a:r>
              <a:rPr lang="en-IN" sz="772">
                <a:solidFill>
                  <a:srgbClr val="666666"/>
                </a:solidFill>
                <a:highlight>
                  <a:srgbClr val="FFFFFF"/>
                </a:highlight>
                <a:latin typeface="Arial"/>
                <a:ea typeface="Arial"/>
                <a:cs typeface="Arial"/>
                <a:sym typeface="Arial"/>
              </a:rPr>
              <a:t> = 1 + 11 = 12</a:t>
            </a:r>
            <a:endParaRPr sz="772">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259066"/>
              <a:buNone/>
            </a:pPr>
            <a:r>
              <a:rPr lang="en-IN" sz="772">
                <a:solidFill>
                  <a:srgbClr val="666666"/>
                </a:solidFill>
                <a:highlight>
                  <a:srgbClr val="FFFFFF"/>
                </a:highlight>
                <a:latin typeface="Arial"/>
                <a:ea typeface="Arial"/>
                <a:cs typeface="Arial"/>
                <a:sym typeface="Arial"/>
              </a:rPr>
              <a:t>cw	&lt;   M, so select item 2</a:t>
            </a:r>
            <a:endParaRPr sz="772">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259066"/>
              <a:buNone/>
            </a:pPr>
            <a:r>
              <a:rPr lang="en-IN" sz="772">
                <a:solidFill>
                  <a:srgbClr val="666666"/>
                </a:solidFill>
                <a:highlight>
                  <a:srgbClr val="FFFFFF"/>
                </a:highlight>
                <a:latin typeface="Arial"/>
                <a:ea typeface="Arial"/>
                <a:cs typeface="Arial"/>
                <a:sym typeface="Arial"/>
              </a:rPr>
              <a:t>k    =   k + 1 = 2</a:t>
            </a:r>
            <a:endParaRPr sz="772">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39081"/>
              <a:buNone/>
            </a:pPr>
            <a:r>
              <a:rPr lang="en-IN" sz="1438">
                <a:solidFill>
                  <a:srgbClr val="666666"/>
                </a:solidFill>
                <a:highlight>
                  <a:srgbClr val="FFFFFF"/>
                </a:highlight>
                <a:latin typeface="Arial"/>
                <a:ea typeface="Arial"/>
                <a:cs typeface="Arial"/>
                <a:sym typeface="Arial"/>
              </a:rPr>
              <a:t>For k = 2:</a:t>
            </a:r>
            <a:endParaRPr sz="1438">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259066"/>
              <a:buNone/>
            </a:pPr>
            <a:r>
              <a:rPr lang="en-IN" sz="772">
                <a:solidFill>
                  <a:srgbClr val="666666"/>
                </a:solidFill>
                <a:highlight>
                  <a:srgbClr val="FFFFFF"/>
                </a:highlight>
                <a:latin typeface="Arial"/>
                <a:ea typeface="Arial"/>
                <a:cs typeface="Arial"/>
                <a:sym typeface="Arial"/>
              </a:rPr>
              <a:t>cp	=   cp + p</a:t>
            </a:r>
            <a:r>
              <a:rPr lang="en-IN" sz="822" baseline="-25000">
                <a:solidFill>
                  <a:srgbClr val="666666"/>
                </a:solidFill>
                <a:highlight>
                  <a:srgbClr val="FFFFFF"/>
                </a:highlight>
                <a:latin typeface="Arial"/>
                <a:ea typeface="Arial"/>
                <a:cs typeface="Arial"/>
                <a:sym typeface="Arial"/>
              </a:rPr>
              <a:t>3</a:t>
            </a:r>
            <a:r>
              <a:rPr lang="en-IN" sz="772">
                <a:solidFill>
                  <a:srgbClr val="666666"/>
                </a:solidFill>
                <a:highlight>
                  <a:srgbClr val="FFFFFF"/>
                </a:highlight>
                <a:latin typeface="Arial"/>
                <a:ea typeface="Arial"/>
                <a:cs typeface="Arial"/>
                <a:sym typeface="Arial"/>
              </a:rPr>
              <a:t> = 32 + 31 = 63</a:t>
            </a:r>
            <a:endParaRPr sz="772">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259066"/>
              <a:buNone/>
            </a:pPr>
            <a:r>
              <a:rPr lang="en-IN" sz="772">
                <a:solidFill>
                  <a:srgbClr val="666666"/>
                </a:solidFill>
                <a:highlight>
                  <a:srgbClr val="FFFFFF"/>
                </a:highlight>
                <a:latin typeface="Arial"/>
                <a:ea typeface="Arial"/>
                <a:cs typeface="Arial"/>
                <a:sym typeface="Arial"/>
              </a:rPr>
              <a:t>cw	=   cw + w</a:t>
            </a:r>
            <a:r>
              <a:rPr lang="en-IN" sz="822" baseline="-25000">
                <a:solidFill>
                  <a:srgbClr val="666666"/>
                </a:solidFill>
                <a:highlight>
                  <a:srgbClr val="FFFFFF"/>
                </a:highlight>
                <a:latin typeface="Arial"/>
                <a:ea typeface="Arial"/>
                <a:cs typeface="Arial"/>
                <a:sym typeface="Arial"/>
              </a:rPr>
              <a:t>3</a:t>
            </a:r>
            <a:r>
              <a:rPr lang="en-IN" sz="772">
                <a:solidFill>
                  <a:srgbClr val="666666"/>
                </a:solidFill>
                <a:highlight>
                  <a:srgbClr val="FFFFFF"/>
                </a:highlight>
                <a:latin typeface="Arial"/>
                <a:ea typeface="Arial"/>
                <a:cs typeface="Arial"/>
                <a:sym typeface="Arial"/>
              </a:rPr>
              <a:t> = 12 + 21 = 33</a:t>
            </a:r>
            <a:endParaRPr sz="772">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259066"/>
              <a:buNone/>
            </a:pPr>
            <a:r>
              <a:rPr lang="en-IN" sz="772">
                <a:solidFill>
                  <a:srgbClr val="666666"/>
                </a:solidFill>
                <a:highlight>
                  <a:srgbClr val="FFFFFF"/>
                </a:highlight>
                <a:latin typeface="Arial"/>
                <a:ea typeface="Arial"/>
                <a:cs typeface="Arial"/>
                <a:sym typeface="Arial"/>
              </a:rPr>
              <a:t>cw	&lt;   M, so select item 3</a:t>
            </a:r>
            <a:endParaRPr sz="772">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259066"/>
              <a:buNone/>
            </a:pPr>
            <a:r>
              <a:rPr lang="en-IN" sz="772">
                <a:solidFill>
                  <a:srgbClr val="666666"/>
                </a:solidFill>
                <a:highlight>
                  <a:srgbClr val="FFFFFF"/>
                </a:highlight>
                <a:latin typeface="Arial"/>
                <a:ea typeface="Arial"/>
                <a:cs typeface="Arial"/>
                <a:sym typeface="Arial"/>
              </a:rPr>
              <a:t>k    =   k + 1 = 3</a:t>
            </a:r>
            <a:endParaRPr sz="772">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12866"/>
              <a:buNone/>
            </a:pPr>
            <a:endParaRPr sz="1770">
              <a:solidFill>
                <a:srgbClr val="666666"/>
              </a:solidFill>
              <a:highlight>
                <a:srgbClr val="FFFFFF"/>
              </a:highlight>
              <a:latin typeface="Arial"/>
              <a:ea typeface="Arial"/>
              <a:cs typeface="Arial"/>
              <a:sym typeface="Arial"/>
            </a:endParaRPr>
          </a:p>
          <a:p>
            <a:pPr marL="0" lvl="0" indent="0" algn="l" rtl="0">
              <a:lnSpc>
                <a:spcPct val="90000"/>
              </a:lnSpc>
              <a:spcBef>
                <a:spcPts val="1500"/>
              </a:spcBef>
              <a:spcAft>
                <a:spcPts val="0"/>
              </a:spcAft>
              <a:buClr>
                <a:srgbClr val="262626"/>
              </a:buClr>
              <a:buSzPct val="100000"/>
              <a:buFont typeface="Bookman Old Style"/>
              <a:buNone/>
            </a:pPr>
            <a:endParaRPr/>
          </a:p>
        </p:txBody>
      </p:sp>
      <p:sp>
        <p:nvSpPr>
          <p:cNvPr id="221" name="Google Shape;221;g24275c33bf8_0_168"/>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16</a:t>
            </a:fld>
            <a:endParaRPr/>
          </a:p>
        </p:txBody>
      </p:sp>
      <p:sp>
        <p:nvSpPr>
          <p:cNvPr id="222" name="Google Shape;222;g24275c33bf8_0_168"/>
          <p:cNvSpPr txBox="1">
            <a:spLocks noGrp="1"/>
          </p:cNvSpPr>
          <p:nvPr>
            <p:ph type="title"/>
          </p:nvPr>
        </p:nvSpPr>
        <p:spPr>
          <a:xfrm>
            <a:off x="960175" y="1117100"/>
            <a:ext cx="10269900" cy="8202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dirty="0"/>
              <a:t>   				Knapsack Problem</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g24275c33bf8_0_177"/>
          <p:cNvSpPr txBox="1">
            <a:spLocks noGrp="1"/>
          </p:cNvSpPr>
          <p:nvPr>
            <p:ph type="title"/>
          </p:nvPr>
        </p:nvSpPr>
        <p:spPr>
          <a:xfrm>
            <a:off x="960125" y="1897200"/>
            <a:ext cx="10269900" cy="42162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l" rtl="0">
              <a:lnSpc>
                <a:spcPct val="115000"/>
              </a:lnSpc>
              <a:spcBef>
                <a:spcPts val="0"/>
              </a:spcBef>
              <a:spcAft>
                <a:spcPts val="0"/>
              </a:spcAft>
              <a:buSzPct val="129032"/>
              <a:buNone/>
            </a:pP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9032"/>
              <a:buNone/>
            </a:pP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9032"/>
              <a:buNone/>
            </a:pP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9032"/>
              <a:buNone/>
            </a:pPr>
            <a:r>
              <a:rPr lang="en-IN" sz="1550">
                <a:solidFill>
                  <a:srgbClr val="666666"/>
                </a:solidFill>
                <a:highlight>
                  <a:srgbClr val="FFFFFF"/>
                </a:highlight>
                <a:latin typeface="Arial"/>
                <a:ea typeface="Arial"/>
                <a:cs typeface="Arial"/>
                <a:sym typeface="Arial"/>
              </a:rPr>
              <a:t>For k = 3:</a:t>
            </a: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259066"/>
              <a:buNone/>
            </a:pPr>
            <a:r>
              <a:rPr lang="en-IN" sz="772">
                <a:solidFill>
                  <a:srgbClr val="666666"/>
                </a:solidFill>
                <a:highlight>
                  <a:srgbClr val="FFFFFF"/>
                </a:highlight>
                <a:latin typeface="Arial"/>
                <a:ea typeface="Arial"/>
                <a:cs typeface="Arial"/>
                <a:sym typeface="Arial"/>
              </a:rPr>
              <a:t>cp	=   cp + p</a:t>
            </a:r>
            <a:r>
              <a:rPr lang="en-IN" sz="822" baseline="-25000">
                <a:solidFill>
                  <a:srgbClr val="666666"/>
                </a:solidFill>
                <a:highlight>
                  <a:srgbClr val="FFFFFF"/>
                </a:highlight>
                <a:latin typeface="Arial"/>
                <a:ea typeface="Arial"/>
                <a:cs typeface="Arial"/>
                <a:sym typeface="Arial"/>
              </a:rPr>
              <a:t>4</a:t>
            </a:r>
            <a:r>
              <a:rPr lang="en-IN" sz="772">
                <a:solidFill>
                  <a:srgbClr val="666666"/>
                </a:solidFill>
                <a:highlight>
                  <a:srgbClr val="FFFFFF"/>
                </a:highlight>
                <a:latin typeface="Arial"/>
                <a:ea typeface="Arial"/>
                <a:cs typeface="Arial"/>
                <a:sym typeface="Arial"/>
              </a:rPr>
              <a:t> = 63 + 33 = 96</a:t>
            </a:r>
            <a:endParaRPr sz="772">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259066"/>
              <a:buNone/>
            </a:pPr>
            <a:r>
              <a:rPr lang="en-IN" sz="772">
                <a:solidFill>
                  <a:srgbClr val="666666"/>
                </a:solidFill>
                <a:highlight>
                  <a:srgbClr val="FFFFFF"/>
                </a:highlight>
                <a:latin typeface="Arial"/>
                <a:ea typeface="Arial"/>
                <a:cs typeface="Arial"/>
                <a:sym typeface="Arial"/>
              </a:rPr>
              <a:t>cw	=   cw + w</a:t>
            </a:r>
            <a:r>
              <a:rPr lang="en-IN" sz="822" baseline="-25000">
                <a:solidFill>
                  <a:srgbClr val="666666"/>
                </a:solidFill>
                <a:highlight>
                  <a:srgbClr val="FFFFFF"/>
                </a:highlight>
                <a:latin typeface="Arial"/>
                <a:ea typeface="Arial"/>
                <a:cs typeface="Arial"/>
                <a:sym typeface="Arial"/>
              </a:rPr>
              <a:t>4</a:t>
            </a:r>
            <a:r>
              <a:rPr lang="en-IN" sz="772">
                <a:solidFill>
                  <a:srgbClr val="666666"/>
                </a:solidFill>
                <a:highlight>
                  <a:srgbClr val="FFFFFF"/>
                </a:highlight>
                <a:latin typeface="Arial"/>
                <a:ea typeface="Arial"/>
                <a:cs typeface="Arial"/>
                <a:sym typeface="Arial"/>
              </a:rPr>
              <a:t> = 33 + 23 = 56</a:t>
            </a:r>
            <a:endParaRPr sz="772">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259066"/>
              <a:buNone/>
            </a:pPr>
            <a:r>
              <a:rPr lang="en-IN" sz="772">
                <a:solidFill>
                  <a:srgbClr val="666666"/>
                </a:solidFill>
                <a:highlight>
                  <a:srgbClr val="FFFFFF"/>
                </a:highlight>
                <a:latin typeface="Arial"/>
                <a:ea typeface="Arial"/>
                <a:cs typeface="Arial"/>
                <a:sym typeface="Arial"/>
              </a:rPr>
              <a:t>cw	&lt;   M, so select item 4</a:t>
            </a:r>
            <a:endParaRPr sz="772">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201207"/>
              <a:buNone/>
            </a:pPr>
            <a:r>
              <a:rPr lang="en-IN" sz="993">
                <a:solidFill>
                  <a:srgbClr val="666666"/>
                </a:solidFill>
                <a:highlight>
                  <a:srgbClr val="FFFFFF"/>
                </a:highlight>
                <a:latin typeface="Arial"/>
                <a:ea typeface="Arial"/>
                <a:cs typeface="Arial"/>
                <a:sym typeface="Arial"/>
              </a:rPr>
              <a:t>k    =   k + 1 = 4</a:t>
            </a:r>
            <a:endParaRPr sz="993">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9032"/>
              <a:buNone/>
            </a:pP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9032"/>
              <a:buNone/>
            </a:pPr>
            <a:r>
              <a:rPr lang="en-IN" sz="1550">
                <a:solidFill>
                  <a:srgbClr val="666666"/>
                </a:solidFill>
                <a:highlight>
                  <a:srgbClr val="FFFFFF"/>
                </a:highlight>
                <a:latin typeface="Arial"/>
                <a:ea typeface="Arial"/>
                <a:cs typeface="Arial"/>
                <a:sym typeface="Arial"/>
              </a:rPr>
              <a:t>For k = 4:</a:t>
            </a: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259066"/>
              <a:buNone/>
            </a:pPr>
            <a:r>
              <a:rPr lang="en-IN" sz="772">
                <a:solidFill>
                  <a:srgbClr val="666666"/>
                </a:solidFill>
                <a:highlight>
                  <a:srgbClr val="FFFFFF"/>
                </a:highlight>
                <a:latin typeface="Arial"/>
                <a:ea typeface="Arial"/>
                <a:cs typeface="Arial"/>
                <a:sym typeface="Arial"/>
              </a:rPr>
              <a:t>cp	=   cp + p</a:t>
            </a:r>
            <a:r>
              <a:rPr lang="en-IN" sz="822" baseline="-25000">
                <a:solidFill>
                  <a:srgbClr val="666666"/>
                </a:solidFill>
                <a:highlight>
                  <a:srgbClr val="FFFFFF"/>
                </a:highlight>
                <a:latin typeface="Arial"/>
                <a:ea typeface="Arial"/>
                <a:cs typeface="Arial"/>
                <a:sym typeface="Arial"/>
              </a:rPr>
              <a:t>5</a:t>
            </a:r>
            <a:r>
              <a:rPr lang="en-IN" sz="772">
                <a:solidFill>
                  <a:srgbClr val="666666"/>
                </a:solidFill>
                <a:highlight>
                  <a:srgbClr val="FFFFFF"/>
                </a:highlight>
                <a:latin typeface="Arial"/>
                <a:ea typeface="Arial"/>
                <a:cs typeface="Arial"/>
                <a:sym typeface="Arial"/>
              </a:rPr>
              <a:t> = 96 + 43 = 139</a:t>
            </a:r>
            <a:endParaRPr sz="772">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259066"/>
              <a:buNone/>
            </a:pPr>
            <a:r>
              <a:rPr lang="en-IN" sz="772">
                <a:solidFill>
                  <a:srgbClr val="666666"/>
                </a:solidFill>
                <a:highlight>
                  <a:srgbClr val="FFFFFF"/>
                </a:highlight>
                <a:latin typeface="Arial"/>
                <a:ea typeface="Arial"/>
                <a:cs typeface="Arial"/>
                <a:sym typeface="Arial"/>
              </a:rPr>
              <a:t>cw	=   cw + w</a:t>
            </a:r>
            <a:r>
              <a:rPr lang="en-IN" sz="822" baseline="-25000">
                <a:solidFill>
                  <a:srgbClr val="666666"/>
                </a:solidFill>
                <a:highlight>
                  <a:srgbClr val="FFFFFF"/>
                </a:highlight>
                <a:latin typeface="Arial"/>
                <a:ea typeface="Arial"/>
                <a:cs typeface="Arial"/>
                <a:sym typeface="Arial"/>
              </a:rPr>
              <a:t>5</a:t>
            </a:r>
            <a:r>
              <a:rPr lang="en-IN" sz="772">
                <a:solidFill>
                  <a:srgbClr val="666666"/>
                </a:solidFill>
                <a:highlight>
                  <a:srgbClr val="FFFFFF"/>
                </a:highlight>
                <a:latin typeface="Arial"/>
                <a:ea typeface="Arial"/>
                <a:cs typeface="Arial"/>
                <a:sym typeface="Arial"/>
              </a:rPr>
              <a:t> = 56 + 33 = 89</a:t>
            </a:r>
            <a:endParaRPr sz="772">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259066"/>
              <a:buNone/>
            </a:pPr>
            <a:r>
              <a:rPr lang="en-IN" sz="772">
                <a:solidFill>
                  <a:srgbClr val="666666"/>
                </a:solidFill>
                <a:highlight>
                  <a:srgbClr val="FFFFFF"/>
                </a:highlight>
                <a:latin typeface="Arial"/>
                <a:ea typeface="Arial"/>
                <a:cs typeface="Arial"/>
                <a:sym typeface="Arial"/>
              </a:rPr>
              <a:t>cw	&lt;   M, so select item 5</a:t>
            </a:r>
            <a:endParaRPr sz="772">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201207"/>
              <a:buNone/>
            </a:pPr>
            <a:r>
              <a:rPr lang="en-IN" sz="993">
                <a:solidFill>
                  <a:srgbClr val="666666"/>
                </a:solidFill>
                <a:highlight>
                  <a:srgbClr val="FFFFFF"/>
                </a:highlight>
                <a:latin typeface="Arial"/>
                <a:ea typeface="Arial"/>
                <a:cs typeface="Arial"/>
                <a:sym typeface="Arial"/>
              </a:rPr>
              <a:t>k    =   k + 1 = 5</a:t>
            </a:r>
            <a:endParaRPr sz="993">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9032"/>
              <a:buNone/>
            </a:pP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12866"/>
              <a:buNone/>
            </a:pPr>
            <a:endParaRPr sz="1770">
              <a:solidFill>
                <a:srgbClr val="666666"/>
              </a:solidFill>
              <a:highlight>
                <a:srgbClr val="FFFFFF"/>
              </a:highlight>
              <a:latin typeface="Arial"/>
              <a:ea typeface="Arial"/>
              <a:cs typeface="Arial"/>
              <a:sym typeface="Arial"/>
            </a:endParaRPr>
          </a:p>
          <a:p>
            <a:pPr marL="0" lvl="0" indent="0" algn="l" rtl="0">
              <a:lnSpc>
                <a:spcPct val="90000"/>
              </a:lnSpc>
              <a:spcBef>
                <a:spcPts val="1500"/>
              </a:spcBef>
              <a:spcAft>
                <a:spcPts val="0"/>
              </a:spcAft>
              <a:buClr>
                <a:srgbClr val="262626"/>
              </a:buClr>
              <a:buSzPct val="100000"/>
              <a:buFont typeface="Bookman Old Style"/>
              <a:buNone/>
            </a:pPr>
            <a:endParaRPr/>
          </a:p>
        </p:txBody>
      </p:sp>
      <p:sp>
        <p:nvSpPr>
          <p:cNvPr id="228" name="Google Shape;228;g24275c33bf8_0_177"/>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17</a:t>
            </a:fld>
            <a:endParaRPr/>
          </a:p>
        </p:txBody>
      </p:sp>
      <p:sp>
        <p:nvSpPr>
          <p:cNvPr id="229" name="Google Shape;229;g24275c33bf8_0_177"/>
          <p:cNvSpPr txBox="1">
            <a:spLocks noGrp="1"/>
          </p:cNvSpPr>
          <p:nvPr>
            <p:ph type="title"/>
          </p:nvPr>
        </p:nvSpPr>
        <p:spPr>
          <a:xfrm>
            <a:off x="960125" y="928525"/>
            <a:ext cx="10269900" cy="8202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dirty="0"/>
              <a:t>   				Knapsack Problem</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24275c33bf8_0_186"/>
          <p:cNvSpPr txBox="1">
            <a:spLocks noGrp="1"/>
          </p:cNvSpPr>
          <p:nvPr>
            <p:ph type="title"/>
          </p:nvPr>
        </p:nvSpPr>
        <p:spPr>
          <a:xfrm>
            <a:off x="960125" y="1897200"/>
            <a:ext cx="10269900" cy="42162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l" rtl="0">
              <a:lnSpc>
                <a:spcPct val="115000"/>
              </a:lnSpc>
              <a:spcBef>
                <a:spcPts val="0"/>
              </a:spcBef>
              <a:spcAft>
                <a:spcPts val="0"/>
              </a:spcAft>
              <a:buSzPct val="112866"/>
              <a:buNone/>
            </a:pPr>
            <a:endParaRPr sz="177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12866"/>
              <a:buNone/>
            </a:pPr>
            <a:endParaRPr sz="177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12866"/>
              <a:buNone/>
            </a:pPr>
            <a:endParaRPr sz="177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9032"/>
              <a:buNone/>
            </a:pP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0409"/>
              <a:buNone/>
            </a:pPr>
            <a:r>
              <a:rPr lang="en-IN" sz="1661">
                <a:solidFill>
                  <a:srgbClr val="666666"/>
                </a:solidFill>
                <a:highlight>
                  <a:srgbClr val="FFFFFF"/>
                </a:highlight>
                <a:latin typeface="Arial"/>
                <a:ea typeface="Arial"/>
                <a:cs typeface="Arial"/>
                <a:sym typeface="Arial"/>
              </a:rPr>
              <a:t>For k = 5:</a:t>
            </a:r>
            <a:endParaRPr sz="1661">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0409"/>
              <a:buNone/>
            </a:pPr>
            <a:r>
              <a:rPr lang="en-IN" sz="1661">
                <a:solidFill>
                  <a:srgbClr val="666666"/>
                </a:solidFill>
                <a:highlight>
                  <a:srgbClr val="FFFFFF"/>
                </a:highlight>
                <a:latin typeface="Arial"/>
                <a:ea typeface="Arial"/>
                <a:cs typeface="Arial"/>
                <a:sym typeface="Arial"/>
              </a:rPr>
              <a:t>cp	=   cp + p</a:t>
            </a:r>
            <a:r>
              <a:rPr lang="en-IN" sz="1711" baseline="-25000">
                <a:solidFill>
                  <a:srgbClr val="666666"/>
                </a:solidFill>
                <a:highlight>
                  <a:srgbClr val="FFFFFF"/>
                </a:highlight>
                <a:latin typeface="Arial"/>
                <a:ea typeface="Arial"/>
                <a:cs typeface="Arial"/>
                <a:sym typeface="Arial"/>
              </a:rPr>
              <a:t>6</a:t>
            </a:r>
            <a:r>
              <a:rPr lang="en-IN" sz="1661">
                <a:solidFill>
                  <a:srgbClr val="666666"/>
                </a:solidFill>
                <a:highlight>
                  <a:srgbClr val="FFFFFF"/>
                </a:highlight>
                <a:latin typeface="Arial"/>
                <a:ea typeface="Arial"/>
                <a:cs typeface="Arial"/>
                <a:sym typeface="Arial"/>
              </a:rPr>
              <a:t> = 139 + 53 = 192</a:t>
            </a:r>
            <a:endParaRPr sz="1661">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0409"/>
              <a:buNone/>
            </a:pPr>
            <a:r>
              <a:rPr lang="en-IN" sz="1661">
                <a:solidFill>
                  <a:srgbClr val="666666"/>
                </a:solidFill>
                <a:highlight>
                  <a:srgbClr val="FFFFFF"/>
                </a:highlight>
                <a:latin typeface="Arial"/>
                <a:ea typeface="Arial"/>
                <a:cs typeface="Arial"/>
                <a:sym typeface="Arial"/>
              </a:rPr>
              <a:t>cw	=   cw + w</a:t>
            </a:r>
            <a:r>
              <a:rPr lang="en-IN" sz="1711" baseline="-25000">
                <a:solidFill>
                  <a:srgbClr val="666666"/>
                </a:solidFill>
                <a:highlight>
                  <a:srgbClr val="FFFFFF"/>
                </a:highlight>
                <a:latin typeface="Arial"/>
                <a:ea typeface="Arial"/>
                <a:cs typeface="Arial"/>
                <a:sym typeface="Arial"/>
              </a:rPr>
              <a:t>6</a:t>
            </a:r>
            <a:r>
              <a:rPr lang="en-IN" sz="1661">
                <a:solidFill>
                  <a:srgbClr val="666666"/>
                </a:solidFill>
                <a:highlight>
                  <a:srgbClr val="FFFFFF"/>
                </a:highlight>
                <a:latin typeface="Arial"/>
                <a:ea typeface="Arial"/>
                <a:cs typeface="Arial"/>
                <a:sym typeface="Arial"/>
              </a:rPr>
              <a:t> = 89 + 43 = 132</a:t>
            </a:r>
            <a:endParaRPr sz="1661">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0409"/>
              <a:buNone/>
            </a:pPr>
            <a:r>
              <a:rPr lang="en-IN" sz="1661">
                <a:solidFill>
                  <a:srgbClr val="666666"/>
                </a:solidFill>
                <a:highlight>
                  <a:srgbClr val="FFFFFF"/>
                </a:highlight>
                <a:latin typeface="Arial"/>
                <a:ea typeface="Arial"/>
                <a:cs typeface="Arial"/>
                <a:sym typeface="Arial"/>
              </a:rPr>
              <a:t>cw	&gt;   M, so reject item 6 and find upper bound</a:t>
            </a:r>
            <a:endParaRPr sz="1661">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0409"/>
              <a:buNone/>
            </a:pPr>
            <a:r>
              <a:rPr lang="en-IN" sz="1661">
                <a:solidFill>
                  <a:srgbClr val="666666"/>
                </a:solidFill>
                <a:highlight>
                  <a:srgbClr val="FFFFFF"/>
                </a:highlight>
                <a:latin typeface="Arial"/>
                <a:ea typeface="Arial"/>
                <a:cs typeface="Arial"/>
                <a:sym typeface="Arial"/>
              </a:rPr>
              <a:t>cp	=   cp – p</a:t>
            </a:r>
            <a:r>
              <a:rPr lang="en-IN" sz="1711" baseline="-25000">
                <a:solidFill>
                  <a:srgbClr val="666666"/>
                </a:solidFill>
                <a:highlight>
                  <a:srgbClr val="FFFFFF"/>
                </a:highlight>
                <a:latin typeface="Arial"/>
                <a:ea typeface="Arial"/>
                <a:cs typeface="Arial"/>
                <a:sym typeface="Arial"/>
              </a:rPr>
              <a:t>6</a:t>
            </a:r>
            <a:r>
              <a:rPr lang="en-IN" sz="1661">
                <a:solidFill>
                  <a:srgbClr val="666666"/>
                </a:solidFill>
                <a:highlight>
                  <a:srgbClr val="FFFFFF"/>
                </a:highlight>
                <a:latin typeface="Arial"/>
                <a:ea typeface="Arial"/>
                <a:cs typeface="Arial"/>
                <a:sym typeface="Arial"/>
              </a:rPr>
              <a:t> = 192 – 53 = 139</a:t>
            </a:r>
            <a:endParaRPr sz="1661">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0409"/>
              <a:buNone/>
            </a:pPr>
            <a:r>
              <a:rPr lang="en-IN" sz="1661">
                <a:solidFill>
                  <a:srgbClr val="666666"/>
                </a:solidFill>
                <a:highlight>
                  <a:srgbClr val="FFFFFF"/>
                </a:highlight>
                <a:latin typeface="Arial"/>
                <a:ea typeface="Arial"/>
                <a:cs typeface="Arial"/>
                <a:sym typeface="Arial"/>
              </a:rPr>
              <a:t>cw	=   cw – w</a:t>
            </a:r>
            <a:r>
              <a:rPr lang="en-IN" sz="1711" baseline="-25000">
                <a:solidFill>
                  <a:srgbClr val="666666"/>
                </a:solidFill>
                <a:highlight>
                  <a:srgbClr val="FFFFFF"/>
                </a:highlight>
                <a:latin typeface="Arial"/>
                <a:ea typeface="Arial"/>
                <a:cs typeface="Arial"/>
                <a:sym typeface="Arial"/>
              </a:rPr>
              <a:t>6</a:t>
            </a:r>
            <a:r>
              <a:rPr lang="en-IN" sz="1661">
                <a:solidFill>
                  <a:srgbClr val="666666"/>
                </a:solidFill>
                <a:highlight>
                  <a:srgbClr val="FFFFFF"/>
                </a:highlight>
                <a:latin typeface="Arial"/>
                <a:ea typeface="Arial"/>
                <a:cs typeface="Arial"/>
                <a:sym typeface="Arial"/>
              </a:rPr>
              <a:t> = 132 – 43 = 89</a:t>
            </a:r>
            <a:endParaRPr sz="1661">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0409"/>
              <a:buNone/>
            </a:pPr>
            <a:r>
              <a:rPr lang="en-IN" sz="1661">
                <a:solidFill>
                  <a:srgbClr val="666666"/>
                </a:solidFill>
                <a:highlight>
                  <a:srgbClr val="FFFFFF"/>
                </a:highlight>
                <a:latin typeface="Arial"/>
                <a:ea typeface="Arial"/>
                <a:cs typeface="Arial"/>
                <a:sym typeface="Arial"/>
              </a:rPr>
              <a:t>ub	=   cp + ((M – cw ) / w </a:t>
            </a:r>
            <a:r>
              <a:rPr lang="en-IN" sz="1711" baseline="-25000">
                <a:solidFill>
                  <a:srgbClr val="666666"/>
                </a:solidFill>
                <a:highlight>
                  <a:srgbClr val="FFFFFF"/>
                </a:highlight>
                <a:latin typeface="Arial"/>
                <a:ea typeface="Arial"/>
                <a:cs typeface="Arial"/>
                <a:sym typeface="Arial"/>
              </a:rPr>
              <a:t>i+1</a:t>
            </a:r>
            <a:r>
              <a:rPr lang="en-IN" sz="1661">
                <a:solidFill>
                  <a:srgbClr val="666666"/>
                </a:solidFill>
                <a:highlight>
                  <a:srgbClr val="FFFFFF"/>
                </a:highlight>
                <a:latin typeface="Arial"/>
                <a:ea typeface="Arial"/>
                <a:cs typeface="Arial"/>
                <a:sym typeface="Arial"/>
              </a:rPr>
              <a:t>) * p</a:t>
            </a:r>
            <a:r>
              <a:rPr lang="en-IN" sz="1711" baseline="-25000">
                <a:solidFill>
                  <a:srgbClr val="666666"/>
                </a:solidFill>
                <a:highlight>
                  <a:srgbClr val="FFFFFF"/>
                </a:highlight>
                <a:latin typeface="Arial"/>
                <a:ea typeface="Arial"/>
                <a:cs typeface="Arial"/>
                <a:sym typeface="Arial"/>
              </a:rPr>
              <a:t>i+1</a:t>
            </a:r>
            <a:endParaRPr sz="1711" baseline="-2500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0409"/>
              <a:buNone/>
            </a:pPr>
            <a:r>
              <a:rPr lang="en-IN" sz="1661">
                <a:solidFill>
                  <a:srgbClr val="666666"/>
                </a:solidFill>
                <a:highlight>
                  <a:srgbClr val="FFFFFF"/>
                </a:highlight>
                <a:latin typeface="Arial"/>
                <a:ea typeface="Arial"/>
                <a:cs typeface="Arial"/>
                <a:sym typeface="Arial"/>
              </a:rPr>
              <a:t>b </a:t>
            </a:r>
            <a:r>
              <a:rPr lang="en-IN" sz="1550">
                <a:solidFill>
                  <a:srgbClr val="666666"/>
                </a:solidFill>
                <a:highlight>
                  <a:srgbClr val="FFFFFF"/>
                </a:highlight>
                <a:latin typeface="Arial"/>
                <a:ea typeface="Arial"/>
                <a:cs typeface="Arial"/>
                <a:sym typeface="Arial"/>
              </a:rPr>
              <a:t>   =   cp + [(110 – 89) / 43] * 53 = 164.88</a:t>
            </a: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04383"/>
              <a:buNone/>
            </a:pPr>
            <a:endParaRPr sz="1916">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9032"/>
              <a:buNone/>
            </a:pP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9032"/>
              <a:buNone/>
            </a:pP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12866"/>
              <a:buNone/>
            </a:pPr>
            <a:endParaRPr sz="1770">
              <a:solidFill>
                <a:srgbClr val="666666"/>
              </a:solidFill>
              <a:highlight>
                <a:srgbClr val="FFFFFF"/>
              </a:highlight>
              <a:latin typeface="Arial"/>
              <a:ea typeface="Arial"/>
              <a:cs typeface="Arial"/>
              <a:sym typeface="Arial"/>
            </a:endParaRPr>
          </a:p>
          <a:p>
            <a:pPr marL="0" lvl="0" indent="0" algn="l" rtl="0">
              <a:lnSpc>
                <a:spcPct val="90000"/>
              </a:lnSpc>
              <a:spcBef>
                <a:spcPts val="1500"/>
              </a:spcBef>
              <a:spcAft>
                <a:spcPts val="0"/>
              </a:spcAft>
              <a:buClr>
                <a:srgbClr val="262626"/>
              </a:buClr>
              <a:buSzPct val="100000"/>
              <a:buFont typeface="Bookman Old Style"/>
              <a:buNone/>
            </a:pPr>
            <a:endParaRPr/>
          </a:p>
        </p:txBody>
      </p:sp>
      <p:sp>
        <p:nvSpPr>
          <p:cNvPr id="235" name="Google Shape;235;g24275c33bf8_0_186"/>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18</a:t>
            </a:fld>
            <a:endParaRPr/>
          </a:p>
        </p:txBody>
      </p:sp>
      <p:sp>
        <p:nvSpPr>
          <p:cNvPr id="236" name="Google Shape;236;g24275c33bf8_0_186"/>
          <p:cNvSpPr txBox="1">
            <a:spLocks noGrp="1"/>
          </p:cNvSpPr>
          <p:nvPr>
            <p:ph type="title"/>
          </p:nvPr>
        </p:nvSpPr>
        <p:spPr>
          <a:xfrm>
            <a:off x="960125" y="928525"/>
            <a:ext cx="10269900" cy="8202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dirty="0"/>
              <a:t>   				</a:t>
            </a:r>
            <a:r>
              <a:rPr lang="en-IN" dirty="0" smtClean="0"/>
              <a:t>Knapsack </a:t>
            </a:r>
            <a:r>
              <a:rPr lang="en-IN" dirty="0"/>
              <a:t>Problem</a:t>
            </a:r>
            <a:endParaRPr dirty="0"/>
          </a:p>
        </p:txBody>
      </p:sp>
      <p:sp>
        <p:nvSpPr>
          <p:cNvPr id="237" name="Google Shape;237;g24275c33bf8_0_186"/>
          <p:cNvSpPr txBox="1"/>
          <p:nvPr/>
        </p:nvSpPr>
        <p:spPr>
          <a:xfrm>
            <a:off x="5897875" y="1897200"/>
            <a:ext cx="5332200" cy="4216200"/>
          </a:xfrm>
          <a:prstGeom prst="rect">
            <a:avLst/>
          </a:prstGeom>
          <a:solidFill>
            <a:srgbClr val="FFFFFF"/>
          </a:solidFill>
          <a:ln w="31750" cap="sq" cmpd="sng">
            <a:solidFill>
              <a:srgbClr val="404040"/>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361"/>
              <a:buFont typeface="Arial"/>
              <a:buNone/>
            </a:pPr>
            <a:endParaRPr sz="1361" b="0" i="0" u="none" strike="noStrike" cap="none">
              <a:solidFill>
                <a:srgbClr val="666666"/>
              </a:solidFill>
              <a:highlight>
                <a:srgbClr val="FFFFFF"/>
              </a:highlight>
              <a:latin typeface="Arial"/>
              <a:ea typeface="Arial"/>
              <a:cs typeface="Arial"/>
              <a:sym typeface="Arial"/>
            </a:endParaRPr>
          </a:p>
          <a:p>
            <a:pPr marL="0" marR="0" lvl="0" indent="0" algn="l" rtl="0">
              <a:lnSpc>
                <a:spcPct val="115000"/>
              </a:lnSpc>
              <a:spcBef>
                <a:spcPts val="1500"/>
              </a:spcBef>
              <a:spcAft>
                <a:spcPts val="0"/>
              </a:spcAft>
              <a:buClr>
                <a:srgbClr val="000000"/>
              </a:buClr>
              <a:buSzPts val="1361"/>
              <a:buFont typeface="Arial"/>
              <a:buNone/>
            </a:pPr>
            <a:r>
              <a:rPr lang="en-IN" sz="1361" b="0" i="0" u="none" strike="noStrike" cap="none">
                <a:solidFill>
                  <a:srgbClr val="666666"/>
                </a:solidFill>
                <a:highlight>
                  <a:srgbClr val="FFFFFF"/>
                </a:highlight>
                <a:latin typeface="Arial"/>
                <a:ea typeface="Arial"/>
                <a:cs typeface="Arial"/>
                <a:sym typeface="Arial"/>
              </a:rPr>
              <a:t>Inclusion of any item from {I</a:t>
            </a:r>
            <a:r>
              <a:rPr lang="en-IN" sz="1411" b="0" i="0" u="none" strike="noStrike" cap="none" baseline="-25000">
                <a:solidFill>
                  <a:srgbClr val="666666"/>
                </a:solidFill>
                <a:highlight>
                  <a:srgbClr val="FFFFFF"/>
                </a:highlight>
                <a:latin typeface="Arial"/>
                <a:ea typeface="Arial"/>
                <a:cs typeface="Arial"/>
                <a:sym typeface="Arial"/>
              </a:rPr>
              <a:t>6</a:t>
            </a:r>
            <a:r>
              <a:rPr lang="en-IN" sz="1361" b="0" i="0" u="none" strike="noStrike" cap="none">
                <a:solidFill>
                  <a:srgbClr val="666666"/>
                </a:solidFill>
                <a:highlight>
                  <a:srgbClr val="FFFFFF"/>
                </a:highlight>
                <a:latin typeface="Arial"/>
                <a:ea typeface="Arial"/>
                <a:cs typeface="Arial"/>
                <a:sym typeface="Arial"/>
              </a:rPr>
              <a:t>, I</a:t>
            </a:r>
            <a:r>
              <a:rPr lang="en-IN" sz="1411" b="0" i="0" u="none" strike="noStrike" cap="none" baseline="-25000">
                <a:solidFill>
                  <a:srgbClr val="666666"/>
                </a:solidFill>
                <a:highlight>
                  <a:srgbClr val="FFFFFF"/>
                </a:highlight>
                <a:latin typeface="Arial"/>
                <a:ea typeface="Arial"/>
                <a:cs typeface="Arial"/>
                <a:sym typeface="Arial"/>
              </a:rPr>
              <a:t>7</a:t>
            </a:r>
            <a:r>
              <a:rPr lang="en-IN" sz="1361" b="0" i="0" u="none" strike="noStrike" cap="none">
                <a:solidFill>
                  <a:srgbClr val="666666"/>
                </a:solidFill>
                <a:highlight>
                  <a:srgbClr val="FFFFFF"/>
                </a:highlight>
                <a:latin typeface="Arial"/>
                <a:ea typeface="Arial"/>
                <a:cs typeface="Arial"/>
                <a:sym typeface="Arial"/>
              </a:rPr>
              <a:t>, I</a:t>
            </a:r>
            <a:r>
              <a:rPr lang="en-IN" sz="1411" b="0" i="0" u="none" strike="noStrike" cap="none" baseline="-25000">
                <a:solidFill>
                  <a:srgbClr val="666666"/>
                </a:solidFill>
                <a:highlight>
                  <a:srgbClr val="FFFFFF"/>
                </a:highlight>
                <a:latin typeface="Arial"/>
                <a:ea typeface="Arial"/>
                <a:cs typeface="Arial"/>
                <a:sym typeface="Arial"/>
              </a:rPr>
              <a:t>8</a:t>
            </a:r>
            <a:r>
              <a:rPr lang="en-IN" sz="1361" b="0" i="0" u="none" strike="noStrike" cap="none">
                <a:solidFill>
                  <a:srgbClr val="666666"/>
                </a:solidFill>
                <a:highlight>
                  <a:srgbClr val="FFFFFF"/>
                </a:highlight>
                <a:latin typeface="Arial"/>
                <a:ea typeface="Arial"/>
                <a:cs typeface="Arial"/>
                <a:sym typeface="Arial"/>
              </a:rPr>
              <a:t>} will exceed the capacity. </a:t>
            </a:r>
            <a:endParaRPr sz="1361" b="0" i="0" u="none" strike="noStrike" cap="none">
              <a:solidFill>
                <a:srgbClr val="666666"/>
              </a:solidFill>
              <a:highlight>
                <a:srgbClr val="FFFFFF"/>
              </a:highlight>
              <a:latin typeface="Arial"/>
              <a:ea typeface="Arial"/>
              <a:cs typeface="Arial"/>
              <a:sym typeface="Arial"/>
            </a:endParaRPr>
          </a:p>
          <a:p>
            <a:pPr marL="0" marR="0" lvl="0" indent="0" algn="l" rtl="0">
              <a:lnSpc>
                <a:spcPct val="115000"/>
              </a:lnSpc>
              <a:spcBef>
                <a:spcPts val="1500"/>
              </a:spcBef>
              <a:spcAft>
                <a:spcPts val="0"/>
              </a:spcAft>
              <a:buClr>
                <a:schemeClr val="dk1"/>
              </a:buClr>
              <a:buSzPts val="1100"/>
              <a:buFont typeface="Arial"/>
              <a:buNone/>
            </a:pPr>
            <a:r>
              <a:rPr lang="en-IN" sz="1361" b="0" i="0" u="none" strike="noStrike" cap="none">
                <a:solidFill>
                  <a:srgbClr val="666666"/>
                </a:solidFill>
                <a:highlight>
                  <a:srgbClr val="FFFFFF"/>
                </a:highlight>
                <a:latin typeface="Arial"/>
                <a:ea typeface="Arial"/>
                <a:cs typeface="Arial"/>
                <a:sym typeface="Arial"/>
              </a:rPr>
              <a:t>So let’s backtrack to item 4.</a:t>
            </a:r>
            <a:endParaRPr sz="1205" b="0" i="0" u="none" strike="noStrike" cap="none">
              <a:solidFill>
                <a:srgbClr val="666666"/>
              </a:solidFill>
              <a:highlight>
                <a:srgbClr val="FFFFFF"/>
              </a:highlight>
              <a:latin typeface="Arial"/>
              <a:ea typeface="Arial"/>
              <a:cs typeface="Arial"/>
              <a:sym typeface="Arial"/>
            </a:endParaRPr>
          </a:p>
          <a:p>
            <a:pPr marL="0" marR="0" lvl="0" indent="0" algn="l" rtl="0">
              <a:lnSpc>
                <a:spcPct val="115000"/>
              </a:lnSpc>
              <a:spcBef>
                <a:spcPts val="1500"/>
              </a:spcBef>
              <a:spcAft>
                <a:spcPts val="0"/>
              </a:spcAft>
              <a:buClr>
                <a:schemeClr val="dk1"/>
              </a:buClr>
              <a:buSzPts val="1100"/>
              <a:buFont typeface="Arial"/>
              <a:buNone/>
            </a:pPr>
            <a:r>
              <a:rPr lang="en-IN" sz="1505" b="0" i="0" u="none" strike="noStrike" cap="none">
                <a:solidFill>
                  <a:srgbClr val="666666"/>
                </a:solidFill>
                <a:highlight>
                  <a:srgbClr val="FFFFFF"/>
                </a:highlight>
                <a:latin typeface="Arial"/>
                <a:ea typeface="Arial"/>
                <a:cs typeface="Arial"/>
                <a:sym typeface="Arial"/>
              </a:rPr>
              <a:t>Upper bound at node 1:</a:t>
            </a:r>
            <a:endParaRPr sz="1505" b="0" i="0" u="none" strike="noStrike" cap="none">
              <a:solidFill>
                <a:srgbClr val="666666"/>
              </a:solidFill>
              <a:highlight>
                <a:srgbClr val="FFFFFF"/>
              </a:highlight>
              <a:latin typeface="Arial"/>
              <a:ea typeface="Arial"/>
              <a:cs typeface="Arial"/>
              <a:sym typeface="Arial"/>
            </a:endParaRPr>
          </a:p>
          <a:p>
            <a:pPr marL="0" marR="0" lvl="0" indent="0" algn="l" rtl="0">
              <a:lnSpc>
                <a:spcPct val="115000"/>
              </a:lnSpc>
              <a:spcBef>
                <a:spcPts val="1500"/>
              </a:spcBef>
              <a:spcAft>
                <a:spcPts val="0"/>
              </a:spcAft>
              <a:buClr>
                <a:schemeClr val="dk1"/>
              </a:buClr>
              <a:buSzPts val="1100"/>
              <a:buFont typeface="Arial"/>
              <a:buNone/>
            </a:pPr>
            <a:r>
              <a:rPr lang="en-IN" sz="1505" b="0" i="0" u="none" strike="noStrike" cap="none">
                <a:solidFill>
                  <a:srgbClr val="666666"/>
                </a:solidFill>
                <a:highlight>
                  <a:srgbClr val="FFFFFF"/>
                </a:highlight>
                <a:latin typeface="Arial"/>
                <a:ea typeface="Arial"/>
                <a:cs typeface="Arial"/>
                <a:sym typeface="Arial"/>
              </a:rPr>
              <a:t>ub	=   cp + ((M – cw ) / w </a:t>
            </a:r>
            <a:r>
              <a:rPr lang="en-IN" sz="1555" b="0" i="0" u="none" strike="noStrike" cap="none" baseline="-25000">
                <a:solidFill>
                  <a:srgbClr val="666666"/>
                </a:solidFill>
                <a:highlight>
                  <a:srgbClr val="FFFFFF"/>
                </a:highlight>
                <a:latin typeface="Arial"/>
                <a:ea typeface="Arial"/>
                <a:cs typeface="Arial"/>
                <a:sym typeface="Arial"/>
              </a:rPr>
              <a:t>i+1</a:t>
            </a:r>
            <a:r>
              <a:rPr lang="en-IN" sz="1505" b="0" i="0" u="none" strike="noStrike" cap="none">
                <a:solidFill>
                  <a:srgbClr val="666666"/>
                </a:solidFill>
                <a:highlight>
                  <a:srgbClr val="FFFFFF"/>
                </a:highlight>
                <a:latin typeface="Arial"/>
                <a:ea typeface="Arial"/>
                <a:cs typeface="Arial"/>
                <a:sym typeface="Arial"/>
              </a:rPr>
              <a:t>) * p</a:t>
            </a:r>
            <a:r>
              <a:rPr lang="en-IN" sz="1555" b="0" i="0" u="none" strike="noStrike" cap="none" baseline="-25000">
                <a:solidFill>
                  <a:srgbClr val="666666"/>
                </a:solidFill>
                <a:highlight>
                  <a:srgbClr val="FFFFFF"/>
                </a:highlight>
                <a:latin typeface="Arial"/>
                <a:ea typeface="Arial"/>
                <a:cs typeface="Arial"/>
                <a:sym typeface="Arial"/>
              </a:rPr>
              <a:t>i+1</a:t>
            </a:r>
            <a:endParaRPr sz="1555" b="0" i="0" u="none" strike="noStrike" cap="none" baseline="-25000">
              <a:solidFill>
                <a:srgbClr val="666666"/>
              </a:solidFill>
              <a:highlight>
                <a:srgbClr val="FFFFFF"/>
              </a:highlight>
              <a:latin typeface="Arial"/>
              <a:ea typeface="Arial"/>
              <a:cs typeface="Arial"/>
              <a:sym typeface="Arial"/>
            </a:endParaRPr>
          </a:p>
          <a:p>
            <a:pPr marL="0" marR="0" lvl="0" indent="0" algn="l" rtl="0">
              <a:lnSpc>
                <a:spcPct val="115000"/>
              </a:lnSpc>
              <a:spcBef>
                <a:spcPts val="1500"/>
              </a:spcBef>
              <a:spcAft>
                <a:spcPts val="0"/>
              </a:spcAft>
              <a:buClr>
                <a:schemeClr val="dk1"/>
              </a:buClr>
              <a:buSzPts val="1100"/>
              <a:buFont typeface="Arial"/>
              <a:buNone/>
            </a:pPr>
            <a:r>
              <a:rPr lang="en-IN" sz="1505" b="0" i="0" u="none" strike="noStrike" cap="none">
                <a:solidFill>
                  <a:srgbClr val="666666"/>
                </a:solidFill>
                <a:highlight>
                  <a:srgbClr val="FFFFFF"/>
                </a:highlight>
                <a:latin typeface="Arial"/>
                <a:ea typeface="Arial"/>
                <a:cs typeface="Arial"/>
                <a:sym typeface="Arial"/>
              </a:rPr>
              <a:t>=   139 + [(110 – 89)] / 43 * 53 = 164.88</a:t>
            </a:r>
            <a:endParaRPr sz="1505" b="0" i="0" u="none" strike="noStrike" cap="none">
              <a:solidFill>
                <a:srgbClr val="666666"/>
              </a:solidFill>
              <a:highlight>
                <a:srgbClr val="FFFFFF"/>
              </a:highlight>
              <a:latin typeface="Arial"/>
              <a:ea typeface="Arial"/>
              <a:cs typeface="Arial"/>
              <a:sym typeface="Arial"/>
            </a:endParaRPr>
          </a:p>
          <a:p>
            <a:pPr marL="0" marR="0" lvl="0" indent="0" algn="l" rtl="0">
              <a:lnSpc>
                <a:spcPct val="115000"/>
              </a:lnSpc>
              <a:spcBef>
                <a:spcPts val="1500"/>
              </a:spcBef>
              <a:spcAft>
                <a:spcPts val="0"/>
              </a:spcAft>
              <a:buClr>
                <a:schemeClr val="dk1"/>
              </a:buClr>
              <a:buSzPts val="1100"/>
              <a:buFont typeface="Arial"/>
              <a:buNone/>
            </a:pPr>
            <a:r>
              <a:rPr lang="en-IN" sz="1505" b="0" i="0" u="none" strike="noStrike" cap="none">
                <a:solidFill>
                  <a:srgbClr val="666666"/>
                </a:solidFill>
                <a:highlight>
                  <a:srgbClr val="FFFFFF"/>
                </a:highlight>
                <a:latin typeface="Arial"/>
                <a:ea typeface="Arial"/>
                <a:cs typeface="Arial"/>
                <a:sym typeface="Arial"/>
              </a:rPr>
              <a:t>Upper bound at node 2:</a:t>
            </a:r>
            <a:endParaRPr sz="1505" b="0" i="0" u="none" strike="noStrike" cap="none">
              <a:solidFill>
                <a:srgbClr val="666666"/>
              </a:solidFill>
              <a:highlight>
                <a:srgbClr val="FFFFFF"/>
              </a:highlight>
              <a:latin typeface="Arial"/>
              <a:ea typeface="Arial"/>
              <a:cs typeface="Arial"/>
              <a:sym typeface="Arial"/>
            </a:endParaRPr>
          </a:p>
          <a:p>
            <a:pPr marL="0" marR="0" lvl="0" indent="0" algn="l" rtl="0">
              <a:lnSpc>
                <a:spcPct val="115000"/>
              </a:lnSpc>
              <a:spcBef>
                <a:spcPts val="1500"/>
              </a:spcBef>
              <a:spcAft>
                <a:spcPts val="0"/>
              </a:spcAft>
              <a:buClr>
                <a:schemeClr val="dk1"/>
              </a:buClr>
              <a:buSzPts val="1100"/>
              <a:buFont typeface="Arial"/>
              <a:buNone/>
            </a:pPr>
            <a:r>
              <a:rPr lang="en-IN" sz="1505" b="0" i="0" u="none" strike="noStrike" cap="none">
                <a:solidFill>
                  <a:srgbClr val="666666"/>
                </a:solidFill>
                <a:highlight>
                  <a:srgbClr val="FFFFFF"/>
                </a:highlight>
                <a:latin typeface="Arial"/>
                <a:ea typeface="Arial"/>
                <a:cs typeface="Arial"/>
                <a:sym typeface="Arial"/>
              </a:rPr>
              <a:t>=   96 + [(110 – 56) / 33] * 43 = 166.09</a:t>
            </a:r>
            <a:endParaRPr sz="1505" b="0" i="0" u="none" strike="noStrike" cap="none">
              <a:solidFill>
                <a:srgbClr val="666666"/>
              </a:solidFill>
              <a:highlight>
                <a:srgbClr val="FFFFFF"/>
              </a:highlight>
              <a:latin typeface="Arial"/>
              <a:ea typeface="Arial"/>
              <a:cs typeface="Arial"/>
              <a:sym typeface="Arial"/>
            </a:endParaRPr>
          </a:p>
          <a:p>
            <a:pPr marL="0" marR="0" lvl="0" indent="0" algn="l" rtl="0">
              <a:lnSpc>
                <a:spcPct val="115000"/>
              </a:lnSpc>
              <a:spcBef>
                <a:spcPts val="1500"/>
              </a:spcBef>
              <a:spcAft>
                <a:spcPts val="0"/>
              </a:spcAft>
              <a:buClr>
                <a:schemeClr val="dk1"/>
              </a:buClr>
              <a:buSzPts val="1100"/>
              <a:buFont typeface="Arial"/>
              <a:buNone/>
            </a:pPr>
            <a:r>
              <a:rPr lang="en-IN" sz="1505" b="0" i="0" u="none" strike="noStrike" cap="none">
                <a:solidFill>
                  <a:srgbClr val="666666"/>
                </a:solidFill>
                <a:highlight>
                  <a:srgbClr val="FFFFFF"/>
                </a:highlight>
                <a:latin typeface="Arial"/>
                <a:ea typeface="Arial"/>
                <a:cs typeface="Arial"/>
                <a:sym typeface="Arial"/>
              </a:rPr>
              <a:t>Upper bound at node 3:</a:t>
            </a:r>
            <a:endParaRPr sz="1505" b="0" i="0" u="none" strike="noStrike" cap="none">
              <a:solidFill>
                <a:srgbClr val="666666"/>
              </a:solidFill>
              <a:highlight>
                <a:srgbClr val="FFFFFF"/>
              </a:highlight>
              <a:latin typeface="Arial"/>
              <a:ea typeface="Arial"/>
              <a:cs typeface="Arial"/>
              <a:sym typeface="Arial"/>
            </a:endParaRPr>
          </a:p>
          <a:p>
            <a:pPr marL="0" marR="0" lvl="0" indent="0" algn="l" rtl="0">
              <a:lnSpc>
                <a:spcPct val="115000"/>
              </a:lnSpc>
              <a:spcBef>
                <a:spcPts val="1500"/>
              </a:spcBef>
              <a:spcAft>
                <a:spcPts val="0"/>
              </a:spcAft>
              <a:buClr>
                <a:schemeClr val="dk1"/>
              </a:buClr>
              <a:buSzPts val="1100"/>
              <a:buFont typeface="Arial"/>
              <a:buNone/>
            </a:pPr>
            <a:r>
              <a:rPr lang="en-IN" sz="1505" b="0" i="0" u="none" strike="noStrike" cap="none">
                <a:solidFill>
                  <a:srgbClr val="666666"/>
                </a:solidFill>
                <a:highlight>
                  <a:srgbClr val="FFFFFF"/>
                </a:highlight>
                <a:latin typeface="Arial"/>
                <a:ea typeface="Arial"/>
                <a:cs typeface="Arial"/>
                <a:sym typeface="Arial"/>
              </a:rPr>
              <a:t>= 63 + [(110 – 33) / 33] * 43 = 163.33</a:t>
            </a:r>
            <a:endParaRPr sz="1505" b="0" i="0" u="none" strike="noStrike" cap="none">
              <a:solidFill>
                <a:srgbClr val="666666"/>
              </a:solidFill>
              <a:highlight>
                <a:srgbClr val="FFFFFF"/>
              </a:highlight>
              <a:latin typeface="Arial"/>
              <a:ea typeface="Arial"/>
              <a:cs typeface="Arial"/>
              <a:sym typeface="Arial"/>
            </a:endParaRPr>
          </a:p>
          <a:p>
            <a:pPr marL="0" marR="0" lvl="0" indent="0" algn="l" rtl="0">
              <a:lnSpc>
                <a:spcPct val="100000"/>
              </a:lnSpc>
              <a:spcBef>
                <a:spcPts val="1500"/>
              </a:spcBef>
              <a:spcAft>
                <a:spcPts val="0"/>
              </a:spcAft>
              <a:buClr>
                <a:srgbClr val="000000"/>
              </a:buClr>
              <a:buSzPts val="1400"/>
              <a:buFont typeface="Arial"/>
              <a:buNone/>
            </a:pPr>
            <a:endParaRPr sz="1400" b="0" i="0" u="none" strike="noStrike" cap="none">
              <a:solidFill>
                <a:srgbClr val="000000"/>
              </a:solidFill>
              <a:latin typeface="Bookman Old Style"/>
              <a:ea typeface="Bookman Old Style"/>
              <a:cs typeface="Bookman Old Style"/>
              <a:sym typeface="Bookman Old Style"/>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g24275c33bf8_0_196"/>
          <p:cNvSpPr txBox="1">
            <a:spLocks noGrp="1"/>
          </p:cNvSpPr>
          <p:nvPr>
            <p:ph type="title"/>
          </p:nvPr>
        </p:nvSpPr>
        <p:spPr>
          <a:xfrm>
            <a:off x="960125" y="1897200"/>
            <a:ext cx="10269900" cy="42162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115000"/>
              </a:lnSpc>
              <a:spcBef>
                <a:spcPts val="0"/>
              </a:spcBef>
              <a:spcAft>
                <a:spcPts val="0"/>
              </a:spcAft>
              <a:buSzPct val="112866"/>
              <a:buNone/>
            </a:pPr>
            <a:endParaRPr sz="177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12866"/>
              <a:buNone/>
            </a:pPr>
            <a:endParaRPr sz="177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12866"/>
              <a:buNone/>
            </a:pPr>
            <a:endParaRPr sz="177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9032"/>
              <a:buNone/>
            </a:pP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9032"/>
              <a:buNone/>
            </a:pP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04383"/>
              <a:buNone/>
            </a:pPr>
            <a:endParaRPr sz="1916">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9032"/>
              <a:buNone/>
            </a:pP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29032"/>
              <a:buNone/>
            </a:pPr>
            <a:endParaRPr sz="1550">
              <a:solidFill>
                <a:srgbClr val="666666"/>
              </a:solidFill>
              <a:highlight>
                <a:srgbClr val="FFFFFF"/>
              </a:highlight>
              <a:latin typeface="Arial"/>
              <a:ea typeface="Arial"/>
              <a:cs typeface="Arial"/>
              <a:sym typeface="Arial"/>
            </a:endParaRPr>
          </a:p>
          <a:p>
            <a:pPr marL="0" lvl="0" indent="0" algn="l" rtl="0">
              <a:lnSpc>
                <a:spcPct val="115000"/>
              </a:lnSpc>
              <a:spcBef>
                <a:spcPts val="1500"/>
              </a:spcBef>
              <a:spcAft>
                <a:spcPts val="0"/>
              </a:spcAft>
              <a:buSzPct val="112866"/>
              <a:buNone/>
            </a:pPr>
            <a:endParaRPr sz="1770">
              <a:solidFill>
                <a:srgbClr val="666666"/>
              </a:solidFill>
              <a:highlight>
                <a:srgbClr val="FFFFFF"/>
              </a:highlight>
              <a:latin typeface="Arial"/>
              <a:ea typeface="Arial"/>
              <a:cs typeface="Arial"/>
              <a:sym typeface="Arial"/>
            </a:endParaRPr>
          </a:p>
          <a:p>
            <a:pPr marL="0" lvl="0" indent="0" algn="l" rtl="0">
              <a:lnSpc>
                <a:spcPct val="90000"/>
              </a:lnSpc>
              <a:spcBef>
                <a:spcPts val="1500"/>
              </a:spcBef>
              <a:spcAft>
                <a:spcPts val="0"/>
              </a:spcAft>
              <a:buClr>
                <a:srgbClr val="262626"/>
              </a:buClr>
              <a:buSzPct val="100000"/>
              <a:buFont typeface="Bookman Old Style"/>
              <a:buNone/>
            </a:pPr>
            <a:endParaRPr/>
          </a:p>
        </p:txBody>
      </p:sp>
      <p:sp>
        <p:nvSpPr>
          <p:cNvPr id="243" name="Google Shape;243;g24275c33bf8_0_196"/>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19</a:t>
            </a:fld>
            <a:endParaRPr/>
          </a:p>
        </p:txBody>
      </p:sp>
      <p:sp>
        <p:nvSpPr>
          <p:cNvPr id="244" name="Google Shape;244;g24275c33bf8_0_196"/>
          <p:cNvSpPr txBox="1">
            <a:spLocks noGrp="1"/>
          </p:cNvSpPr>
          <p:nvPr>
            <p:ph type="title"/>
          </p:nvPr>
        </p:nvSpPr>
        <p:spPr>
          <a:xfrm>
            <a:off x="960125" y="928525"/>
            <a:ext cx="10269900" cy="563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l" rtl="0">
              <a:lnSpc>
                <a:spcPct val="90000"/>
              </a:lnSpc>
              <a:spcBef>
                <a:spcPts val="0"/>
              </a:spcBef>
              <a:spcAft>
                <a:spcPts val="0"/>
              </a:spcAft>
              <a:buClr>
                <a:srgbClr val="262626"/>
              </a:buClr>
              <a:buSzPct val="100000"/>
              <a:buFont typeface="Bookman Old Style"/>
              <a:buNone/>
            </a:pPr>
            <a:r>
              <a:rPr lang="en-IN" dirty="0"/>
              <a:t>   				</a:t>
            </a:r>
            <a:r>
              <a:rPr lang="en-IN" dirty="0" smtClean="0"/>
              <a:t>Knapsack </a:t>
            </a:r>
            <a:r>
              <a:rPr lang="en-IN" dirty="0"/>
              <a:t>Problem</a:t>
            </a:r>
            <a:endParaRPr dirty="0"/>
          </a:p>
        </p:txBody>
      </p:sp>
      <p:pic>
        <p:nvPicPr>
          <p:cNvPr id="245" name="Google Shape;245;g24275c33bf8_0_196"/>
          <p:cNvPicPr preferRelativeResize="0"/>
          <p:nvPr/>
        </p:nvPicPr>
        <p:blipFill rotWithShape="1">
          <a:blip r:embed="rId3">
            <a:alphaModFix/>
          </a:blip>
          <a:srcRect/>
          <a:stretch/>
        </p:blipFill>
        <p:spPr>
          <a:xfrm>
            <a:off x="960125" y="1897200"/>
            <a:ext cx="10269899" cy="41559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g24275c33bf8_0_120"/>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dirty="0"/>
              <a:t>   	</a:t>
            </a:r>
            <a:r>
              <a:rPr lang="en-IN" dirty="0" smtClean="0"/>
              <a:t>	Travelling </a:t>
            </a:r>
            <a:r>
              <a:rPr lang="en-IN" dirty="0"/>
              <a:t>salesman Problem</a:t>
            </a:r>
            <a:endParaRPr dirty="0"/>
          </a:p>
        </p:txBody>
      </p:sp>
      <p:sp>
        <p:nvSpPr>
          <p:cNvPr id="251" name="Google Shape;251;g24275c33bf8_0_120"/>
          <p:cNvSpPr txBox="1">
            <a:spLocks noGrp="1"/>
          </p:cNvSpPr>
          <p:nvPr>
            <p:ph type="body" idx="1"/>
          </p:nvPr>
        </p:nvSpPr>
        <p:spPr>
          <a:xfrm>
            <a:off x="2231125" y="2398027"/>
            <a:ext cx="7729800" cy="39456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800"/>
              <a:buNone/>
            </a:pPr>
            <a:r>
              <a:rPr lang="en-IN" sz="1350">
                <a:solidFill>
                  <a:srgbClr val="3C484E"/>
                </a:solidFill>
                <a:highlight>
                  <a:srgbClr val="FFFFFF"/>
                </a:highlight>
                <a:latin typeface="Arial"/>
                <a:ea typeface="Arial"/>
                <a:cs typeface="Arial"/>
                <a:sym typeface="Arial"/>
              </a:rPr>
              <a:t>For example, suppose we have a cost matrix as shown below</a:t>
            </a:r>
            <a:endParaRPr sz="1942"/>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p:txBody>
      </p:sp>
      <p:sp>
        <p:nvSpPr>
          <p:cNvPr id="252" name="Google Shape;252;g24275c33bf8_0_120"/>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20</a:t>
            </a:fld>
            <a:endParaRPr/>
          </a:p>
        </p:txBody>
      </p:sp>
      <p:pic>
        <p:nvPicPr>
          <p:cNvPr id="253" name="Google Shape;253;g24275c33bf8_0_120"/>
          <p:cNvPicPr preferRelativeResize="0"/>
          <p:nvPr/>
        </p:nvPicPr>
        <p:blipFill rotWithShape="1">
          <a:blip r:embed="rId3">
            <a:alphaModFix/>
          </a:blip>
          <a:srcRect/>
          <a:stretch/>
        </p:blipFill>
        <p:spPr>
          <a:xfrm>
            <a:off x="2341225" y="3031800"/>
            <a:ext cx="6505601" cy="26780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g24275c33bf8_0_208"/>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dirty="0"/>
              <a:t>   	</a:t>
            </a:r>
            <a:r>
              <a:rPr lang="en-IN" dirty="0" smtClean="0"/>
              <a:t>Travelling </a:t>
            </a:r>
            <a:r>
              <a:rPr lang="en-IN" dirty="0"/>
              <a:t>salesman Problem</a:t>
            </a:r>
            <a:endParaRPr dirty="0"/>
          </a:p>
        </p:txBody>
      </p:sp>
      <p:sp>
        <p:nvSpPr>
          <p:cNvPr id="259" name="Google Shape;259;g24275c33bf8_0_208"/>
          <p:cNvSpPr txBox="1">
            <a:spLocks noGrp="1"/>
          </p:cNvSpPr>
          <p:nvPr>
            <p:ph type="body" idx="1"/>
          </p:nvPr>
        </p:nvSpPr>
        <p:spPr>
          <a:xfrm>
            <a:off x="2231125" y="2398027"/>
            <a:ext cx="7729800" cy="39456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800"/>
              <a:buNone/>
            </a:pPr>
            <a:r>
              <a:rPr lang="en-IN" sz="1350">
                <a:solidFill>
                  <a:srgbClr val="3C484E"/>
                </a:solidFill>
                <a:highlight>
                  <a:srgbClr val="FFFFFF"/>
                </a:highlight>
                <a:latin typeface="Arial"/>
                <a:ea typeface="Arial"/>
                <a:cs typeface="Arial"/>
                <a:sym typeface="Arial"/>
              </a:rPr>
              <a:t>First of all we will perform the </a:t>
            </a:r>
            <a:r>
              <a:rPr lang="en-IN" sz="1350" b="1">
                <a:solidFill>
                  <a:srgbClr val="090A0B"/>
                </a:solidFill>
                <a:highlight>
                  <a:srgbClr val="FFFFFF"/>
                </a:highlight>
                <a:latin typeface="Arial"/>
                <a:ea typeface="Arial"/>
                <a:cs typeface="Arial"/>
                <a:sym typeface="Arial"/>
              </a:rPr>
              <a:t>row operations</a:t>
            </a:r>
            <a:r>
              <a:rPr lang="en-IN" sz="1350">
                <a:solidFill>
                  <a:srgbClr val="3C484E"/>
                </a:solidFill>
                <a:highlight>
                  <a:srgbClr val="FFFFFF"/>
                </a:highlight>
                <a:latin typeface="Arial"/>
                <a:ea typeface="Arial"/>
                <a:cs typeface="Arial"/>
                <a:sym typeface="Arial"/>
              </a:rPr>
              <a:t> and to do the same, we need to subtract the minimum value in each row from each element in that row. The minimums and the row reduced matrix is shown below</a:t>
            </a:r>
            <a:endParaRPr sz="1942"/>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p:txBody>
      </p:sp>
      <p:sp>
        <p:nvSpPr>
          <p:cNvPr id="260" name="Google Shape;260;g24275c33bf8_0_208"/>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21</a:t>
            </a:fld>
            <a:endParaRPr/>
          </a:p>
        </p:txBody>
      </p:sp>
      <p:pic>
        <p:nvPicPr>
          <p:cNvPr id="261" name="Google Shape;261;g24275c33bf8_0_208"/>
          <p:cNvPicPr preferRelativeResize="0"/>
          <p:nvPr/>
        </p:nvPicPr>
        <p:blipFill rotWithShape="1">
          <a:blip r:embed="rId3">
            <a:alphaModFix/>
          </a:blip>
          <a:srcRect/>
          <a:stretch/>
        </p:blipFill>
        <p:spPr>
          <a:xfrm>
            <a:off x="3002650" y="3183625"/>
            <a:ext cx="5270375" cy="2884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g24275c33bf8_0_219"/>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dirty="0"/>
              <a:t>   		</a:t>
            </a:r>
            <a:r>
              <a:rPr lang="en-IN" dirty="0" smtClean="0"/>
              <a:t>Travelling </a:t>
            </a:r>
            <a:r>
              <a:rPr lang="en-IN" dirty="0"/>
              <a:t>salesman Problem</a:t>
            </a:r>
            <a:endParaRPr dirty="0"/>
          </a:p>
        </p:txBody>
      </p:sp>
      <p:sp>
        <p:nvSpPr>
          <p:cNvPr id="267" name="Google Shape;267;g24275c33bf8_0_219"/>
          <p:cNvSpPr txBox="1">
            <a:spLocks noGrp="1"/>
          </p:cNvSpPr>
          <p:nvPr>
            <p:ph type="body" idx="1"/>
          </p:nvPr>
        </p:nvSpPr>
        <p:spPr>
          <a:xfrm>
            <a:off x="2231125" y="2398027"/>
            <a:ext cx="7729800" cy="39456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800"/>
              <a:buNone/>
            </a:pPr>
            <a:r>
              <a:rPr lang="en-IN" sz="1350">
                <a:solidFill>
                  <a:srgbClr val="3C484E"/>
                </a:solidFill>
                <a:highlight>
                  <a:srgbClr val="FFFFFF"/>
                </a:highlight>
                <a:latin typeface="Arial"/>
                <a:ea typeface="Arial"/>
                <a:cs typeface="Arial"/>
                <a:sym typeface="Arial"/>
              </a:rPr>
              <a:t>And after row reduction,</a:t>
            </a:r>
            <a:endParaRPr sz="1942"/>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p:txBody>
      </p:sp>
      <p:sp>
        <p:nvSpPr>
          <p:cNvPr id="268" name="Google Shape;268;g24275c33bf8_0_219"/>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22</a:t>
            </a:fld>
            <a:endParaRPr/>
          </a:p>
        </p:txBody>
      </p:sp>
      <p:pic>
        <p:nvPicPr>
          <p:cNvPr id="269" name="Google Shape;269;g24275c33bf8_0_219"/>
          <p:cNvPicPr preferRelativeResize="0"/>
          <p:nvPr/>
        </p:nvPicPr>
        <p:blipFill rotWithShape="1">
          <a:blip r:embed="rId3">
            <a:alphaModFix/>
          </a:blip>
          <a:srcRect/>
          <a:stretch/>
        </p:blipFill>
        <p:spPr>
          <a:xfrm>
            <a:off x="2551850" y="2826663"/>
            <a:ext cx="5269576" cy="30883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g24275c33bf8_0_230"/>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dirty="0"/>
              <a:t>   	</a:t>
            </a:r>
            <a:r>
              <a:rPr lang="en-IN" dirty="0" smtClean="0"/>
              <a:t>	Travelling </a:t>
            </a:r>
            <a:r>
              <a:rPr lang="en-IN" dirty="0"/>
              <a:t>salesman Problem</a:t>
            </a:r>
            <a:endParaRPr dirty="0"/>
          </a:p>
        </p:txBody>
      </p:sp>
      <p:sp>
        <p:nvSpPr>
          <p:cNvPr id="275" name="Google Shape;275;g24275c33bf8_0_230"/>
          <p:cNvSpPr txBox="1">
            <a:spLocks noGrp="1"/>
          </p:cNvSpPr>
          <p:nvPr>
            <p:ph type="body" idx="1"/>
          </p:nvPr>
        </p:nvSpPr>
        <p:spPr>
          <a:xfrm>
            <a:off x="2231125" y="2398027"/>
            <a:ext cx="7729800" cy="39456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800"/>
              <a:buNone/>
            </a:pPr>
            <a:r>
              <a:rPr lang="en-IN" sz="1350">
                <a:solidFill>
                  <a:srgbClr val="3C484E"/>
                </a:solidFill>
                <a:highlight>
                  <a:srgbClr val="FFFFFF"/>
                </a:highlight>
                <a:latin typeface="Arial"/>
                <a:ea typeface="Arial"/>
                <a:cs typeface="Arial"/>
                <a:sym typeface="Arial"/>
              </a:rPr>
              <a:t> we need to perform the column operation in the same manner and we will get a final matrix as below,,</a:t>
            </a:r>
            <a:endParaRPr sz="1942"/>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p:txBody>
      </p:sp>
      <p:sp>
        <p:nvSpPr>
          <p:cNvPr id="276" name="Google Shape;276;g24275c33bf8_0_230"/>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23</a:t>
            </a:fld>
            <a:endParaRPr/>
          </a:p>
        </p:txBody>
      </p:sp>
      <p:pic>
        <p:nvPicPr>
          <p:cNvPr id="277" name="Google Shape;277;g24275c33bf8_0_230"/>
          <p:cNvPicPr preferRelativeResize="0"/>
          <p:nvPr/>
        </p:nvPicPr>
        <p:blipFill rotWithShape="1">
          <a:blip r:embed="rId3">
            <a:alphaModFix/>
          </a:blip>
          <a:srcRect/>
          <a:stretch/>
        </p:blipFill>
        <p:spPr>
          <a:xfrm>
            <a:off x="2785125" y="3137151"/>
            <a:ext cx="4838700" cy="28293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g24275c33bf8_0_241"/>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dirty="0"/>
              <a:t>   	</a:t>
            </a:r>
            <a:r>
              <a:rPr lang="en-IN" dirty="0" smtClean="0"/>
              <a:t>   Travelling </a:t>
            </a:r>
            <a:r>
              <a:rPr lang="en-IN" dirty="0"/>
              <a:t>salesman Problem</a:t>
            </a:r>
            <a:endParaRPr dirty="0"/>
          </a:p>
        </p:txBody>
      </p:sp>
      <p:sp>
        <p:nvSpPr>
          <p:cNvPr id="283" name="Google Shape;283;g24275c33bf8_0_241"/>
          <p:cNvSpPr txBox="1">
            <a:spLocks noGrp="1"/>
          </p:cNvSpPr>
          <p:nvPr>
            <p:ph type="body" idx="1"/>
          </p:nvPr>
        </p:nvSpPr>
        <p:spPr>
          <a:xfrm>
            <a:off x="2231125" y="2398027"/>
            <a:ext cx="7729800" cy="39456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800"/>
              <a:buNone/>
            </a:pPr>
            <a:r>
              <a:rPr lang="en-IN" sz="950">
                <a:solidFill>
                  <a:srgbClr val="3C484E"/>
                </a:solidFill>
                <a:highlight>
                  <a:srgbClr val="FFFFFF"/>
                </a:highlight>
                <a:latin typeface="Arial"/>
                <a:ea typeface="Arial"/>
                <a:cs typeface="Arial"/>
                <a:sym typeface="Arial"/>
              </a:rPr>
              <a:t> The total cost at any node is calculated by making a sum of all reductions, hence the cost for the node </a:t>
            </a:r>
            <a:r>
              <a:rPr lang="en-IN" sz="950" b="1">
                <a:solidFill>
                  <a:srgbClr val="090A0B"/>
                </a:solidFill>
                <a:highlight>
                  <a:srgbClr val="FFFFFF"/>
                </a:highlight>
                <a:latin typeface="Arial"/>
                <a:ea typeface="Arial"/>
                <a:cs typeface="Arial"/>
                <a:sym typeface="Arial"/>
              </a:rPr>
              <a:t>N0</a:t>
            </a:r>
            <a:r>
              <a:rPr lang="en-IN" sz="950">
                <a:solidFill>
                  <a:srgbClr val="3C484E"/>
                </a:solidFill>
                <a:highlight>
                  <a:srgbClr val="FFFFFF"/>
                </a:highlight>
                <a:latin typeface="Arial"/>
                <a:ea typeface="Arial"/>
                <a:cs typeface="Arial"/>
                <a:sym typeface="Arial"/>
              </a:rPr>
              <a:t> can be depicted as,</a:t>
            </a:r>
            <a:endParaRPr sz="950">
              <a:solidFill>
                <a:srgbClr val="3C484E"/>
              </a:solidFill>
              <a:highlight>
                <a:srgbClr val="FFFFFF"/>
              </a:highlight>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IN" sz="950" b="1">
                <a:solidFill>
                  <a:srgbClr val="090A0B"/>
                </a:solidFill>
                <a:highlight>
                  <a:srgbClr val="FFFFFF"/>
                </a:highlight>
                <a:latin typeface="Arial"/>
                <a:ea typeface="Arial"/>
                <a:cs typeface="Arial"/>
                <a:sym typeface="Arial"/>
              </a:rPr>
              <a:t>cost</a:t>
            </a:r>
            <a:r>
              <a:rPr lang="en-IN" sz="950">
                <a:solidFill>
                  <a:srgbClr val="3C484E"/>
                </a:solidFill>
                <a:highlight>
                  <a:srgbClr val="FFFFFF"/>
                </a:highlight>
                <a:latin typeface="Arial"/>
                <a:ea typeface="Arial"/>
                <a:cs typeface="Arial"/>
                <a:sym typeface="Arial"/>
              </a:rPr>
              <a:t> = 10 + 2 + 2 + 3 + 4 + 1 + 3 = </a:t>
            </a:r>
            <a:r>
              <a:rPr lang="en-IN" sz="950" b="1">
                <a:solidFill>
                  <a:srgbClr val="090A0B"/>
                </a:solidFill>
                <a:highlight>
                  <a:srgbClr val="FFFFFF"/>
                </a:highlight>
                <a:latin typeface="Arial"/>
                <a:ea typeface="Arial"/>
                <a:cs typeface="Arial"/>
                <a:sym typeface="Arial"/>
              </a:rPr>
              <a:t>25</a:t>
            </a:r>
            <a:endParaRPr sz="950" b="1">
              <a:solidFill>
                <a:srgbClr val="090A0B"/>
              </a:solidFill>
              <a:highlight>
                <a:srgbClr val="FFFFFF"/>
              </a:highlight>
              <a:latin typeface="Arial"/>
              <a:ea typeface="Arial"/>
              <a:cs typeface="Arial"/>
              <a:sym typeface="Arial"/>
            </a:endParaRPr>
          </a:p>
          <a:p>
            <a:pPr marL="0" lvl="0" indent="0" algn="l" rtl="0">
              <a:lnSpc>
                <a:spcPct val="115000"/>
              </a:lnSpc>
              <a:spcBef>
                <a:spcPts val="2000"/>
              </a:spcBef>
              <a:spcAft>
                <a:spcPts val="0"/>
              </a:spcAft>
              <a:buClr>
                <a:schemeClr val="dk1"/>
              </a:buClr>
              <a:buSzPts val="1100"/>
              <a:buFont typeface="Arial"/>
              <a:buNone/>
            </a:pPr>
            <a:r>
              <a:rPr lang="en-IN" sz="950">
                <a:solidFill>
                  <a:srgbClr val="3C484E"/>
                </a:solidFill>
                <a:highlight>
                  <a:srgbClr val="FFFFFF"/>
                </a:highlight>
                <a:latin typeface="Arial"/>
                <a:ea typeface="Arial"/>
                <a:cs typeface="Arial"/>
                <a:sym typeface="Arial"/>
              </a:rPr>
              <a:t>Now as we have founded the cost for the root node, it's the time for the expansion, and to do so, </a:t>
            </a:r>
            <a:r>
              <a:rPr lang="en-IN" sz="1350">
                <a:solidFill>
                  <a:srgbClr val="3C484E"/>
                </a:solidFill>
                <a:highlight>
                  <a:srgbClr val="FFFFFF"/>
                </a:highlight>
                <a:latin typeface="Arial"/>
                <a:ea typeface="Arial"/>
                <a:cs typeface="Arial"/>
                <a:sym typeface="Arial"/>
              </a:rPr>
              <a:t>we have four more nodes namely, </a:t>
            </a:r>
            <a:r>
              <a:rPr lang="en-IN" sz="1350" b="1">
                <a:solidFill>
                  <a:srgbClr val="090A0B"/>
                </a:solidFill>
                <a:highlight>
                  <a:srgbClr val="FFFFFF"/>
                </a:highlight>
                <a:latin typeface="Arial"/>
                <a:ea typeface="Arial"/>
                <a:cs typeface="Arial"/>
                <a:sym typeface="Arial"/>
              </a:rPr>
              <a:t>N1</a:t>
            </a:r>
            <a:r>
              <a:rPr lang="en-IN" sz="1350">
                <a:solidFill>
                  <a:srgbClr val="3C484E"/>
                </a:solidFill>
                <a:highlight>
                  <a:srgbClr val="FFFFFF"/>
                </a:highlight>
                <a:latin typeface="Arial"/>
                <a:ea typeface="Arial"/>
                <a:cs typeface="Arial"/>
                <a:sym typeface="Arial"/>
              </a:rPr>
              <a:t>,</a:t>
            </a:r>
            <a:r>
              <a:rPr lang="en-IN" sz="1350" b="1">
                <a:solidFill>
                  <a:srgbClr val="090A0B"/>
                </a:solidFill>
                <a:highlight>
                  <a:srgbClr val="FFFFFF"/>
                </a:highlight>
                <a:latin typeface="Arial"/>
                <a:ea typeface="Arial"/>
                <a:cs typeface="Arial"/>
                <a:sym typeface="Arial"/>
              </a:rPr>
              <a:t>N2</a:t>
            </a:r>
            <a:r>
              <a:rPr lang="en-IN" sz="1350">
                <a:solidFill>
                  <a:srgbClr val="3C484E"/>
                </a:solidFill>
                <a:highlight>
                  <a:srgbClr val="FFFFFF"/>
                </a:highlight>
                <a:latin typeface="Arial"/>
                <a:ea typeface="Arial"/>
                <a:cs typeface="Arial"/>
                <a:sym typeface="Arial"/>
              </a:rPr>
              <a:t>,</a:t>
            </a:r>
            <a:r>
              <a:rPr lang="en-IN" sz="1350" b="1">
                <a:solidFill>
                  <a:srgbClr val="090A0B"/>
                </a:solidFill>
                <a:highlight>
                  <a:srgbClr val="FFFFFF"/>
                </a:highlight>
                <a:latin typeface="Arial"/>
                <a:ea typeface="Arial"/>
                <a:cs typeface="Arial"/>
                <a:sym typeface="Arial"/>
              </a:rPr>
              <a:t>N3</a:t>
            </a:r>
            <a:r>
              <a:rPr lang="en-IN" sz="1350">
                <a:solidFill>
                  <a:srgbClr val="3C484E"/>
                </a:solidFill>
                <a:highlight>
                  <a:srgbClr val="FFFFFF"/>
                </a:highlight>
                <a:latin typeface="Arial"/>
                <a:ea typeface="Arial"/>
                <a:cs typeface="Arial"/>
                <a:sym typeface="Arial"/>
              </a:rPr>
              <a:t>,</a:t>
            </a:r>
            <a:r>
              <a:rPr lang="en-IN" sz="1350" b="1">
                <a:solidFill>
                  <a:srgbClr val="090A0B"/>
                </a:solidFill>
                <a:highlight>
                  <a:srgbClr val="FFFFFF"/>
                </a:highlight>
                <a:latin typeface="Arial"/>
                <a:ea typeface="Arial"/>
                <a:cs typeface="Arial"/>
                <a:sym typeface="Arial"/>
              </a:rPr>
              <a:t>N4</a:t>
            </a:r>
            <a:r>
              <a:rPr lang="en-IN" sz="1350">
                <a:solidFill>
                  <a:srgbClr val="3C484E"/>
                </a:solidFill>
                <a:highlight>
                  <a:srgbClr val="FFFFFF"/>
                </a:highlight>
                <a:latin typeface="Arial"/>
                <a:ea typeface="Arial"/>
                <a:cs typeface="Arial"/>
                <a:sym typeface="Arial"/>
              </a:rPr>
              <a:t>.</a:t>
            </a:r>
            <a:endParaRPr sz="1350">
              <a:solidFill>
                <a:srgbClr val="3C484E"/>
              </a:solidFill>
              <a:highlight>
                <a:srgbClr val="FFFFFF"/>
              </a:highlight>
              <a:latin typeface="Arial"/>
              <a:ea typeface="Arial"/>
              <a:cs typeface="Arial"/>
              <a:sym typeface="Arial"/>
            </a:endParaRPr>
          </a:p>
          <a:p>
            <a:pPr marL="0" lvl="0" indent="0" algn="l" rtl="0">
              <a:lnSpc>
                <a:spcPct val="100000"/>
              </a:lnSpc>
              <a:spcBef>
                <a:spcPts val="200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p:txBody>
      </p:sp>
      <p:sp>
        <p:nvSpPr>
          <p:cNvPr id="284" name="Google Shape;284;g24275c33bf8_0_241"/>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24</a:t>
            </a:fld>
            <a:endParaRPr/>
          </a:p>
        </p:txBody>
      </p:sp>
      <p:pic>
        <p:nvPicPr>
          <p:cNvPr id="285" name="Google Shape;285;g24275c33bf8_0_241"/>
          <p:cNvPicPr preferRelativeResize="0"/>
          <p:nvPr/>
        </p:nvPicPr>
        <p:blipFill rotWithShape="1">
          <a:blip r:embed="rId3">
            <a:alphaModFix/>
          </a:blip>
          <a:srcRect/>
          <a:stretch/>
        </p:blipFill>
        <p:spPr>
          <a:xfrm>
            <a:off x="2363700" y="3541150"/>
            <a:ext cx="5385850" cy="22367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g24275c33bf8_0_252"/>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dirty="0"/>
              <a:t>   	Travelling salesman Problem</a:t>
            </a:r>
            <a:endParaRPr dirty="0"/>
          </a:p>
        </p:txBody>
      </p:sp>
      <p:sp>
        <p:nvSpPr>
          <p:cNvPr id="291" name="Google Shape;291;g24275c33bf8_0_252"/>
          <p:cNvSpPr txBox="1">
            <a:spLocks noGrp="1"/>
          </p:cNvSpPr>
          <p:nvPr>
            <p:ph type="body" idx="1"/>
          </p:nvPr>
        </p:nvSpPr>
        <p:spPr>
          <a:xfrm>
            <a:off x="2231125" y="2398027"/>
            <a:ext cx="7729800" cy="39456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0"/>
              </a:spcBef>
              <a:spcAft>
                <a:spcPts val="0"/>
              </a:spcAft>
              <a:buSzPts val="1800"/>
              <a:buNone/>
            </a:pPr>
            <a:r>
              <a:rPr lang="en-IN" sz="1350" b="1">
                <a:solidFill>
                  <a:srgbClr val="090A0B"/>
                </a:solidFill>
                <a:highlight>
                  <a:srgbClr val="FFFFFF"/>
                </a:highlight>
                <a:latin typeface="Arial"/>
                <a:ea typeface="Arial"/>
                <a:cs typeface="Arial"/>
                <a:sym typeface="Arial"/>
              </a:rPr>
              <a:t>cost</a:t>
            </a:r>
            <a:r>
              <a:rPr lang="en-IN" sz="1350">
                <a:solidFill>
                  <a:srgbClr val="3C484E"/>
                </a:solidFill>
                <a:highlight>
                  <a:srgbClr val="FFFFFF"/>
                </a:highlight>
                <a:latin typeface="Arial"/>
                <a:ea typeface="Arial"/>
                <a:cs typeface="Arial"/>
                <a:sym typeface="Arial"/>
              </a:rPr>
              <a:t> = cost of node N0 + cost of the (N0,N1) position(before setting INF) + lower bound of the path starting at N1 = 25 + 10 + 0 = 35</a:t>
            </a:r>
            <a:endParaRPr sz="1350">
              <a:solidFill>
                <a:srgbClr val="3C484E"/>
              </a:solidFill>
              <a:highlight>
                <a:srgbClr val="FFFFFF"/>
              </a:highlight>
              <a:latin typeface="Arial"/>
              <a:ea typeface="Arial"/>
              <a:cs typeface="Arial"/>
              <a:sym typeface="Arial"/>
            </a:endParaRPr>
          </a:p>
          <a:p>
            <a:pPr marL="0" lvl="0" indent="0" algn="l" rtl="0">
              <a:lnSpc>
                <a:spcPct val="115000"/>
              </a:lnSpc>
              <a:spcBef>
                <a:spcPts val="2000"/>
              </a:spcBef>
              <a:spcAft>
                <a:spcPts val="0"/>
              </a:spcAft>
              <a:buSzPts val="1800"/>
              <a:buNone/>
            </a:pPr>
            <a:r>
              <a:rPr lang="en-IN" sz="1350">
                <a:solidFill>
                  <a:srgbClr val="3C484E"/>
                </a:solidFill>
                <a:highlight>
                  <a:srgbClr val="FFFFFF"/>
                </a:highlight>
                <a:latin typeface="Arial"/>
                <a:ea typeface="Arial"/>
                <a:cs typeface="Arial"/>
                <a:sym typeface="Arial"/>
              </a:rPr>
              <a:t>Hence the cost for the E-Node N1 is 35.</a:t>
            </a:r>
            <a:br>
              <a:rPr lang="en-IN" sz="1350">
                <a:solidFill>
                  <a:srgbClr val="3C484E"/>
                </a:solidFill>
                <a:highlight>
                  <a:srgbClr val="FFFFFF"/>
                </a:highlight>
                <a:latin typeface="Arial"/>
                <a:ea typeface="Arial"/>
                <a:cs typeface="Arial"/>
                <a:sym typeface="Arial"/>
              </a:rPr>
            </a:br>
            <a:r>
              <a:rPr lang="en-IN" sz="1350">
                <a:solidFill>
                  <a:srgbClr val="3C484E"/>
                </a:solidFill>
                <a:highlight>
                  <a:srgbClr val="FFFFFF"/>
                </a:highlight>
                <a:latin typeface="Arial"/>
                <a:ea typeface="Arial"/>
                <a:cs typeface="Arial"/>
                <a:sym typeface="Arial"/>
              </a:rPr>
              <a:t>In a similar way we can find that,</a:t>
            </a:r>
            <a:br>
              <a:rPr lang="en-IN" sz="1350">
                <a:solidFill>
                  <a:srgbClr val="3C484E"/>
                </a:solidFill>
                <a:highlight>
                  <a:srgbClr val="FFFFFF"/>
                </a:highlight>
                <a:latin typeface="Arial"/>
                <a:ea typeface="Arial"/>
                <a:cs typeface="Arial"/>
                <a:sym typeface="Arial"/>
              </a:rPr>
            </a:br>
            <a:r>
              <a:rPr lang="en-IN" sz="1350">
                <a:solidFill>
                  <a:srgbClr val="3C484E"/>
                </a:solidFill>
                <a:highlight>
                  <a:srgbClr val="FFFFFF"/>
                </a:highlight>
                <a:latin typeface="Arial"/>
                <a:ea typeface="Arial"/>
                <a:cs typeface="Arial"/>
                <a:sym typeface="Arial"/>
              </a:rPr>
              <a:t>For N2 the cost is 53,</a:t>
            </a:r>
            <a:br>
              <a:rPr lang="en-IN" sz="1350">
                <a:solidFill>
                  <a:srgbClr val="3C484E"/>
                </a:solidFill>
                <a:highlight>
                  <a:srgbClr val="FFFFFF"/>
                </a:highlight>
                <a:latin typeface="Arial"/>
                <a:ea typeface="Arial"/>
                <a:cs typeface="Arial"/>
                <a:sym typeface="Arial"/>
              </a:rPr>
            </a:br>
            <a:r>
              <a:rPr lang="en-IN" sz="1350">
                <a:solidFill>
                  <a:srgbClr val="3C484E"/>
                </a:solidFill>
                <a:highlight>
                  <a:srgbClr val="FFFFFF"/>
                </a:highlight>
                <a:latin typeface="Arial"/>
                <a:ea typeface="Arial"/>
                <a:cs typeface="Arial"/>
                <a:sym typeface="Arial"/>
              </a:rPr>
              <a:t>For N3 the cost is 25,</a:t>
            </a:r>
            <a:br>
              <a:rPr lang="en-IN" sz="1350">
                <a:solidFill>
                  <a:srgbClr val="3C484E"/>
                </a:solidFill>
                <a:highlight>
                  <a:srgbClr val="FFFFFF"/>
                </a:highlight>
                <a:latin typeface="Arial"/>
                <a:ea typeface="Arial"/>
                <a:cs typeface="Arial"/>
                <a:sym typeface="Arial"/>
              </a:rPr>
            </a:br>
            <a:r>
              <a:rPr lang="en-IN" sz="1350">
                <a:solidFill>
                  <a:srgbClr val="3C484E"/>
                </a:solidFill>
                <a:highlight>
                  <a:srgbClr val="FFFFFF"/>
                </a:highlight>
                <a:latin typeface="Arial"/>
                <a:ea typeface="Arial"/>
                <a:cs typeface="Arial"/>
                <a:sym typeface="Arial"/>
              </a:rPr>
              <a:t>And for N4 the cost is 31.</a:t>
            </a:r>
            <a:endParaRPr sz="1350">
              <a:solidFill>
                <a:srgbClr val="3C484E"/>
              </a:solidFill>
              <a:highlight>
                <a:srgbClr val="FFFFFF"/>
              </a:highlight>
              <a:latin typeface="Arial"/>
              <a:ea typeface="Arial"/>
              <a:cs typeface="Arial"/>
              <a:sym typeface="Arial"/>
            </a:endParaRPr>
          </a:p>
          <a:p>
            <a:pPr marL="0" lvl="0" indent="0" algn="l" rtl="0">
              <a:lnSpc>
                <a:spcPct val="115000"/>
              </a:lnSpc>
              <a:spcBef>
                <a:spcPts val="2000"/>
              </a:spcBef>
              <a:spcAft>
                <a:spcPts val="0"/>
              </a:spcAft>
              <a:buSzPts val="1800"/>
              <a:buNone/>
            </a:pPr>
            <a:endParaRPr sz="1350">
              <a:solidFill>
                <a:srgbClr val="3C484E"/>
              </a:solidFill>
              <a:highlight>
                <a:srgbClr val="FFFFFF"/>
              </a:highlight>
              <a:latin typeface="Arial"/>
              <a:ea typeface="Arial"/>
              <a:cs typeface="Arial"/>
              <a:sym typeface="Arial"/>
            </a:endParaRPr>
          </a:p>
          <a:p>
            <a:pPr marL="0" lvl="0" indent="0" algn="l" rtl="0">
              <a:lnSpc>
                <a:spcPct val="115000"/>
              </a:lnSpc>
              <a:spcBef>
                <a:spcPts val="2000"/>
              </a:spcBef>
              <a:spcAft>
                <a:spcPts val="0"/>
              </a:spcAft>
              <a:buSzPts val="1800"/>
              <a:buNone/>
            </a:pPr>
            <a:endParaRPr sz="950">
              <a:solidFill>
                <a:srgbClr val="3C484E"/>
              </a:solidFill>
              <a:highlight>
                <a:srgbClr val="FFFFFF"/>
              </a:highlight>
              <a:latin typeface="Arial"/>
              <a:ea typeface="Arial"/>
              <a:cs typeface="Arial"/>
              <a:sym typeface="Arial"/>
            </a:endParaRPr>
          </a:p>
          <a:p>
            <a:pPr marL="0" lvl="0" indent="0" algn="l" rtl="0">
              <a:lnSpc>
                <a:spcPct val="100000"/>
              </a:lnSpc>
              <a:spcBef>
                <a:spcPts val="200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p:txBody>
      </p:sp>
      <p:sp>
        <p:nvSpPr>
          <p:cNvPr id="292" name="Google Shape;292;g24275c33bf8_0_252"/>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25</a:t>
            </a:fld>
            <a:endParaRPr/>
          </a:p>
        </p:txBody>
      </p:sp>
      <p:pic>
        <p:nvPicPr>
          <p:cNvPr id="293" name="Google Shape;293;g24275c33bf8_0_252"/>
          <p:cNvPicPr preferRelativeResize="0"/>
          <p:nvPr/>
        </p:nvPicPr>
        <p:blipFill rotWithShape="1">
          <a:blip r:embed="rId3">
            <a:alphaModFix/>
          </a:blip>
          <a:srcRect/>
          <a:stretch/>
        </p:blipFill>
        <p:spPr>
          <a:xfrm>
            <a:off x="2393629" y="4450075"/>
            <a:ext cx="5818825" cy="1524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g24275c33bf8_0_263"/>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ct val="115656"/>
              <a:buFont typeface="Bookman Old Style"/>
              <a:buNone/>
            </a:pPr>
            <a:r>
              <a:rPr lang="en-IN" dirty="0"/>
              <a:t>   </a:t>
            </a:r>
            <a:r>
              <a:rPr lang="en-IN" sz="2700" dirty="0" smtClean="0">
                <a:solidFill>
                  <a:srgbClr val="090A0B"/>
                </a:solidFill>
                <a:highlight>
                  <a:srgbClr val="FFFFFF"/>
                </a:highlight>
              </a:rPr>
              <a:t>How </a:t>
            </a:r>
            <a:r>
              <a:rPr lang="en-IN" sz="2700" dirty="0">
                <a:solidFill>
                  <a:srgbClr val="090A0B"/>
                </a:solidFill>
                <a:highlight>
                  <a:srgbClr val="FFFFFF"/>
                </a:highlight>
              </a:rPr>
              <a:t>to get towards the optimal solution </a:t>
            </a:r>
            <a:r>
              <a:rPr lang="en-IN" sz="2700" dirty="0" smtClean="0">
                <a:solidFill>
                  <a:srgbClr val="090A0B"/>
                </a:solidFill>
                <a:highlight>
                  <a:srgbClr val="FFFFFF"/>
                </a:highlight>
              </a:rPr>
              <a:t>?</a:t>
            </a:r>
            <a:endParaRPr sz="2700" dirty="0">
              <a:solidFill>
                <a:srgbClr val="090A0B"/>
              </a:solidFill>
              <a:highlight>
                <a:srgbClr val="FFFFFF"/>
              </a:highlight>
            </a:endParaRPr>
          </a:p>
        </p:txBody>
      </p:sp>
      <p:sp>
        <p:nvSpPr>
          <p:cNvPr id="299" name="Google Shape;299;g24275c33bf8_0_263"/>
          <p:cNvSpPr txBox="1">
            <a:spLocks noGrp="1"/>
          </p:cNvSpPr>
          <p:nvPr>
            <p:ph type="body" idx="1"/>
          </p:nvPr>
        </p:nvSpPr>
        <p:spPr>
          <a:xfrm>
            <a:off x="2231100" y="2271875"/>
            <a:ext cx="8038800" cy="3994500"/>
          </a:xfrm>
          <a:prstGeom prst="rect">
            <a:avLst/>
          </a:prstGeom>
          <a:noFill/>
          <a:ln>
            <a:noFill/>
          </a:ln>
        </p:spPr>
        <p:txBody>
          <a:bodyPr spcFirstLastPara="1" wrap="square" lIns="91425" tIns="45700" rIns="91425" bIns="45700" anchor="t" anchorCtr="0">
            <a:normAutofit/>
          </a:bodyPr>
          <a:lstStyle/>
          <a:p>
            <a:pPr marL="457200" lvl="0" indent="-314325" algn="l" rtl="0">
              <a:lnSpc>
                <a:spcPct val="115000"/>
              </a:lnSpc>
              <a:spcBef>
                <a:spcPts val="0"/>
              </a:spcBef>
              <a:spcAft>
                <a:spcPts val="0"/>
              </a:spcAft>
              <a:buClr>
                <a:srgbClr val="3C484E"/>
              </a:buClr>
              <a:buSzPts val="1350"/>
              <a:buFont typeface="Arial"/>
              <a:buChar char="•"/>
            </a:pPr>
            <a:r>
              <a:rPr lang="en-IN" sz="1350">
                <a:solidFill>
                  <a:srgbClr val="3C484E"/>
                </a:solidFill>
                <a:highlight>
                  <a:srgbClr val="FFFFFF"/>
                </a:highlight>
                <a:latin typeface="Arial"/>
                <a:ea typeface="Arial"/>
                <a:cs typeface="Arial"/>
                <a:sym typeface="Arial"/>
              </a:rPr>
              <a:t>Here in the partially built space search tree above we have the Node N3 as the node having the minimum cost and we can consider it as the live node and extend the tree further. </a:t>
            </a:r>
            <a:endParaRPr sz="1350">
              <a:solidFill>
                <a:srgbClr val="3C484E"/>
              </a:solidFill>
              <a:highlight>
                <a:srgbClr val="FFFFFF"/>
              </a:highlight>
              <a:latin typeface="Arial"/>
              <a:ea typeface="Arial"/>
              <a:cs typeface="Arial"/>
              <a:sym typeface="Arial"/>
            </a:endParaRPr>
          </a:p>
          <a:p>
            <a:pPr marL="457200" lvl="0" indent="-314325" algn="l" rtl="0">
              <a:lnSpc>
                <a:spcPct val="115000"/>
              </a:lnSpc>
              <a:spcBef>
                <a:spcPts val="0"/>
              </a:spcBef>
              <a:spcAft>
                <a:spcPts val="0"/>
              </a:spcAft>
              <a:buClr>
                <a:srgbClr val="3C484E"/>
              </a:buClr>
              <a:buSzPts val="1350"/>
              <a:buFont typeface="Arial"/>
              <a:buChar char="•"/>
            </a:pPr>
            <a:r>
              <a:rPr lang="en-IN" sz="1350">
                <a:solidFill>
                  <a:srgbClr val="3C484E"/>
                </a:solidFill>
                <a:highlight>
                  <a:srgbClr val="FFFFFF"/>
                </a:highlight>
                <a:latin typeface="Arial"/>
                <a:ea typeface="Arial"/>
                <a:cs typeface="Arial"/>
                <a:sym typeface="Arial"/>
              </a:rPr>
              <a:t>This step is repeated until unless we find a dead node and can not extend the tree further. </a:t>
            </a:r>
            <a:endParaRPr sz="1350">
              <a:solidFill>
                <a:srgbClr val="3C484E"/>
              </a:solidFill>
              <a:highlight>
                <a:srgbClr val="FFFFFF"/>
              </a:highlight>
              <a:latin typeface="Arial"/>
              <a:ea typeface="Arial"/>
              <a:cs typeface="Arial"/>
              <a:sym typeface="Arial"/>
            </a:endParaRPr>
          </a:p>
          <a:p>
            <a:pPr marL="457200" lvl="0" indent="-314325" algn="l" rtl="0">
              <a:lnSpc>
                <a:spcPct val="115000"/>
              </a:lnSpc>
              <a:spcBef>
                <a:spcPts val="0"/>
              </a:spcBef>
              <a:spcAft>
                <a:spcPts val="0"/>
              </a:spcAft>
              <a:buClr>
                <a:srgbClr val="3C484E"/>
              </a:buClr>
              <a:buSzPts val="1350"/>
              <a:buChar char="•"/>
            </a:pPr>
            <a:r>
              <a:rPr lang="en-IN" sz="1350">
                <a:solidFill>
                  <a:srgbClr val="3C484E"/>
                </a:solidFill>
                <a:highlight>
                  <a:srgbClr val="FFFFFF"/>
                </a:highlight>
                <a:latin typeface="Arial"/>
                <a:ea typeface="Arial"/>
                <a:cs typeface="Arial"/>
                <a:sym typeface="Arial"/>
              </a:rPr>
              <a:t>final cost is </a:t>
            </a:r>
            <a:r>
              <a:rPr lang="en-IN" sz="1350" b="1">
                <a:solidFill>
                  <a:srgbClr val="090A0B"/>
                </a:solidFill>
                <a:highlight>
                  <a:srgbClr val="FFFFFF"/>
                </a:highlight>
                <a:latin typeface="Arial"/>
                <a:ea typeface="Arial"/>
                <a:cs typeface="Arial"/>
                <a:sym typeface="Arial"/>
              </a:rPr>
              <a:t>28</a:t>
            </a:r>
            <a:r>
              <a:rPr lang="en-IN" sz="1350">
                <a:solidFill>
                  <a:srgbClr val="3C484E"/>
                </a:solidFill>
                <a:highlight>
                  <a:srgbClr val="FFFFFF"/>
                </a:highlight>
                <a:latin typeface="Arial"/>
                <a:ea typeface="Arial"/>
                <a:cs typeface="Arial"/>
                <a:sym typeface="Arial"/>
              </a:rPr>
              <a:t>, that's the minimum cost for a salesman to start from N0 and return to N0 by covering all the cities.</a:t>
            </a:r>
            <a:endParaRPr sz="1350">
              <a:solidFill>
                <a:srgbClr val="3C484E"/>
              </a:solidFill>
              <a:highlight>
                <a:srgbClr val="FFFFFF"/>
              </a:highlight>
              <a:latin typeface="Arial"/>
              <a:ea typeface="Arial"/>
              <a:cs typeface="Arial"/>
              <a:sym typeface="Arial"/>
            </a:endParaRPr>
          </a:p>
          <a:p>
            <a:pPr marL="228600" lvl="0" indent="0" algn="l" rtl="0">
              <a:lnSpc>
                <a:spcPct val="100000"/>
              </a:lnSpc>
              <a:spcBef>
                <a:spcPts val="2000"/>
              </a:spcBef>
              <a:spcAft>
                <a:spcPts val="0"/>
              </a:spcAft>
              <a:buSzPts val="1800"/>
              <a:buNone/>
            </a:pPr>
            <a:endParaRPr/>
          </a:p>
          <a:p>
            <a:pPr marL="228600" lvl="0" indent="0" algn="l" rtl="0">
              <a:lnSpc>
                <a:spcPct val="100000"/>
              </a:lnSpc>
              <a:spcBef>
                <a:spcPts val="0"/>
              </a:spcBef>
              <a:spcAft>
                <a:spcPts val="0"/>
              </a:spcAft>
              <a:buSzPts val="1800"/>
              <a:buNone/>
            </a:pPr>
            <a:endParaRPr/>
          </a:p>
        </p:txBody>
      </p:sp>
      <p:sp>
        <p:nvSpPr>
          <p:cNvPr id="300" name="Google Shape;300;g24275c33bf8_0_263"/>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26</a:t>
            </a:fld>
            <a:endParaRPr/>
          </a:p>
        </p:txBody>
      </p:sp>
      <p:pic>
        <p:nvPicPr>
          <p:cNvPr id="301" name="Google Shape;301;g24275c33bf8_0_263"/>
          <p:cNvPicPr preferRelativeResize="0"/>
          <p:nvPr/>
        </p:nvPicPr>
        <p:blipFill rotWithShape="1">
          <a:blip r:embed="rId3">
            <a:alphaModFix/>
          </a:blip>
          <a:srcRect l="-1030" r="1030"/>
          <a:stretch/>
        </p:blipFill>
        <p:spPr>
          <a:xfrm>
            <a:off x="2401950" y="3491875"/>
            <a:ext cx="7388099" cy="25374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g24275c33bf8_0_112"/>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algn="l">
              <a:buSzPts val="2800"/>
            </a:pPr>
            <a:r>
              <a:rPr lang="en-IN" dirty="0"/>
              <a:t>   		</a:t>
            </a:r>
            <a:r>
              <a:rPr lang="en-IN" dirty="0"/>
              <a:t> </a:t>
            </a:r>
            <a:r>
              <a:rPr lang="en-IN" dirty="0" smtClean="0"/>
              <a:t> </a:t>
            </a:r>
            <a:r>
              <a:rPr lang="en-IN" dirty="0" err="1" smtClean="0"/>
              <a:t>Minimax</a:t>
            </a:r>
            <a:r>
              <a:rPr lang="en-IN" dirty="0" smtClean="0"/>
              <a:t> </a:t>
            </a:r>
            <a:r>
              <a:rPr lang="en-IN" dirty="0"/>
              <a:t>Principle</a:t>
            </a:r>
            <a:endParaRPr dirty="0"/>
          </a:p>
        </p:txBody>
      </p:sp>
      <p:sp>
        <p:nvSpPr>
          <p:cNvPr id="307" name="Google Shape;307;g24275c33bf8_0_112"/>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457200" lvl="0" indent="-355600" algn="l" rtl="0">
              <a:lnSpc>
                <a:spcPct val="100000"/>
              </a:lnSpc>
              <a:spcBef>
                <a:spcPts val="0"/>
              </a:spcBef>
              <a:spcAft>
                <a:spcPts val="0"/>
              </a:spcAft>
              <a:buSzPts val="2000"/>
              <a:buChar char="•"/>
            </a:pPr>
            <a:r>
              <a:rPr lang="en-IN" sz="2000"/>
              <a:t>Minimax principle is decision rule used in game and decision theory.</a:t>
            </a:r>
            <a:endParaRPr sz="2000"/>
          </a:p>
          <a:p>
            <a:pPr marL="457200" lvl="0" indent="-355600" algn="l" rtl="0">
              <a:lnSpc>
                <a:spcPct val="100000"/>
              </a:lnSpc>
              <a:spcBef>
                <a:spcPts val="0"/>
              </a:spcBef>
              <a:spcAft>
                <a:spcPts val="0"/>
              </a:spcAft>
              <a:buSzPts val="2000"/>
              <a:buChar char="•"/>
            </a:pPr>
            <a:r>
              <a:rPr lang="en-IN" sz="2000"/>
              <a:t>Used to minimize the maximum loss in worst case</a:t>
            </a:r>
            <a:endParaRPr sz="2000"/>
          </a:p>
          <a:p>
            <a:pPr marL="457200" lvl="0" indent="-355600" algn="l" rtl="0">
              <a:lnSpc>
                <a:spcPct val="100000"/>
              </a:lnSpc>
              <a:spcBef>
                <a:spcPts val="0"/>
              </a:spcBef>
              <a:spcAft>
                <a:spcPts val="0"/>
              </a:spcAft>
              <a:buSzPts val="2000"/>
              <a:buChar char="•"/>
            </a:pPr>
            <a:r>
              <a:rPr lang="en-IN" sz="2000"/>
              <a:t>Initially it was proposed for two player game</a:t>
            </a:r>
            <a:endParaRPr sz="2000"/>
          </a:p>
          <a:p>
            <a:pPr marL="457200" lvl="0" indent="-355600" algn="l" rtl="0">
              <a:lnSpc>
                <a:spcPct val="100000"/>
              </a:lnSpc>
              <a:spcBef>
                <a:spcPts val="0"/>
              </a:spcBef>
              <a:spcAft>
                <a:spcPts val="0"/>
              </a:spcAft>
              <a:buSzPts val="2000"/>
              <a:buChar char="•"/>
            </a:pPr>
            <a:r>
              <a:rPr lang="en-IN" sz="2000"/>
              <a:t>Lower Bound for minimization problem</a:t>
            </a:r>
            <a:endParaRPr sz="2000"/>
          </a:p>
          <a:p>
            <a:pPr marL="457200" lvl="0" indent="-355600" algn="l" rtl="0">
              <a:lnSpc>
                <a:spcPct val="100000"/>
              </a:lnSpc>
              <a:spcBef>
                <a:spcPts val="0"/>
              </a:spcBef>
              <a:spcAft>
                <a:spcPts val="0"/>
              </a:spcAft>
              <a:buSzPts val="2000"/>
              <a:buChar char="•"/>
            </a:pPr>
            <a:r>
              <a:rPr lang="en-IN" sz="2000"/>
              <a:t>Upper Bound for maximization problem</a:t>
            </a:r>
            <a:endParaRPr sz="2000"/>
          </a:p>
          <a:p>
            <a:pPr marL="228600" lvl="0" indent="0" algn="l" rtl="0">
              <a:lnSpc>
                <a:spcPct val="100000"/>
              </a:lnSpc>
              <a:spcBef>
                <a:spcPts val="0"/>
              </a:spcBef>
              <a:spcAft>
                <a:spcPts val="0"/>
              </a:spcAft>
              <a:buSzPts val="1800"/>
              <a:buNone/>
            </a:pPr>
            <a:endParaRPr sz="2245"/>
          </a:p>
          <a:p>
            <a:pPr marL="228600" lvl="0" indent="0" algn="l" rtl="0">
              <a:lnSpc>
                <a:spcPct val="100000"/>
              </a:lnSpc>
              <a:spcBef>
                <a:spcPts val="0"/>
              </a:spcBef>
              <a:spcAft>
                <a:spcPts val="0"/>
              </a:spcAft>
              <a:buSzPts val="1800"/>
              <a:buNone/>
            </a:pPr>
            <a:endParaRPr sz="1942"/>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p:txBody>
      </p:sp>
      <p:sp>
        <p:nvSpPr>
          <p:cNvPr id="308" name="Google Shape;308;g24275c33bf8_0_112"/>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g24275c33bf8_0_278"/>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dirty="0"/>
              <a:t>   	</a:t>
            </a:r>
            <a:r>
              <a:rPr lang="en-IN" dirty="0"/>
              <a:t>	</a:t>
            </a:r>
            <a:r>
              <a:rPr lang="en-IN" dirty="0" err="1" smtClean="0"/>
              <a:t>Minimax</a:t>
            </a:r>
            <a:r>
              <a:rPr lang="en-IN" dirty="0" smtClean="0"/>
              <a:t> </a:t>
            </a:r>
            <a:r>
              <a:rPr lang="en-IN" dirty="0"/>
              <a:t>Principle</a:t>
            </a:r>
            <a:endParaRPr dirty="0"/>
          </a:p>
        </p:txBody>
      </p:sp>
      <p:sp>
        <p:nvSpPr>
          <p:cNvPr id="314" name="Google Shape;314;g24275c33bf8_0_278"/>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457200" lvl="0" indent="-355600" algn="l" rtl="0">
              <a:lnSpc>
                <a:spcPct val="100000"/>
              </a:lnSpc>
              <a:spcBef>
                <a:spcPts val="0"/>
              </a:spcBef>
              <a:spcAft>
                <a:spcPts val="0"/>
              </a:spcAft>
              <a:buSzPts val="2000"/>
              <a:buChar char="•"/>
            </a:pPr>
            <a:endParaRPr sz="2000"/>
          </a:p>
          <a:p>
            <a:pPr marL="228600" lvl="0" indent="0" algn="l" rtl="0">
              <a:lnSpc>
                <a:spcPct val="100000"/>
              </a:lnSpc>
              <a:spcBef>
                <a:spcPts val="0"/>
              </a:spcBef>
              <a:spcAft>
                <a:spcPts val="0"/>
              </a:spcAft>
              <a:buSzPts val="1800"/>
              <a:buNone/>
            </a:pPr>
            <a:endParaRPr sz="2245"/>
          </a:p>
          <a:p>
            <a:pPr marL="228600" lvl="0" indent="0" algn="l" rtl="0">
              <a:lnSpc>
                <a:spcPct val="100000"/>
              </a:lnSpc>
              <a:spcBef>
                <a:spcPts val="0"/>
              </a:spcBef>
              <a:spcAft>
                <a:spcPts val="0"/>
              </a:spcAft>
              <a:buSzPts val="1800"/>
              <a:buNone/>
            </a:pPr>
            <a:endParaRPr sz="1942"/>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a:p>
            <a:pPr marL="228600" lvl="0" indent="0" algn="l" rtl="0">
              <a:lnSpc>
                <a:spcPct val="100000"/>
              </a:lnSpc>
              <a:spcBef>
                <a:spcPts val="0"/>
              </a:spcBef>
              <a:spcAft>
                <a:spcPts val="0"/>
              </a:spcAft>
              <a:buSzPts val="1800"/>
              <a:buNone/>
            </a:pPr>
            <a:endParaRPr/>
          </a:p>
        </p:txBody>
      </p:sp>
      <p:sp>
        <p:nvSpPr>
          <p:cNvPr id="315" name="Google Shape;315;g24275c33bf8_0_278"/>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28</a:t>
            </a:fld>
            <a:endParaRPr/>
          </a:p>
        </p:txBody>
      </p:sp>
      <p:pic>
        <p:nvPicPr>
          <p:cNvPr id="316" name="Google Shape;316;g24275c33bf8_0_278"/>
          <p:cNvPicPr preferRelativeResize="0"/>
          <p:nvPr/>
        </p:nvPicPr>
        <p:blipFill rotWithShape="1">
          <a:blip r:embed="rId3">
            <a:alphaModFix/>
          </a:blip>
          <a:srcRect/>
          <a:stretch/>
        </p:blipFill>
        <p:spPr>
          <a:xfrm>
            <a:off x="2322175" y="2470725"/>
            <a:ext cx="7729801" cy="34480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g24275c33bf8_0_287"/>
          <p:cNvSpPr txBox="1">
            <a:spLocks noGrp="1"/>
          </p:cNvSpPr>
          <p:nvPr>
            <p:ph type="title"/>
          </p:nvPr>
        </p:nvSpPr>
        <p:spPr>
          <a:xfrm>
            <a:off x="960175" y="2059513"/>
            <a:ext cx="10269900" cy="40362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t" anchorCtr="0">
            <a:normAutofit/>
          </a:bodyPr>
          <a:lstStyle/>
          <a:p>
            <a:pPr marL="0" lvl="0" indent="0" algn="l" rtl="0">
              <a:lnSpc>
                <a:spcPct val="115000"/>
              </a:lnSpc>
              <a:spcBef>
                <a:spcPts val="0"/>
              </a:spcBef>
              <a:spcAft>
                <a:spcPts val="0"/>
              </a:spcAft>
              <a:buClr>
                <a:schemeClr val="dk1"/>
              </a:buClr>
              <a:buSzPts val="1100"/>
              <a:buFont typeface="Arial"/>
              <a:buNone/>
            </a:pPr>
            <a:r>
              <a:rPr lang="en-IN" sz="1550">
                <a:solidFill>
                  <a:srgbClr val="666666"/>
                </a:solidFill>
                <a:highlight>
                  <a:srgbClr val="FFFFFF"/>
                </a:highlight>
                <a:latin typeface="Arial"/>
                <a:ea typeface="Arial"/>
                <a:cs typeface="Arial"/>
                <a:sym typeface="Arial"/>
              </a:rPr>
              <a:t>Suppose its max’s turn, so he will try to achieve maximum points, i.e. 9. Min will propagate minimum value from its descendents. If max chose left branch, he will end up with just 2 points. On right branch, min propagates minimum value 5 on level two, so if max chose right branch, he can earn 5 points. Out of all three, right branch can give maximum advantage to max, so he will select right branch move. This is how minimax principle works.</a:t>
            </a:r>
            <a:endParaRPr sz="772">
              <a:solidFill>
                <a:srgbClr val="666666"/>
              </a:solidFill>
              <a:highlight>
                <a:srgbClr val="FFFFFF"/>
              </a:highlight>
              <a:latin typeface="Arial"/>
              <a:ea typeface="Arial"/>
              <a:cs typeface="Arial"/>
              <a:sym typeface="Arial"/>
            </a:endParaRPr>
          </a:p>
          <a:p>
            <a:pPr marL="0" lvl="0" indent="0" algn="l" rtl="0">
              <a:lnSpc>
                <a:spcPct val="90000"/>
              </a:lnSpc>
              <a:spcBef>
                <a:spcPts val="1500"/>
              </a:spcBef>
              <a:spcAft>
                <a:spcPts val="0"/>
              </a:spcAft>
              <a:buClr>
                <a:srgbClr val="262626"/>
              </a:buClr>
              <a:buSzPts val="2800"/>
              <a:buFont typeface="Bookman Old Style"/>
              <a:buNone/>
            </a:pPr>
            <a:endParaRPr sz="1770">
              <a:solidFill>
                <a:srgbClr val="666666"/>
              </a:solidFill>
              <a:highlight>
                <a:srgbClr val="FFFFFF"/>
              </a:highlight>
              <a:latin typeface="Arial"/>
              <a:ea typeface="Arial"/>
              <a:cs typeface="Arial"/>
              <a:sym typeface="Arial"/>
            </a:endParaRPr>
          </a:p>
        </p:txBody>
      </p:sp>
      <p:sp>
        <p:nvSpPr>
          <p:cNvPr id="322" name="Google Shape;322;g24275c33bf8_0_287"/>
          <p:cNvSpPr>
            <a:spLocks noGrp="1"/>
          </p:cNvSpPr>
          <p:nvPr>
            <p:ph type="sldNum" idx="12"/>
          </p:nvPr>
        </p:nvSpPr>
        <p:spPr>
          <a:xfrm>
            <a:off x="10758922" y="6217920"/>
            <a:ext cx="365700" cy="365700"/>
          </a:xfrm>
          <a:prstGeom prst="ellipse">
            <a:avLst/>
          </a:prstGeom>
          <a:solidFill>
            <a:srgbClr val="1D1D1D">
              <a:alpha val="68627"/>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29</a:t>
            </a:fld>
            <a:endParaRPr/>
          </a:p>
        </p:txBody>
      </p:sp>
      <p:sp>
        <p:nvSpPr>
          <p:cNvPr id="323" name="Google Shape;323;g24275c33bf8_0_287"/>
          <p:cNvSpPr txBox="1">
            <a:spLocks noGrp="1"/>
          </p:cNvSpPr>
          <p:nvPr>
            <p:ph type="title"/>
          </p:nvPr>
        </p:nvSpPr>
        <p:spPr>
          <a:xfrm>
            <a:off x="960175" y="1117100"/>
            <a:ext cx="10269900" cy="8202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262626"/>
              </a:buClr>
              <a:buSzPts val="2800"/>
              <a:buFont typeface="Bookman Old Style"/>
              <a:buNone/>
            </a:pPr>
            <a:r>
              <a:rPr lang="en-IN"/>
              <a:t>   	                   MINIMAX PROBLEM</a:t>
            </a:r>
            <a:endParaRPr/>
          </a:p>
        </p:txBody>
      </p:sp>
      <p:pic>
        <p:nvPicPr>
          <p:cNvPr id="324" name="Google Shape;324;g24275c33bf8_0_287"/>
          <p:cNvPicPr preferRelativeResize="0"/>
          <p:nvPr/>
        </p:nvPicPr>
        <p:blipFill rotWithShape="1">
          <a:blip r:embed="rId3">
            <a:alphaModFix/>
          </a:blip>
          <a:srcRect/>
          <a:stretch/>
        </p:blipFill>
        <p:spPr>
          <a:xfrm>
            <a:off x="1180175" y="3380450"/>
            <a:ext cx="6483650" cy="2586000"/>
          </a:xfrm>
          <a:prstGeom prst="rect">
            <a:avLst/>
          </a:prstGeom>
          <a:noFill/>
          <a:ln>
            <a:noFill/>
          </a:ln>
        </p:spPr>
      </p:pic>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1155</Words>
  <Application>Microsoft Office PowerPoint</Application>
  <PresentationFormat>Custom</PresentationFormat>
  <Paragraphs>270</Paragraphs>
  <Slides>29</Slides>
  <Notes>29</Notes>
  <HiddenSlides>0</HiddenSlides>
  <MMClips>0</MMClips>
  <ScaleCrop>false</ScaleCrop>
  <HeadingPairs>
    <vt:vector size="4" baseType="variant">
      <vt:variant>
        <vt:lpstr>Theme</vt:lpstr>
      </vt:variant>
      <vt:variant>
        <vt:i4>2</vt:i4>
      </vt:variant>
      <vt:variant>
        <vt:lpstr>Slide Titles</vt:lpstr>
      </vt:variant>
      <vt:variant>
        <vt:i4>29</vt:i4>
      </vt:variant>
    </vt:vector>
  </HeadingPairs>
  <TitlesOfParts>
    <vt:vector size="31" baseType="lpstr">
      <vt:lpstr>Parcel</vt:lpstr>
      <vt:lpstr>Parcel</vt:lpstr>
      <vt:lpstr>1010043316 Analysis and Design of Algorithms Unit 5: ANALYSIS AND DESIGN ALGORITHMS LECTURE COMPANION</vt:lpstr>
      <vt:lpstr>BACKTRACKING AND BRANCH AND BOUND ALGORITHM </vt:lpstr>
      <vt:lpstr>Backtracking</vt:lpstr>
      <vt:lpstr>Processing of Backtracking</vt:lpstr>
      <vt:lpstr>Advantages of Backtracking</vt:lpstr>
      <vt:lpstr>Disadvantages of Backtracking</vt:lpstr>
      <vt:lpstr>            Application of Backtracking</vt:lpstr>
      <vt:lpstr>      N-Queen Problem</vt:lpstr>
      <vt:lpstr>      N-Queen Problem</vt:lpstr>
      <vt:lpstr>We can obtain two solution shown in the figure.</vt:lpstr>
      <vt:lpstr>                  8 Queen Problem      </vt:lpstr>
      <vt:lpstr>PowerPoint Presentation</vt:lpstr>
      <vt:lpstr>function backTrack Sack(m,W)  { value =0; for i = m to n  {  if (w[i]&lt;=W) {  value =maximum(value, v[i]+backTrack Sack(i,W-w[i])) }  return Value;  } </vt:lpstr>
      <vt:lpstr>       KNAPSACK PROBLEM</vt:lpstr>
      <vt:lpstr>Here M = 110 and n = 8. Initially,  cp = cw = 0, fp = – 1, k = 0 For k = 1: cp =   cp + p1 = 0 + 11 = 11 cw =   cw + w1 = 0 + 1 = 1 cw &lt;   M, so select item 1 k    =   k + 1 = 2 </vt:lpstr>
      <vt:lpstr> For k=1: cp =   cp + p2 = 11 + 21 = 32 cw =   cw + w2 = 1 + 11 = 12 cw &lt;   M, so select item 2 k    =   k + 1 = 2 For k = 2: cp =   cp + p3 = 32 + 31 = 63 cw =   cw + w3 = 12 + 21 = 33 cw &lt;   M, so select item 3 k    =   k + 1 = 3  </vt:lpstr>
      <vt:lpstr>   For k = 3: cp =   cp + p4 = 63 + 33 = 96 cw =   cw + w4 = 33 + 23 = 56 cw &lt;   M, so select item 4 k    =   k + 1 = 4  For k = 4: cp =   cp + p5 = 96 + 43 = 139 cw =   cw + w5 = 56 + 33 = 89 cw &lt;   M, so select item 5 k    =   k + 1 = 5   </vt:lpstr>
      <vt:lpstr>    For k = 5: cp =   cp + p6 = 139 + 53 = 192 cw =   cw + w6 = 89 + 43 = 132 cw &gt;   M, so reject item 6 and find upper bound cp =   cp – p6 = 192 – 53 = 139 cw =   cw – w6 = 132 – 43 = 89 ub =   cp + ((M – cw ) / w i+1) * pi+1 b    =   cp + [(110 – 89) / 43] * 53 = 164.88     </vt:lpstr>
      <vt:lpstr>         </vt:lpstr>
      <vt:lpstr>     Travelling salesman Problem</vt:lpstr>
      <vt:lpstr>    Travelling salesman Problem</vt:lpstr>
      <vt:lpstr>     Travelling salesman Problem</vt:lpstr>
      <vt:lpstr>     Travelling salesman Problem</vt:lpstr>
      <vt:lpstr>       Travelling salesman Problem</vt:lpstr>
      <vt:lpstr>    Travelling salesman Problem</vt:lpstr>
      <vt:lpstr>   How to get towards the optimal solution ?</vt:lpstr>
      <vt:lpstr>       Minimax Principle</vt:lpstr>
      <vt:lpstr>     Minimax Principle</vt:lpstr>
      <vt:lpstr>Suppose its max’s turn, so he will try to achieve maximum points, i.e. 9. Min will propagate minimum value from its descendents. If max chose left branch, he will end up with just 2 points. On right branch, min propagates minimum value 5 on level two, so if max chose right branch, he can earn 5 points. Out of all three, right branch can give maximum advantage to max, so he will select right branch move. This is how minimax principle works.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1010043316 Analysis and Design of Algorithms Unit 7: ANALYSIS AND DESIGN ALGORITHMS LECTURE COMPANION</dc:title>
  <dc:creator>Utsav Yagnik</dc:creator>
  <cp:lastModifiedBy>Staff 2</cp:lastModifiedBy>
  <cp:revision>9</cp:revision>
  <dcterms:created xsi:type="dcterms:W3CDTF">2020-09-07T10:12:37Z</dcterms:created>
  <dcterms:modified xsi:type="dcterms:W3CDTF">2024-08-22T11:00:34Z</dcterms:modified>
</cp:coreProperties>
</file>
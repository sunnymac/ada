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50" r:id="rId2"/>
  </p:sldMasterIdLst>
  <p:notesMasterIdLst>
    <p:notesMasterId r:id="rId65"/>
  </p:notesMasterIdLst>
  <p:sldIdLst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06" r:id="rId6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6" roundtripDataSignature="AMtx7mildIWgScBjUZ0EjvZR6rTpqaXB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391361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0" name="Google Shape;27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1" name="Google Shape;29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7" name="Google Shape;29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" name="Google Shape;31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" name="Google Shape;32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2" name="Google Shape;33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6" name="Google Shape;34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" name="Google Shape;35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0" name="Google Shape;36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7" name="Google Shape;36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4" name="Google Shape;37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" name="Google Shape;38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7" name="Google Shape;38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4" name="Google Shape;39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8" name="Google Shape;40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5" name="Google Shape;41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2" name="Google Shape;422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9" name="Google Shape;42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3" name="Google Shape;44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e33dfb34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g2e33dfb34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33dfb346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g2e33dfb346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e33dfb346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g2e33dfb346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33dfb346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g2e33dfb346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33dfb346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g2e33dfb346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e33dfb3467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2e33dfb346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33dfb346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e33dfb346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33dfb346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g2e33dfb346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33dfb3467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g2e33dfb346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e33dfb3467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g2e33dfb3467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e33dfb3467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2e33dfb3467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e33dfb3467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g2e33dfb346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e33dfb3467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g2e33dfb3467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0" name="Google Shape;450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5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Bookman Old Style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5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5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" name="Google Shape;21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26037" y="0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6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6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5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4" name="Google Shape;34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62288" y="0"/>
            <a:ext cx="1997850" cy="57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7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7"/>
          <p:cNvSpPr txBox="1">
            <a:spLocks noGrp="1"/>
          </p:cNvSpPr>
          <p:nvPr>
            <p:ph type="body" idx="1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7"/>
          <p:cNvSpPr txBox="1">
            <a:spLocks noGrp="1"/>
          </p:cNvSpPr>
          <p:nvPr>
            <p:ph type="body" idx="2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7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2" name="Google Shape;42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91217" y="0"/>
            <a:ext cx="2066929" cy="59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8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8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4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Bookman Old Style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4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0" name="Google Shape;50;p5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4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3" name="Google Shape;53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26037" y="0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9"/>
          <p:cNvSpPr txBox="1"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Bookman Old Style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9"/>
          <p:cNvSpPr txBox="1"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59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9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0"/>
          <p:cNvSpPr txBox="1"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60"/>
          <p:cNvSpPr txBox="1">
            <a:spLocks noGrp="1"/>
          </p:cNvSpPr>
          <p:nvPr>
            <p:ph type="body" idx="2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60"/>
          <p:cNvSpPr txBox="1">
            <a:spLocks noGrp="1"/>
          </p:cNvSpPr>
          <p:nvPr>
            <p:ph type="body" idx="3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60"/>
          <p:cNvSpPr txBox="1">
            <a:spLocks noGrp="1"/>
          </p:cNvSpPr>
          <p:nvPr>
            <p:ph type="body" idx="4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60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0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8" name="Google Shape;68;p60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9" name="Google Shape;69;p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2907" y="1"/>
            <a:ext cx="2137230" cy="61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1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1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1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2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2"/>
          <p:cNvSpPr txBox="1"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Bookman Old Style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2"/>
          <p:cNvSpPr txBox="1">
            <a:spLocks noGrp="1"/>
          </p:cNvSpPr>
          <p:nvPr>
            <p:ph type="body" idx="1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2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9" name="Google Shape;79;p62"/>
          <p:cNvSpPr txBox="1">
            <a:spLocks noGrp="1"/>
          </p:cNvSpPr>
          <p:nvPr>
            <p:ph type="body" idx="2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62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62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3" name="Google Shape;83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0764" y="0"/>
            <a:ext cx="2139373" cy="61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3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3"/>
          <p:cNvSpPr txBox="1"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Bookman Old Style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63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88" name="Google Shape;88;p63"/>
          <p:cNvSpPr txBox="1">
            <a:spLocks noGrp="1"/>
          </p:cNvSpPr>
          <p:nvPr>
            <p:ph type="body" idx="1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9" name="Google Shape;89;p63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63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6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4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64"/>
          <p:cNvSpPr txBox="1">
            <a:spLocks noGrp="1"/>
          </p:cNvSpPr>
          <p:nvPr>
            <p:ph type="body" idx="1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6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64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6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5"/>
          <p:cNvSpPr txBox="1">
            <a:spLocks noGrp="1"/>
          </p:cNvSpPr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65"/>
          <p:cNvSpPr txBox="1">
            <a:spLocks noGrp="1"/>
          </p:cNvSpPr>
          <p:nvPr>
            <p:ph type="body" idx="1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6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65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6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3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Bookman Old Style"/>
              <a:buNone/>
              <a:defRPr sz="28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3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2" name="Google Shape;12;p53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3" name="Google Shape;13;p53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4" name="Google Shape;14;p5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2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Bookman Old Style"/>
              <a:buNone/>
              <a:defRPr sz="28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52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25" name="Google Shape;25;p52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26" name="Google Shape;26;p52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27" name="Google Shape;27;p5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>
            <a:spLocks noGrp="1"/>
          </p:cNvSpPr>
          <p:nvPr>
            <p:ph type="ctrTitle"/>
          </p:nvPr>
        </p:nvSpPr>
        <p:spPr>
          <a:xfrm>
            <a:off x="1600200" y="1903751"/>
            <a:ext cx="8991600" cy="2128913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Bookman Old Style"/>
              <a:buNone/>
            </a:pPr>
            <a:r>
              <a:rPr lang="en-IN" dirty="0"/>
              <a:t>1010043316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Bookman Old Style"/>
              <a:buNone/>
            </a:pPr>
            <a:r>
              <a:rPr lang="en-IN" dirty="0"/>
              <a:t>Analysis and Design of Algorithms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Bookman Old Style"/>
              <a:buNone/>
            </a:pPr>
            <a:r>
              <a:rPr lang="en-IN"/>
              <a:t>Unit </a:t>
            </a:r>
            <a:r>
              <a:rPr lang="en-IN" smtClean="0"/>
              <a:t>3: </a:t>
            </a:r>
            <a:r>
              <a:rPr lang="en-IN"/>
              <a:t>DYNAMIC PROGRAMMING</a:t>
            </a:r>
            <a:endParaRPr dirty="0"/>
          </a:p>
        </p:txBody>
      </p:sp>
      <p:sp>
        <p:nvSpPr>
          <p:cNvPr id="109" name="Google Shape;109;p1"/>
          <p:cNvSpPr txBox="1"/>
          <p:nvPr/>
        </p:nvSpPr>
        <p:spPr>
          <a:xfrm>
            <a:off x="4459800" y="5016150"/>
            <a:ext cx="32724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SEMESTER: </a:t>
            </a:r>
            <a:r>
              <a:rPr lang="en-IN" sz="2000" dirty="0" smtClean="0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sz="2000" dirty="0">
              <a:solidFill>
                <a:srgbClr val="FEFEFE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781050"/>
            <a:ext cx="9753600" cy="529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BINOMIAL COEFICIENT</a:t>
            </a:r>
            <a:endParaRPr/>
          </a:p>
        </p:txBody>
      </p:sp>
      <p:sp>
        <p:nvSpPr>
          <p:cNvPr id="133" name="Google Shape;133;p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pic>
        <p:nvPicPr>
          <p:cNvPr id="134" name="Google Shape;13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35618"/>
            <a:ext cx="7729728" cy="3656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CONT’D. </a:t>
            </a:r>
            <a:endParaRPr/>
          </a:p>
        </p:txBody>
      </p:sp>
      <p:sp>
        <p:nvSpPr>
          <p:cNvPr id="140" name="Google Shape;140;p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pic>
        <p:nvPicPr>
          <p:cNvPr id="141" name="Google Shape;14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636005"/>
            <a:ext cx="7729728" cy="338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CONT’D. </a:t>
            </a:r>
            <a:endParaRPr/>
          </a:p>
        </p:txBody>
      </p:sp>
      <p:sp>
        <p:nvSpPr>
          <p:cNvPr id="147" name="Google Shape;147;p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148" name="Google Shape;14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7" y="2310008"/>
            <a:ext cx="7729728" cy="3766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CONT’D. </a:t>
            </a:r>
            <a:endParaRPr/>
          </a:p>
        </p:txBody>
      </p:sp>
      <p:sp>
        <p:nvSpPr>
          <p:cNvPr id="154" name="Google Shape;154;p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pic>
        <p:nvPicPr>
          <p:cNvPr id="155" name="Google Shape;15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11128"/>
            <a:ext cx="7729728" cy="3764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GENERALIZED SOLUTION USING DYNAMIC PROGRAMMING</a:t>
            </a:r>
            <a:endParaRPr/>
          </a:p>
        </p:txBody>
      </p:sp>
      <p:sp>
        <p:nvSpPr>
          <p:cNvPr id="161" name="Google Shape;161;p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pic>
        <p:nvPicPr>
          <p:cNvPr id="162" name="Google Shape;16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36589"/>
            <a:ext cx="7729728" cy="3713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MAKING CHANGE PROBLEM</a:t>
            </a:r>
            <a:endParaRPr/>
          </a:p>
        </p:txBody>
      </p:sp>
      <p:sp>
        <p:nvSpPr>
          <p:cNvPr id="168" name="Google Shape;168;p1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pic>
        <p:nvPicPr>
          <p:cNvPr id="169" name="Google Shape;16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299128"/>
            <a:ext cx="7729728" cy="3788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MAKING CHANGE PROBLEM</a:t>
            </a:r>
            <a:endParaRPr/>
          </a:p>
        </p:txBody>
      </p:sp>
      <p:sp>
        <p:nvSpPr>
          <p:cNvPr id="175" name="Google Shape;175;p1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pic>
        <p:nvPicPr>
          <p:cNvPr id="176" name="Google Shape;17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400074"/>
            <a:ext cx="7729728" cy="3586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MAKING CHANGE PROBLEM</a:t>
            </a:r>
            <a:endParaRPr/>
          </a:p>
        </p:txBody>
      </p:sp>
      <p:sp>
        <p:nvSpPr>
          <p:cNvPr id="182" name="Google Shape;182;p1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pic>
        <p:nvPicPr>
          <p:cNvPr id="183" name="Google Shape;18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61610"/>
            <a:ext cx="7729728" cy="3694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0/1 KNAPSACK PROBLEM</a:t>
            </a:r>
            <a:endParaRPr/>
          </a:p>
        </p:txBody>
      </p:sp>
      <p:sp>
        <p:nvSpPr>
          <p:cNvPr id="189" name="Google Shape;189;p1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pic>
        <p:nvPicPr>
          <p:cNvPr id="190" name="Google Shape;1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295590"/>
            <a:ext cx="7729728" cy="3685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0/1 KNAPSACK PROBLEM</a:t>
            </a:r>
            <a:endParaRPr/>
          </a:p>
        </p:txBody>
      </p:sp>
      <p:sp>
        <p:nvSpPr>
          <p:cNvPr id="196" name="Google Shape;196;p1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pic>
        <p:nvPicPr>
          <p:cNvPr id="197" name="Google Shape;19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7" y="2340261"/>
            <a:ext cx="7729728" cy="3725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0/1 KNAPSACK PROBLEM</a:t>
            </a:r>
            <a:endParaRPr/>
          </a:p>
        </p:txBody>
      </p:sp>
      <p:sp>
        <p:nvSpPr>
          <p:cNvPr id="203" name="Google Shape;203;p1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pic>
        <p:nvPicPr>
          <p:cNvPr id="204" name="Google Shape;20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7" y="2429163"/>
            <a:ext cx="7729728" cy="3581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0/1 KNAPSACK PROBLEM</a:t>
            </a:r>
            <a:endParaRPr/>
          </a:p>
        </p:txBody>
      </p:sp>
      <p:sp>
        <p:nvSpPr>
          <p:cNvPr id="210" name="Google Shape;210;p1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pic>
        <p:nvPicPr>
          <p:cNvPr id="211" name="Google Shape;21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411530"/>
            <a:ext cx="7729728" cy="3563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ASSEMBLY LINE SCHEDULING</a:t>
            </a:r>
            <a:endParaRPr/>
          </a:p>
        </p:txBody>
      </p:sp>
      <p:sp>
        <p:nvSpPr>
          <p:cNvPr id="217" name="Google Shape;217;p1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pic>
        <p:nvPicPr>
          <p:cNvPr id="218" name="Google Shape;21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17497"/>
            <a:ext cx="7729728" cy="3720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ASSEMBLY LINE SCHEDULING</a:t>
            </a:r>
            <a:endParaRPr/>
          </a:p>
        </p:txBody>
      </p:sp>
      <p:sp>
        <p:nvSpPr>
          <p:cNvPr id="224" name="Google Shape;224;p1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pic>
        <p:nvPicPr>
          <p:cNvPr id="225" name="Google Shape;22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98529"/>
            <a:ext cx="7729728" cy="3657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ASSEMBLY LINE SCHEDULING</a:t>
            </a:r>
            <a:endParaRPr/>
          </a:p>
        </p:txBody>
      </p:sp>
      <p:sp>
        <p:nvSpPr>
          <p:cNvPr id="231" name="Google Shape;231;p1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pic>
        <p:nvPicPr>
          <p:cNvPr id="232" name="Google Shape;23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02376"/>
            <a:ext cx="7729728" cy="3796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ASSEMBLY LINE SCHEDULING</a:t>
            </a:r>
            <a:endParaRPr/>
          </a:p>
        </p:txBody>
      </p:sp>
      <p:sp>
        <p:nvSpPr>
          <p:cNvPr id="238" name="Google Shape;238;p2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pic>
        <p:nvPicPr>
          <p:cNvPr id="239" name="Google Shape;23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442819"/>
            <a:ext cx="7729728" cy="350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ASSEMBLY LINE SCHEDULING</a:t>
            </a:r>
            <a:endParaRPr/>
          </a:p>
        </p:txBody>
      </p:sp>
      <p:sp>
        <p:nvSpPr>
          <p:cNvPr id="245" name="Google Shape;245;p2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  <p:pic>
        <p:nvPicPr>
          <p:cNvPr id="246" name="Google Shape;24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74075"/>
            <a:ext cx="7729728" cy="3586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ASSEMBLY LINE SCHEDULING</a:t>
            </a:r>
            <a:endParaRPr/>
          </a:p>
        </p:txBody>
      </p:sp>
      <p:sp>
        <p:nvSpPr>
          <p:cNvPr id="252" name="Google Shape;252;p2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  <p:pic>
        <p:nvPicPr>
          <p:cNvPr id="253" name="Google Shape;25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83435"/>
            <a:ext cx="7729728" cy="3612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ASSEMBLY LINE SCHEDULING</a:t>
            </a:r>
            <a:endParaRPr/>
          </a:p>
        </p:txBody>
      </p:sp>
      <p:sp>
        <p:nvSpPr>
          <p:cNvPr id="259" name="Google Shape;259;p2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  <p:pic>
        <p:nvPicPr>
          <p:cNvPr id="260" name="Google Shape;26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7" y="2315380"/>
            <a:ext cx="7729728" cy="3725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ALL PAIR SHORTEST PATH – FLOYD’S ALGORITHM</a:t>
            </a:r>
            <a:endParaRPr/>
          </a:p>
        </p:txBody>
      </p:sp>
      <p:sp>
        <p:nvSpPr>
          <p:cNvPr id="266" name="Google Shape;266;p2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  <p:pic>
        <p:nvPicPr>
          <p:cNvPr id="267" name="Google Shape;26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89761"/>
            <a:ext cx="7729728" cy="3677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ALL PAIR SHORTEST PATH – FLOYD’S ALGORITHM</a:t>
            </a:r>
            <a:endParaRPr/>
          </a:p>
        </p:txBody>
      </p:sp>
      <p:sp>
        <p:nvSpPr>
          <p:cNvPr id="273" name="Google Shape;273;p2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23</a:t>
            </a:fld>
            <a:endParaRPr/>
          </a:p>
        </p:txBody>
      </p:sp>
      <p:pic>
        <p:nvPicPr>
          <p:cNvPr id="274" name="Google Shape;27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71936"/>
            <a:ext cx="7729728" cy="3579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ALL PAIR SHORTEST PATH – FLOYD’S ALGORITHM</a:t>
            </a:r>
            <a:endParaRPr/>
          </a:p>
        </p:txBody>
      </p:sp>
      <p:sp>
        <p:nvSpPr>
          <p:cNvPr id="280" name="Google Shape;280;p2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24</a:t>
            </a:fld>
            <a:endParaRPr/>
          </a:p>
        </p:txBody>
      </p:sp>
      <p:pic>
        <p:nvPicPr>
          <p:cNvPr id="281" name="Google Shape;28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7" y="2353474"/>
            <a:ext cx="7729728" cy="3642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ALL PAIR SHORTEST PATH – FLOYD’S ALGORITHM</a:t>
            </a:r>
            <a:endParaRPr/>
          </a:p>
        </p:txBody>
      </p:sp>
      <p:sp>
        <p:nvSpPr>
          <p:cNvPr id="287" name="Google Shape;287;p2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25</a:t>
            </a:fld>
            <a:endParaRPr/>
          </a:p>
        </p:txBody>
      </p:sp>
      <p:pic>
        <p:nvPicPr>
          <p:cNvPr id="288" name="Google Shape;28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7" y="2342322"/>
            <a:ext cx="7729728" cy="368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8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ALL PAIR SHORTEST PATH – FLOYD’S ALGORITHM</a:t>
            </a:r>
            <a:endParaRPr/>
          </a:p>
        </p:txBody>
      </p:sp>
      <p:sp>
        <p:nvSpPr>
          <p:cNvPr id="294" name="Google Shape;294;p2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ALL PAIR SHORTEST PATH – FLOYD’S ALGORITHM</a:t>
            </a:r>
            <a:endParaRPr/>
          </a:p>
        </p:txBody>
      </p:sp>
      <p:sp>
        <p:nvSpPr>
          <p:cNvPr id="300" name="Google Shape;300;p2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27</a:t>
            </a:fld>
            <a:endParaRPr/>
          </a:p>
        </p:txBody>
      </p:sp>
      <p:pic>
        <p:nvPicPr>
          <p:cNvPr id="301" name="Google Shape;30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39077"/>
            <a:ext cx="7729728" cy="3686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ALL PAIR SHORTEST PATH – FLOYD’S ALGORITHM</a:t>
            </a:r>
            <a:endParaRPr/>
          </a:p>
        </p:txBody>
      </p:sp>
      <p:sp>
        <p:nvSpPr>
          <p:cNvPr id="307" name="Google Shape;307;p3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28</a:t>
            </a:fld>
            <a:endParaRPr/>
          </a:p>
        </p:txBody>
      </p:sp>
      <p:pic>
        <p:nvPicPr>
          <p:cNvPr id="308" name="Google Shape;30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92203"/>
            <a:ext cx="7729728" cy="3648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ALL PAIR SHORTEST PATH – FLOYD’S ALGORITHM</a:t>
            </a:r>
            <a:endParaRPr/>
          </a:p>
        </p:txBody>
      </p:sp>
      <p:sp>
        <p:nvSpPr>
          <p:cNvPr id="314" name="Google Shape;314;p3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29</a:t>
            </a:fld>
            <a:endParaRPr/>
          </a:p>
        </p:txBody>
      </p:sp>
      <p:pic>
        <p:nvPicPr>
          <p:cNvPr id="315" name="Google Shape;31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09415"/>
            <a:ext cx="7729728" cy="3768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ALL PAIR SHORTEST PATH – FLOYD’S ALGORITHM</a:t>
            </a:r>
            <a:endParaRPr/>
          </a:p>
        </p:txBody>
      </p:sp>
      <p:sp>
        <p:nvSpPr>
          <p:cNvPr id="321" name="Google Shape;321;p3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30</a:t>
            </a:fld>
            <a:endParaRPr/>
          </a:p>
        </p:txBody>
      </p:sp>
      <p:pic>
        <p:nvPicPr>
          <p:cNvPr id="322" name="Google Shape;32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91749"/>
            <a:ext cx="7729727" cy="3649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ALL PAIR SHORTEST PATH – FLOYD’S ALGORITHM</a:t>
            </a:r>
            <a:endParaRPr/>
          </a:p>
        </p:txBody>
      </p:sp>
      <p:sp>
        <p:nvSpPr>
          <p:cNvPr id="328" name="Google Shape;328;p3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31</a:t>
            </a:fld>
            <a:endParaRPr/>
          </a:p>
        </p:txBody>
      </p:sp>
      <p:pic>
        <p:nvPicPr>
          <p:cNvPr id="329" name="Google Shape;32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34035"/>
            <a:ext cx="7729728" cy="3718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4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ALL PAIR SHORTEST PATH – FLOYD’S ALGORITHM</a:t>
            </a:r>
            <a:endParaRPr/>
          </a:p>
        </p:txBody>
      </p:sp>
      <p:sp>
        <p:nvSpPr>
          <p:cNvPr id="335" name="Google Shape;335;p3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32</a:t>
            </a:fld>
            <a:endParaRPr/>
          </a:p>
        </p:txBody>
      </p:sp>
      <p:pic>
        <p:nvPicPr>
          <p:cNvPr id="336" name="Google Shape;33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430158"/>
            <a:ext cx="7729728" cy="3580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5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ALL PAIR SHORTEST PATH – FLOYD’S ALGORITHM</a:t>
            </a:r>
            <a:endParaRPr/>
          </a:p>
        </p:txBody>
      </p:sp>
      <p:sp>
        <p:nvSpPr>
          <p:cNvPr id="342" name="Google Shape;342;p3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33</a:t>
            </a:fld>
            <a:endParaRPr/>
          </a:p>
        </p:txBody>
      </p:sp>
      <p:pic>
        <p:nvPicPr>
          <p:cNvPr id="343" name="Google Shape;343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476120"/>
            <a:ext cx="7729728" cy="3594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6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CHAIN MATRIX MULTIPLICATION</a:t>
            </a:r>
            <a:endParaRPr/>
          </a:p>
        </p:txBody>
      </p:sp>
      <p:sp>
        <p:nvSpPr>
          <p:cNvPr id="349" name="Google Shape;349;p3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34</a:t>
            </a:fld>
            <a:endParaRPr/>
          </a:p>
        </p:txBody>
      </p:sp>
      <p:pic>
        <p:nvPicPr>
          <p:cNvPr id="350" name="Google Shape;35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414022"/>
            <a:ext cx="7729728" cy="3537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CHAIN MATRIX MULTIPLICATION</a:t>
            </a:r>
            <a:endParaRPr/>
          </a:p>
        </p:txBody>
      </p:sp>
      <p:sp>
        <p:nvSpPr>
          <p:cNvPr id="356" name="Google Shape;356;p3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35</a:t>
            </a:fld>
            <a:endParaRPr/>
          </a:p>
        </p:txBody>
      </p:sp>
      <p:pic>
        <p:nvPicPr>
          <p:cNvPr id="357" name="Google Shape;357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479472"/>
            <a:ext cx="7729728" cy="35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8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CHAIN MATRIX MULTIPLICATION</a:t>
            </a:r>
            <a:endParaRPr/>
          </a:p>
        </p:txBody>
      </p:sp>
      <p:sp>
        <p:nvSpPr>
          <p:cNvPr id="363" name="Google Shape;363;p3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36</a:t>
            </a:fld>
            <a:endParaRPr/>
          </a:p>
        </p:txBody>
      </p:sp>
      <p:pic>
        <p:nvPicPr>
          <p:cNvPr id="364" name="Google Shape;364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82858"/>
            <a:ext cx="7729728" cy="3621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CHAIN MATRIX MULTIPLICATION</a:t>
            </a:r>
            <a:endParaRPr/>
          </a:p>
        </p:txBody>
      </p:sp>
      <p:sp>
        <p:nvSpPr>
          <p:cNvPr id="370" name="Google Shape;370;p3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37</a:t>
            </a:fld>
            <a:endParaRPr/>
          </a:p>
        </p:txBody>
      </p:sp>
      <p:pic>
        <p:nvPicPr>
          <p:cNvPr id="371" name="Google Shape;371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283792"/>
            <a:ext cx="7729728" cy="3819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CHAIN MATRIX MULTIPLICATION</a:t>
            </a:r>
            <a:endParaRPr/>
          </a:p>
        </p:txBody>
      </p:sp>
      <p:sp>
        <p:nvSpPr>
          <p:cNvPr id="377" name="Google Shape;377;p4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CHAIN MATRIX MULTIPLICATION</a:t>
            </a:r>
            <a:endParaRPr/>
          </a:p>
        </p:txBody>
      </p:sp>
      <p:sp>
        <p:nvSpPr>
          <p:cNvPr id="383" name="Google Shape;383;p4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39</a:t>
            </a:fld>
            <a:endParaRPr/>
          </a:p>
        </p:txBody>
      </p:sp>
      <p:pic>
        <p:nvPicPr>
          <p:cNvPr id="384" name="Google Shape;384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50782"/>
            <a:ext cx="7729728" cy="3787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2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CHAIN MATRIX MULTIPLICATION</a:t>
            </a:r>
            <a:endParaRPr/>
          </a:p>
        </p:txBody>
      </p:sp>
      <p:sp>
        <p:nvSpPr>
          <p:cNvPr id="390" name="Google Shape;390;p4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40</a:t>
            </a:fld>
            <a:endParaRPr/>
          </a:p>
        </p:txBody>
      </p:sp>
      <p:pic>
        <p:nvPicPr>
          <p:cNvPr id="391" name="Google Shape;391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436941"/>
            <a:ext cx="7729728" cy="3513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CHAIN MATRIX MULTIPLICATION</a:t>
            </a:r>
            <a:endParaRPr/>
          </a:p>
        </p:txBody>
      </p:sp>
      <p:sp>
        <p:nvSpPr>
          <p:cNvPr id="397" name="Google Shape;397;p4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41</a:t>
            </a:fld>
            <a:endParaRPr/>
          </a:p>
        </p:txBody>
      </p:sp>
      <p:pic>
        <p:nvPicPr>
          <p:cNvPr id="398" name="Google Shape;398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460306"/>
            <a:ext cx="7729728" cy="3565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CHAIN MATRIX MULTIPLICATION</a:t>
            </a:r>
            <a:endParaRPr/>
          </a:p>
        </p:txBody>
      </p:sp>
      <p:sp>
        <p:nvSpPr>
          <p:cNvPr id="404" name="Google Shape;404;p4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42</a:t>
            </a:fld>
            <a:endParaRPr/>
          </a:p>
        </p:txBody>
      </p:sp>
      <p:pic>
        <p:nvPicPr>
          <p:cNvPr id="405" name="Google Shape;405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50410"/>
            <a:ext cx="7729728" cy="3686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5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CHAIN MATRIX MULTIPLICATION</a:t>
            </a:r>
            <a:endParaRPr/>
          </a:p>
        </p:txBody>
      </p:sp>
      <p:sp>
        <p:nvSpPr>
          <p:cNvPr id="411" name="Google Shape;411;p4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43</a:t>
            </a:fld>
            <a:endParaRPr/>
          </a:p>
        </p:txBody>
      </p:sp>
      <p:pic>
        <p:nvPicPr>
          <p:cNvPr id="412" name="Google Shape;412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89292"/>
            <a:ext cx="7729728" cy="360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CHAIN MATRIX MULTIPLICATION</a:t>
            </a:r>
            <a:endParaRPr/>
          </a:p>
        </p:txBody>
      </p:sp>
      <p:sp>
        <p:nvSpPr>
          <p:cNvPr id="418" name="Google Shape;418;p4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44</a:t>
            </a:fld>
            <a:endParaRPr/>
          </a:p>
        </p:txBody>
      </p:sp>
      <p:pic>
        <p:nvPicPr>
          <p:cNvPr id="419" name="Google Shape;41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433314"/>
            <a:ext cx="7729728" cy="3520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LONGEST COMMON SUBSEQUENCE</a:t>
            </a:r>
            <a:endParaRPr/>
          </a:p>
        </p:txBody>
      </p:sp>
      <p:sp>
        <p:nvSpPr>
          <p:cNvPr id="425" name="Google Shape;425;p4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45</a:t>
            </a:fld>
            <a:endParaRPr/>
          </a:p>
        </p:txBody>
      </p:sp>
      <p:pic>
        <p:nvPicPr>
          <p:cNvPr id="426" name="Google Shape;426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409403"/>
            <a:ext cx="7729728" cy="3568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8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LONGEST COMMON SUBSEQUENCE</a:t>
            </a:r>
            <a:endParaRPr/>
          </a:p>
        </p:txBody>
      </p:sp>
      <p:sp>
        <p:nvSpPr>
          <p:cNvPr id="432" name="Google Shape;432;p4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46</a:t>
            </a:fld>
            <a:endParaRPr/>
          </a:p>
        </p:txBody>
      </p:sp>
      <p:pic>
        <p:nvPicPr>
          <p:cNvPr id="433" name="Google Shape;433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497314"/>
            <a:ext cx="7729728" cy="3392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9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LONGEST COMMON SUBSEQUENCE</a:t>
            </a:r>
            <a:endParaRPr/>
          </a:p>
        </p:txBody>
      </p:sp>
      <p:sp>
        <p:nvSpPr>
          <p:cNvPr id="439" name="Google Shape;439;p4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47</a:t>
            </a:fld>
            <a:endParaRPr/>
          </a:p>
        </p:txBody>
      </p:sp>
      <p:pic>
        <p:nvPicPr>
          <p:cNvPr id="440" name="Google Shape;440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44680"/>
            <a:ext cx="7729728" cy="3697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0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Bookman Old Style"/>
              <a:buNone/>
            </a:pPr>
            <a:r>
              <a:rPr lang="en-IN">
                <a:solidFill>
                  <a:srgbClr val="464646"/>
                </a:solidFill>
              </a:rPr>
              <a:t>LONGEST COMMON SUBSEQUENCE</a:t>
            </a:r>
            <a:endParaRPr/>
          </a:p>
        </p:txBody>
      </p:sp>
      <p:sp>
        <p:nvSpPr>
          <p:cNvPr id="446" name="Google Shape;446;p5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48</a:t>
            </a:fld>
            <a:endParaRPr/>
          </a:p>
        </p:txBody>
      </p:sp>
      <p:pic>
        <p:nvPicPr>
          <p:cNvPr id="447" name="Google Shape;447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1136" y="2390426"/>
            <a:ext cx="7729728" cy="356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e33dfb3467_0_0"/>
          <p:cNvSpPr txBox="1">
            <a:spLocks noGrp="1"/>
          </p:cNvSpPr>
          <p:nvPr>
            <p:ph type="title"/>
          </p:nvPr>
        </p:nvSpPr>
        <p:spPr>
          <a:xfrm>
            <a:off x="1447800" y="990600"/>
            <a:ext cx="10306500" cy="11886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>
              <a:buClr>
                <a:srgbClr val="464646"/>
              </a:buClr>
              <a:buSzPts val="2800"/>
            </a:pPr>
            <a:r>
              <a:rPr lang="en-IN">
                <a:solidFill>
                  <a:srgbClr val="464646"/>
                </a:solidFill>
                <a:sym typeface="Times New Roman"/>
              </a:rPr>
              <a:t>Greedy Algorithms </a:t>
            </a:r>
            <a:endParaRPr>
              <a:solidFill>
                <a:srgbClr val="464646"/>
              </a:solidFill>
            </a:endParaRPr>
          </a:p>
        </p:txBody>
      </p:sp>
      <p:sp>
        <p:nvSpPr>
          <p:cNvPr id="115" name="Google Shape;115;g2e33dfb3467_0_0"/>
          <p:cNvSpPr txBox="1">
            <a:spLocks noGrp="1"/>
          </p:cNvSpPr>
          <p:nvPr>
            <p:ph type="body" idx="1"/>
          </p:nvPr>
        </p:nvSpPr>
        <p:spPr>
          <a:xfrm>
            <a:off x="720598" y="2574544"/>
            <a:ext cx="10306500" cy="31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IN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 problems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IN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programming, but overkill sometime.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IN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 algorithm: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Being  greedy for local optimization with the hope it will lead to a global optimal solution, not always, but in many situations, it works.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024887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33dfb3467_0_5"/>
          <p:cNvSpPr txBox="1">
            <a:spLocks noGrp="1"/>
          </p:cNvSpPr>
          <p:nvPr>
            <p:ph type="title"/>
          </p:nvPr>
        </p:nvSpPr>
        <p:spPr>
          <a:xfrm>
            <a:off x="914400" y="533400"/>
            <a:ext cx="10306500" cy="11886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>
              <a:buClr>
                <a:srgbClr val="464646"/>
              </a:buClr>
              <a:buSzPts val="2800"/>
            </a:pPr>
            <a:r>
              <a:rPr lang="en-IN">
                <a:solidFill>
                  <a:srgbClr val="464646"/>
                </a:solidFill>
                <a:sym typeface="Times New Roman"/>
              </a:rPr>
              <a:t>An Activity-Selection Problem</a:t>
            </a:r>
            <a:endParaRPr>
              <a:solidFill>
                <a:srgbClr val="464646"/>
              </a:solidFill>
            </a:endParaRPr>
          </a:p>
        </p:txBody>
      </p:sp>
      <p:sp>
        <p:nvSpPr>
          <p:cNvPr id="121" name="Google Shape;121;g2e33dfb3467_0_5"/>
          <p:cNvSpPr txBox="1">
            <a:spLocks noGrp="1"/>
          </p:cNvSpPr>
          <p:nvPr>
            <p:ph type="body" idx="1"/>
          </p:nvPr>
        </p:nvSpPr>
        <p:spPr>
          <a:xfrm>
            <a:off x="812800" y="1676400"/>
            <a:ext cx="104649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IN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A set of activities S={</a:t>
            </a:r>
            <a:r>
              <a:rPr lang="en-IN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IN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IN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28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IN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,…, </a:t>
            </a:r>
            <a:r>
              <a:rPr lang="en-IN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28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IN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use resources, such as lecture hall, one lecture at a time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</a:t>
            </a:r>
            <a:r>
              <a:rPr lang="en-IN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has a start time </a:t>
            </a:r>
            <a:r>
              <a:rPr lang="en-IN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finish time </a:t>
            </a:r>
            <a:r>
              <a:rPr lang="en-IN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IN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with 0≤ </a:t>
            </a:r>
            <a:r>
              <a:rPr lang="en-IN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</a:t>
            </a:r>
            <a:r>
              <a:rPr lang="en-IN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IN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&lt;∝.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IN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compatible if [</a:t>
            </a:r>
            <a:r>
              <a:rPr lang="en-IN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IN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IN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and [</a:t>
            </a:r>
            <a:r>
              <a:rPr lang="en-IN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IN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IN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do not overlap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IN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select maximum-size subset of mutually compatible activities.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IN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from dynamic programming, then greedy algorithm, see the relation between the two.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01189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33dfb3467_0_10"/>
          <p:cNvSpPr txBox="1">
            <a:spLocks noGrp="1"/>
          </p:cNvSpPr>
          <p:nvPr>
            <p:ph type="title"/>
          </p:nvPr>
        </p:nvSpPr>
        <p:spPr>
          <a:xfrm>
            <a:off x="914400" y="762000"/>
            <a:ext cx="10306500" cy="11886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>
              <a:buClr>
                <a:srgbClr val="464646"/>
              </a:buClr>
              <a:buSzPts val="2800"/>
            </a:pPr>
            <a:r>
              <a:rPr lang="en-IN">
                <a:solidFill>
                  <a:srgbClr val="464646"/>
                </a:solidFill>
                <a:sym typeface="Times New Roman"/>
              </a:rPr>
              <a:t>DP solution –step 1</a:t>
            </a:r>
            <a:endParaRPr>
              <a:solidFill>
                <a:srgbClr val="464646"/>
              </a:solidFill>
            </a:endParaRPr>
          </a:p>
        </p:txBody>
      </p:sp>
      <p:sp>
        <p:nvSpPr>
          <p:cNvPr id="127" name="Google Shape;127;g2e33dfb3467_0_10"/>
          <p:cNvSpPr txBox="1">
            <a:spLocks noGrp="1"/>
          </p:cNvSpPr>
          <p:nvPr>
            <p:ph type="body" idx="1"/>
          </p:nvPr>
        </p:nvSpPr>
        <p:spPr>
          <a:xfrm>
            <a:off x="508000" y="1828800"/>
            <a:ext cx="116841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IN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 substructure of activity-selection problem.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Furthermore, assume that f</a:t>
            </a:r>
            <a:r>
              <a:rPr lang="en-IN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≤… ≤f</a:t>
            </a:r>
            <a:r>
              <a:rPr lang="en-IN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S</a:t>
            </a:r>
            <a:r>
              <a:rPr lang="en-IN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={a</a:t>
            </a:r>
            <a:r>
              <a:rPr lang="en-IN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</a:t>
            </a:r>
            <a:r>
              <a:rPr lang="en-IN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s</a:t>
            </a:r>
            <a:r>
              <a:rPr lang="en-IN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&lt;f</a:t>
            </a:r>
            <a:r>
              <a:rPr lang="en-IN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≤s</a:t>
            </a:r>
            <a:r>
              <a:rPr lang="en-IN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 i.e., all activities starting after a</a:t>
            </a:r>
            <a:r>
              <a:rPr lang="en-IN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finished and ending before a</a:t>
            </a:r>
            <a:r>
              <a:rPr lang="en-IN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begins.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two fictitious activities a</a:t>
            </a:r>
            <a:r>
              <a:rPr lang="en-IN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f</a:t>
            </a:r>
            <a:r>
              <a:rPr lang="en-IN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=0 and a</a:t>
            </a:r>
            <a:r>
              <a:rPr lang="en-IN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n+1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s</a:t>
            </a:r>
            <a:r>
              <a:rPr lang="en-IN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n+1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=∞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f</a:t>
            </a:r>
            <a:r>
              <a:rPr lang="en-IN" sz="20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IN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≤f</a:t>
            </a:r>
            <a:r>
              <a:rPr lang="en-IN" sz="20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IN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≤… ≤f</a:t>
            </a:r>
            <a:r>
              <a:rPr lang="en-IN" sz="20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n+1</a:t>
            </a:r>
            <a:r>
              <a:rPr lang="en-IN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an optimal solution including a</a:t>
            </a:r>
            <a:r>
              <a:rPr lang="en-IN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S</a:t>
            </a:r>
            <a:r>
              <a:rPr lang="en-IN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contains within it the optimal solution to S</a:t>
            </a:r>
            <a:r>
              <a:rPr lang="en-IN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S</a:t>
            </a:r>
            <a:r>
              <a:rPr lang="en-IN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kj</a:t>
            </a:r>
            <a:r>
              <a:rPr lang="en-IN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619430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33dfb3467_0_15"/>
          <p:cNvSpPr txBox="1">
            <a:spLocks noGrp="1"/>
          </p:cNvSpPr>
          <p:nvPr>
            <p:ph type="title"/>
          </p:nvPr>
        </p:nvSpPr>
        <p:spPr>
          <a:xfrm>
            <a:off x="990600" y="914400"/>
            <a:ext cx="10306500" cy="11886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>
              <a:buClr>
                <a:srgbClr val="464646"/>
              </a:buClr>
              <a:buSzPts val="2800"/>
            </a:pPr>
            <a:r>
              <a:rPr lang="en-IN">
                <a:solidFill>
                  <a:srgbClr val="464646"/>
                </a:solidFill>
                <a:sym typeface="Times New Roman"/>
              </a:rPr>
              <a:t>DP solution –step 2</a:t>
            </a:r>
            <a:endParaRPr>
              <a:solidFill>
                <a:srgbClr val="464646"/>
              </a:solidFill>
            </a:endParaRPr>
          </a:p>
        </p:txBody>
      </p:sp>
      <p:sp>
        <p:nvSpPr>
          <p:cNvPr id="133" name="Google Shape;133;g2e33dfb3467_0_15"/>
          <p:cNvSpPr txBox="1">
            <a:spLocks noGrp="1"/>
          </p:cNvSpPr>
          <p:nvPr>
            <p:ph type="body" idx="1"/>
          </p:nvPr>
        </p:nvSpPr>
        <p:spPr>
          <a:xfrm>
            <a:off x="990600" y="2716200"/>
            <a:ext cx="10306500" cy="31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recursive solution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 c[n+1,n+1] with c[</a:t>
            </a:r>
            <a:r>
              <a:rPr lang="en-IN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i,j</a:t>
            </a:r>
            <a:r>
              <a:rPr lang="en-IN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is the number of activities in a maximum-size subset of mutually compatible activities in </a:t>
            </a:r>
            <a:r>
              <a:rPr lang="en-IN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sz="2000" b="0" i="0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IN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So the solution is c[0,n+1]=S</a:t>
            </a:r>
            <a:r>
              <a:rPr lang="en-IN" sz="20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0,n+1</a:t>
            </a:r>
            <a:r>
              <a:rPr lang="en-IN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C[</a:t>
            </a:r>
            <a:r>
              <a:rPr lang="en-IN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i,j</a:t>
            </a:r>
            <a:r>
              <a:rPr lang="en-IN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]=   0   		          if </a:t>
            </a:r>
            <a:r>
              <a:rPr lang="en-IN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sz="2000" b="0" i="0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IN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=∅                                                                	    max{c[</a:t>
            </a:r>
            <a:r>
              <a:rPr lang="en-IN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i,k</a:t>
            </a:r>
            <a:r>
              <a:rPr lang="en-IN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]+c[</a:t>
            </a:r>
            <a:r>
              <a:rPr lang="en-IN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k,j</a:t>
            </a:r>
            <a:r>
              <a:rPr lang="en-IN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]+1} if </a:t>
            </a:r>
            <a:r>
              <a:rPr lang="en-IN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sz="2000" b="0" i="0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IN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≠∅</a:t>
            </a:r>
            <a:endParaRPr dirty="0"/>
          </a:p>
          <a:p>
            <a:pPr marL="160020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IN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i&lt;k&lt;j and </a:t>
            </a:r>
            <a:r>
              <a:rPr lang="en-IN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2000" b="0" i="0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IN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∈S</a:t>
            </a:r>
            <a:r>
              <a:rPr lang="en-IN" sz="2000" b="0" i="0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implement?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</a:pPr>
            <a:r>
              <a:rPr lang="en-IN" sz="1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compute the initial cases by checking </a:t>
            </a:r>
            <a:r>
              <a:rPr lang="en-IN" sz="1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sz="1600" b="0" i="0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IN" sz="1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=∅?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</a:pPr>
            <a:r>
              <a:rPr lang="en-IN" sz="1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loop to iteratively compute C[</a:t>
            </a:r>
            <a:r>
              <a:rPr lang="en-IN" sz="1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i,j</a:t>
            </a:r>
            <a:r>
              <a:rPr lang="en-IN" sz="1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]: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</a:pPr>
            <a:r>
              <a:rPr lang="en-IN" sz="1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i=… for j=… for k=…?    This is wrong? 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</a:pPr>
            <a:r>
              <a:rPr lang="en-IN" sz="1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to be similar to MCM:</a:t>
            </a:r>
            <a:endParaRPr dirty="0"/>
          </a:p>
          <a:p>
            <a:pPr marL="1143000" lvl="2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IN" sz="1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IN" sz="1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</a:t>
            </a:r>
            <a:r>
              <a:rPr lang="en-IN" sz="1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=… for i=… j=</a:t>
            </a:r>
            <a:r>
              <a:rPr lang="en-IN" sz="12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i+len</a:t>
            </a:r>
            <a:r>
              <a:rPr lang="en-IN" sz="12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for k=…  </a:t>
            </a:r>
            <a:endParaRPr sz="12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g2e33dfb3467_0_15"/>
          <p:cNvSpPr/>
          <p:nvPr/>
        </p:nvSpPr>
        <p:spPr>
          <a:xfrm>
            <a:off x="1219200" y="3848100"/>
            <a:ext cx="101700" cy="838200"/>
          </a:xfrm>
          <a:prstGeom prst="leftBrace">
            <a:avLst>
              <a:gd name="adj1" fmla="val 2291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30546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33dfb3467_0_21"/>
          <p:cNvSpPr txBox="1">
            <a:spLocks noGrp="1"/>
          </p:cNvSpPr>
          <p:nvPr>
            <p:ph type="title"/>
          </p:nvPr>
        </p:nvSpPr>
        <p:spPr>
          <a:xfrm>
            <a:off x="812800" y="685800"/>
            <a:ext cx="10363200" cy="11430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>
              <a:buClr>
                <a:srgbClr val="464646"/>
              </a:buClr>
              <a:buSzPts val="2800"/>
            </a:pPr>
            <a:r>
              <a:rPr lang="en-IN">
                <a:solidFill>
                  <a:srgbClr val="464646"/>
                </a:solidFill>
                <a:sym typeface="Times New Roman"/>
              </a:rPr>
              <a:t>Converting DP Solution to Greedy Solution</a:t>
            </a:r>
            <a:endParaRPr>
              <a:solidFill>
                <a:srgbClr val="464646"/>
              </a:solidFill>
            </a:endParaRPr>
          </a:p>
        </p:txBody>
      </p:sp>
      <p:sp>
        <p:nvSpPr>
          <p:cNvPr id="140" name="Google Shape;140;g2e33dfb3467_0_21"/>
          <p:cNvSpPr txBox="1">
            <a:spLocks noGrp="1"/>
          </p:cNvSpPr>
          <p:nvPr>
            <p:ph type="body" idx="1"/>
          </p:nvPr>
        </p:nvSpPr>
        <p:spPr>
          <a:xfrm>
            <a:off x="0" y="2286000"/>
            <a:ext cx="117855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 16.1: consider any nonempty </a:t>
            </a:r>
            <a:r>
              <a:rPr lang="en-IN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subproblem</a:t>
            </a: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sz="28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let </a:t>
            </a:r>
            <a:r>
              <a:rPr lang="en-IN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2800" b="0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the activity in </a:t>
            </a:r>
            <a:r>
              <a:rPr lang="en-IN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sz="28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earliest finish time: </a:t>
            </a:r>
            <a:r>
              <a:rPr lang="en-IN" sz="28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IN" sz="28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IN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min{</a:t>
            </a:r>
            <a:r>
              <a:rPr lang="en-IN" sz="28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IN" sz="28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lang="en-IN" sz="2800" b="0" i="1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28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 </a:t>
            </a:r>
            <a:r>
              <a:rPr lang="en-IN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sz="28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}, then</a:t>
            </a:r>
            <a:endParaRPr dirty="0"/>
          </a:p>
          <a:p>
            <a:pPr marL="609600" lvl="0" indent="-609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</a:t>
            </a:r>
            <a:r>
              <a:rPr lang="en-IN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2800" b="0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used in some maximum-size subset of mutually compatible activities of </a:t>
            </a:r>
            <a:r>
              <a:rPr lang="en-IN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sz="28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IN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609600" lvl="0" indent="-609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IN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subproblem</a:t>
            </a:r>
            <a:r>
              <a:rPr lang="en-IN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sz="28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</a:t>
            </a:r>
            <a:r>
              <a:rPr lang="en-IN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empty</a:t>
            </a:r>
            <a:r>
              <a:rPr lang="en-IN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that choosing</a:t>
            </a:r>
            <a:r>
              <a:rPr lang="en-IN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r>
              <a:rPr lang="en-IN" sz="2800" b="0" i="1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IN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leaves</a:t>
            </a:r>
            <a:r>
              <a:rPr lang="en-IN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sz="28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mj</a:t>
            </a:r>
            <a:r>
              <a:rPr lang="en-IN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the only one that may be nonempty</a:t>
            </a:r>
            <a:r>
              <a:rPr lang="en-IN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609600" lvl="0" indent="-609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Proof of the theorem</a:t>
            </a:r>
            <a:r>
              <a:rPr lang="en-IN" sz="28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49767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e33dfb3467_0_26"/>
          <p:cNvSpPr txBox="1">
            <a:spLocks noGrp="1"/>
          </p:cNvSpPr>
          <p:nvPr>
            <p:ph type="title"/>
          </p:nvPr>
        </p:nvSpPr>
        <p:spPr>
          <a:xfrm>
            <a:off x="1219200" y="914400"/>
            <a:ext cx="10306500" cy="11886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>
              <a:buClr>
                <a:srgbClr val="464646"/>
              </a:buClr>
              <a:buSzPts val="2800"/>
            </a:pPr>
            <a:r>
              <a:rPr lang="en-IN">
                <a:solidFill>
                  <a:srgbClr val="464646"/>
                </a:solidFill>
                <a:sym typeface="Times New Roman"/>
              </a:rPr>
              <a:t>Top-Down Rather Than Bottom-Up</a:t>
            </a:r>
            <a:endParaRPr>
              <a:solidFill>
                <a:srgbClr val="464646"/>
              </a:solidFill>
            </a:endParaRPr>
          </a:p>
        </p:txBody>
      </p:sp>
      <p:sp>
        <p:nvSpPr>
          <p:cNvPr id="146" name="Google Shape;146;g2e33dfb3467_0_26"/>
          <p:cNvSpPr txBox="1">
            <a:spLocks noGrp="1"/>
          </p:cNvSpPr>
          <p:nvPr>
            <p:ph type="body" idx="1"/>
          </p:nvPr>
        </p:nvSpPr>
        <p:spPr>
          <a:xfrm>
            <a:off x="1191773" y="2736019"/>
            <a:ext cx="10306500" cy="31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IN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solve S</a:t>
            </a:r>
            <a:r>
              <a:rPr lang="en-IN" sz="32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IN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choose </a:t>
            </a:r>
            <a:r>
              <a:rPr lang="en-IN" sz="3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32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IN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</a:t>
            </a:r>
            <a:r>
              <a:rPr lang="en-IN" sz="32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IN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the earliest finish time, then solve S</a:t>
            </a:r>
            <a:r>
              <a:rPr lang="en-IN" sz="32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mj</a:t>
            </a:r>
            <a:r>
              <a:rPr lang="en-IN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(S</a:t>
            </a:r>
            <a:r>
              <a:rPr lang="en-IN" sz="32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</a:t>
            </a:r>
            <a:r>
              <a:rPr lang="en-IN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empty)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IN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certain that optimal solution to S</a:t>
            </a:r>
            <a:r>
              <a:rPr lang="en-IN" sz="32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mj</a:t>
            </a:r>
            <a:r>
              <a:rPr lang="en-IN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in optimal solution to S</a:t>
            </a:r>
            <a:r>
              <a:rPr lang="en-IN" sz="32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IN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IN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need to solve S</a:t>
            </a:r>
            <a:r>
              <a:rPr lang="en-IN" sz="32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mj</a:t>
            </a:r>
            <a:r>
              <a:rPr lang="en-IN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ahead of S</a:t>
            </a:r>
            <a:r>
              <a:rPr lang="en-IN" sz="32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IN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IN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Subproblem pattern: S</a:t>
            </a:r>
            <a:r>
              <a:rPr lang="en-IN" sz="3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i,n+1</a:t>
            </a:r>
            <a:r>
              <a:rPr lang="en-IN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25794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e33dfb3467_0_31"/>
          <p:cNvSpPr txBox="1">
            <a:spLocks noGrp="1"/>
          </p:cNvSpPr>
          <p:nvPr>
            <p:ph type="title"/>
          </p:nvPr>
        </p:nvSpPr>
        <p:spPr>
          <a:xfrm>
            <a:off x="812800" y="914400"/>
            <a:ext cx="10363200" cy="11430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>
              <a:buClr>
                <a:srgbClr val="464646"/>
              </a:buClr>
              <a:buSzPts val="2800"/>
            </a:pPr>
            <a:r>
              <a:rPr lang="en-IN">
                <a:solidFill>
                  <a:srgbClr val="464646"/>
                </a:solidFill>
                <a:sym typeface="Times New Roman"/>
              </a:rPr>
              <a:t>Optimal Solution Properties</a:t>
            </a:r>
            <a:endParaRPr>
              <a:solidFill>
                <a:srgbClr val="464646"/>
              </a:solidFill>
            </a:endParaRPr>
          </a:p>
        </p:txBody>
      </p:sp>
      <p:sp>
        <p:nvSpPr>
          <p:cNvPr id="152" name="Google Shape;152;g2e33dfb3467_0_31"/>
          <p:cNvSpPr txBox="1">
            <a:spLocks noGrp="1"/>
          </p:cNvSpPr>
          <p:nvPr>
            <p:ph type="body" idx="1"/>
          </p:nvPr>
        </p:nvSpPr>
        <p:spPr>
          <a:xfrm>
            <a:off x="508000" y="2133600"/>
            <a:ext cx="116841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DP, optimal solution depends: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many </a:t>
            </a:r>
            <a:r>
              <a:rPr lang="en-IN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subproblems</a:t>
            </a: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divide. (2 </a:t>
            </a:r>
            <a:r>
              <a:rPr lang="en-IN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subproblems</a:t>
            </a: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many choices to determine which </a:t>
            </a:r>
            <a:r>
              <a:rPr lang="en-IN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subproblem</a:t>
            </a: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use. (</a:t>
            </a:r>
            <a:r>
              <a:rPr lang="en-IN" sz="24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IN" sz="24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 choices) 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the above theorem (16.1) reduces both significantly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</a:t>
            </a:r>
            <a:r>
              <a:rPr lang="en-IN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subproblem</a:t>
            </a: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(the other is sure to be empty).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choice, i.e., the one with earliest finish time in </a:t>
            </a:r>
            <a:r>
              <a:rPr lang="en-IN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sz="2400" b="0" i="1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Moreover, top-down solving, rather than bottom-up in DP.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 to the </a:t>
            </a:r>
            <a:r>
              <a:rPr lang="en-IN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subproblems</a:t>
            </a: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we solve, S</a:t>
            </a:r>
            <a:r>
              <a:rPr lang="en-IN" sz="2400" b="0" i="0" u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m,n+1</a:t>
            </a: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</a:t>
            </a:r>
            <a:r>
              <a:rPr lang="en-IN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sz="2400" b="0" i="0" u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 to the activities that we choose. The activity with earliest finish time.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this local optimal, it is in fact the global optimal.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86450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33dfb3467_0_36"/>
          <p:cNvSpPr txBox="1">
            <a:spLocks noGrp="1"/>
          </p:cNvSpPr>
          <p:nvPr>
            <p:ph type="title"/>
          </p:nvPr>
        </p:nvSpPr>
        <p:spPr>
          <a:xfrm>
            <a:off x="990600" y="914400"/>
            <a:ext cx="10306500" cy="11886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>
              <a:buClr>
                <a:srgbClr val="464646"/>
              </a:buClr>
              <a:buSzPts val="2800"/>
            </a:pPr>
            <a:r>
              <a:rPr lang="en-IN">
                <a:solidFill>
                  <a:srgbClr val="464646"/>
                </a:solidFill>
                <a:sym typeface="Times New Roman"/>
              </a:rPr>
              <a:t>Elements of greedy strategy</a:t>
            </a:r>
            <a:endParaRPr>
              <a:solidFill>
                <a:srgbClr val="464646"/>
              </a:solidFill>
            </a:endParaRPr>
          </a:p>
        </p:txBody>
      </p:sp>
      <p:sp>
        <p:nvSpPr>
          <p:cNvPr id="158" name="Google Shape;158;g2e33dfb3467_0_36"/>
          <p:cNvSpPr txBox="1">
            <a:spLocks noGrp="1"/>
          </p:cNvSpPr>
          <p:nvPr>
            <p:ph type="body" idx="1"/>
          </p:nvPr>
        </p:nvSpPr>
        <p:spPr>
          <a:xfrm>
            <a:off x="780298" y="2657619"/>
            <a:ext cx="10306500" cy="31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IN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the optimal substructure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IN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the recursive solution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IN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 one of the optimal choices is the greedy choice yet safe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IN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that all but one of subproblems are empty after greedy choice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IN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recursive algorithm that implements the greedy strategy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IN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the recursive algorithm to an iterative one.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568184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33dfb3467_0_41"/>
          <p:cNvSpPr txBox="1">
            <a:spLocks noGrp="1"/>
          </p:cNvSpPr>
          <p:nvPr>
            <p:ph type="title"/>
          </p:nvPr>
        </p:nvSpPr>
        <p:spPr>
          <a:xfrm>
            <a:off x="1219200" y="990600"/>
            <a:ext cx="10306500" cy="11886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>
              <a:buClr>
                <a:srgbClr val="464646"/>
              </a:buClr>
              <a:buSzPts val="2800"/>
            </a:pPr>
            <a:r>
              <a:rPr lang="en-IN">
                <a:solidFill>
                  <a:srgbClr val="464646"/>
                </a:solidFill>
                <a:sym typeface="Times New Roman"/>
              </a:rPr>
              <a:t>Greedy vs. DP</a:t>
            </a:r>
            <a:endParaRPr>
              <a:solidFill>
                <a:srgbClr val="464646"/>
              </a:solidFill>
            </a:endParaRPr>
          </a:p>
        </p:txBody>
      </p:sp>
      <p:sp>
        <p:nvSpPr>
          <p:cNvPr id="164" name="Google Shape;164;g2e33dfb3467_0_41"/>
          <p:cNvSpPr txBox="1">
            <a:spLocks noGrp="1"/>
          </p:cNvSpPr>
          <p:nvPr>
            <p:ph type="body" idx="1"/>
          </p:nvPr>
        </p:nvSpPr>
        <p:spPr>
          <a:xfrm>
            <a:off x="1295400" y="2590800"/>
            <a:ext cx="10306500" cy="31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Knapsack problem</a:t>
            </a:r>
            <a:endParaRPr dirty="0"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I1 (v1,w1), I2(v2,w2),…,In(</a:t>
            </a:r>
            <a:r>
              <a:rPr lang="en-IN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vn,wn</a:t>
            </a: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dirty="0"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a weight W at most he can carry,</a:t>
            </a:r>
            <a:endParaRPr dirty="0"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items which maximize the values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Fractional knapsack, </a:t>
            </a:r>
            <a:endParaRPr dirty="0"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 algorithm, O(</a:t>
            </a:r>
            <a:r>
              <a:rPr lang="en-IN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nlogn</a:t>
            </a: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IN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0/1 knapsack.</a:t>
            </a:r>
            <a:endParaRPr dirty="0"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DP, O(</a:t>
            </a:r>
            <a:r>
              <a:rPr lang="en-IN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nW</a:t>
            </a: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</a:t>
            </a:r>
            <a:endParaRPr dirty="0"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Questions: 0/1 knapsack is an NP-complete problem, why O(</a:t>
            </a:r>
            <a:r>
              <a:rPr lang="en-IN" sz="2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nW</a:t>
            </a:r>
            <a:r>
              <a:rPr lang="en-IN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algorithm?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69864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g2e33dfb3467_0_46" descr="fig16-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03312"/>
            <a:ext cx="9144000" cy="4651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51301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e33dfb3467_0_51"/>
          <p:cNvSpPr txBox="1">
            <a:spLocks noGrp="1"/>
          </p:cNvSpPr>
          <p:nvPr>
            <p:ph type="title"/>
          </p:nvPr>
        </p:nvSpPr>
        <p:spPr>
          <a:xfrm>
            <a:off x="762000" y="685800"/>
            <a:ext cx="10306500" cy="11886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>
              <a:buClr>
                <a:srgbClr val="464646"/>
              </a:buClr>
              <a:buSzPts val="2800"/>
            </a:pPr>
            <a:r>
              <a:rPr lang="en-IN">
                <a:solidFill>
                  <a:srgbClr val="464646"/>
                </a:solidFill>
                <a:sym typeface="Times New Roman"/>
              </a:rPr>
              <a:t>Maximum attendance</a:t>
            </a:r>
            <a:endParaRPr>
              <a:solidFill>
                <a:srgbClr val="464646"/>
              </a:solidFill>
            </a:endParaRPr>
          </a:p>
        </p:txBody>
      </p:sp>
      <p:sp>
        <p:nvSpPr>
          <p:cNvPr id="176" name="Google Shape;176;g2e33dfb3467_0_51"/>
          <p:cNvSpPr txBox="1">
            <a:spLocks noGrp="1"/>
          </p:cNvSpPr>
          <p:nvPr>
            <p:ph type="body" idx="1"/>
          </p:nvPr>
        </p:nvSpPr>
        <p:spPr>
          <a:xfrm>
            <a:off x="508000" y="1828800"/>
            <a:ext cx="107697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little bit change to the previous activity selection.  For each activity a</a:t>
            </a:r>
            <a:r>
              <a:rPr lang="en-IN" sz="24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as a talk, there is an associated attendance att</a:t>
            </a:r>
            <a:r>
              <a:rPr lang="en-IN" sz="24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IN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i.e., given </a:t>
            </a: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{a</a:t>
            </a:r>
            <a:r>
              <a:rPr lang="en-IN" sz="24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,a</a:t>
            </a:r>
            <a:r>
              <a:rPr lang="en-IN" sz="24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,…,a</a:t>
            </a:r>
            <a:r>
              <a:rPr lang="en-IN" sz="24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}={(s</a:t>
            </a:r>
            <a:r>
              <a:rPr lang="en-IN" sz="24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,f</a:t>
            </a:r>
            <a:r>
              <a:rPr lang="en-IN" sz="24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,att</a:t>
            </a:r>
            <a:r>
              <a:rPr lang="en-IN" sz="24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),(s</a:t>
            </a:r>
            <a:r>
              <a:rPr lang="en-IN" sz="24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,f</a:t>
            </a:r>
            <a:r>
              <a:rPr lang="en-IN" sz="24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,att</a:t>
            </a:r>
            <a:r>
              <a:rPr lang="en-IN" sz="24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),…(s</a:t>
            </a:r>
            <a:r>
              <a:rPr lang="en-IN" sz="24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,f</a:t>
            </a:r>
            <a:r>
              <a:rPr lang="en-IN" sz="24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,att</a:t>
            </a:r>
            <a:r>
              <a:rPr lang="en-IN" sz="24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compute its maximum attendance of compatible activities.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one similar to the previous activity-selection: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C[i,j]=   0   		              if S</a:t>
            </a:r>
            <a:r>
              <a:rPr lang="en-IN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I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=∅                                                                	    max{c[i,k]+c[k,j]+att</a:t>
            </a:r>
            <a:r>
              <a:rPr lang="en-IN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I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if S</a:t>
            </a:r>
            <a:r>
              <a:rPr lang="en-IN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en-I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≠∅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I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i&lt;k&lt;j and a</a:t>
            </a:r>
            <a:r>
              <a:rPr lang="en-IN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IN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∈S</a:t>
            </a:r>
            <a:r>
              <a:rPr lang="en-IN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endParaRPr/>
          </a:p>
        </p:txBody>
      </p:sp>
      <p:sp>
        <p:nvSpPr>
          <p:cNvPr id="177" name="Google Shape;177;g2e33dfb3467_0_51"/>
          <p:cNvSpPr/>
          <p:nvPr/>
        </p:nvSpPr>
        <p:spPr>
          <a:xfrm>
            <a:off x="2032000" y="4572000"/>
            <a:ext cx="61200" cy="838200"/>
          </a:xfrm>
          <a:prstGeom prst="leftBrace">
            <a:avLst>
              <a:gd name="adj1" fmla="val 98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426373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e33dfb3467_0_57"/>
          <p:cNvSpPr txBox="1">
            <a:spLocks noGrp="1"/>
          </p:cNvSpPr>
          <p:nvPr>
            <p:ph type="title"/>
          </p:nvPr>
        </p:nvSpPr>
        <p:spPr>
          <a:xfrm>
            <a:off x="533400" y="609600"/>
            <a:ext cx="10363200" cy="11430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>
              <a:buClr>
                <a:srgbClr val="464646"/>
              </a:buClr>
              <a:buSzPts val="2800"/>
            </a:pPr>
            <a:r>
              <a:rPr lang="en-IN" dirty="0">
                <a:solidFill>
                  <a:srgbClr val="464646"/>
                </a:solidFill>
                <a:sym typeface="Times New Roman"/>
              </a:rPr>
              <a:t>Maximum attendance (cont.)</a:t>
            </a:r>
            <a:endParaRPr dirty="0">
              <a:solidFill>
                <a:srgbClr val="464646"/>
              </a:solidFill>
            </a:endParaRPr>
          </a:p>
        </p:txBody>
      </p:sp>
      <p:sp>
        <p:nvSpPr>
          <p:cNvPr id="183" name="Google Shape;183;g2e33dfb3467_0_57"/>
          <p:cNvSpPr txBox="1">
            <a:spLocks noGrp="1"/>
          </p:cNvSpPr>
          <p:nvPr>
            <p:ph type="body" idx="1"/>
          </p:nvPr>
        </p:nvSpPr>
        <p:spPr>
          <a:xfrm>
            <a:off x="406400" y="1676400"/>
            <a:ext cx="114807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analysis (easy to think sort activities):</a:t>
            </a:r>
            <a:endParaRPr dirty="0"/>
          </a:p>
          <a:p>
            <a:pPr marL="74295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any </a:t>
            </a:r>
            <a:r>
              <a:rPr lang="en-IN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1800" b="0" i="0" u="none" strike="noStrike" cap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is the most recent previous one compatible with it?</a:t>
            </a:r>
            <a:endParaRPr dirty="0"/>
          </a:p>
          <a:p>
            <a:pPr marL="11430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define P(i)=max{k: k&lt;i &amp;&amp; </a:t>
            </a:r>
            <a:r>
              <a:rPr lang="en-IN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IN" sz="2000" b="0" i="0" u="none" strike="noStrike" cap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I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</a:t>
            </a:r>
            <a:r>
              <a:rPr lang="en-IN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sz="2000" b="0" i="0" u="none" strike="noStrike" cap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}.  </a:t>
            </a:r>
            <a:endParaRPr dirty="0"/>
          </a:p>
          <a:p>
            <a:pPr marL="11430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P(i) is easy. P(1)=0.  (for easy coding, a dummy a</a:t>
            </a:r>
            <a:r>
              <a:rPr lang="en-IN" sz="2000" b="0" i="0" u="none" strike="noStrike" cap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I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=(0,0,0))</a:t>
            </a:r>
            <a:endParaRPr dirty="0"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Also, define T(i): the maximum attendance of all compatible activities from a</a:t>
            </a:r>
            <a:r>
              <a:rPr lang="en-IN" sz="2400" b="0" i="0" u="none" strike="noStrike" cap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IN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lang="en-IN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2400" b="0" i="0" u="none" strike="noStrike" cap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T(n) will be an answer</a:t>
            </a:r>
            <a:r>
              <a:rPr lang="en-IN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activity </a:t>
            </a:r>
            <a:r>
              <a:rPr lang="en-IN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2400" b="0" i="0" u="none" strike="noStrike" cap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two cases:</a:t>
            </a:r>
            <a:endParaRPr dirty="0"/>
          </a:p>
          <a:p>
            <a:pPr marL="11430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2000" b="0" i="0" u="none" strike="noStrike" cap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contained within the solution, then only </a:t>
            </a:r>
            <a:r>
              <a:rPr lang="en-IN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2000" b="0" i="0" u="none" strike="noStrike" cap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IN" sz="2000" b="0" i="0" u="none" strike="noStrike" cap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(i)</a:t>
            </a:r>
            <a:r>
              <a:rPr lang="en-I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be included too.</a:t>
            </a:r>
            <a:endParaRPr dirty="0"/>
          </a:p>
          <a:p>
            <a:pPr marL="11430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2000" b="0" i="0" u="none" strike="noStrike" cap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not included, then a</a:t>
            </a:r>
            <a:r>
              <a:rPr lang="en-IN" sz="2000" b="0" i="0" u="none" strike="noStrike" cap="none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i-1</a:t>
            </a:r>
            <a:r>
              <a:rPr lang="en-I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be included.</a:t>
            </a:r>
            <a:endParaRPr dirty="0"/>
          </a:p>
          <a:p>
            <a:pPr marL="742950" marR="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T(i)=   </a:t>
            </a:r>
            <a:r>
              <a:rPr lang="en-I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                                   if i=0</a:t>
            </a:r>
            <a:endParaRPr dirty="0"/>
          </a:p>
          <a:p>
            <a:pPr marL="1371600" marR="0" lvl="3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max{T(i-1),</a:t>
            </a:r>
            <a:r>
              <a:rPr lang="en-IN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</a:t>
            </a:r>
            <a:r>
              <a:rPr lang="en-IN" sz="2000" b="0" i="0" u="none" strike="noStrike" cap="none" baseline="-25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IN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+T</a:t>
            </a:r>
            <a:r>
              <a:rPr lang="en-I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(P(i))}  if i&gt;0</a:t>
            </a:r>
            <a:endParaRPr dirty="0"/>
          </a:p>
          <a:p>
            <a:pPr marL="742950" marR="0" lvl="1" indent="-1079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g2e33dfb3467_0_57"/>
          <p:cNvSpPr/>
          <p:nvPr/>
        </p:nvSpPr>
        <p:spPr>
          <a:xfrm>
            <a:off x="2580216" y="4856162"/>
            <a:ext cx="61200" cy="609600"/>
          </a:xfrm>
          <a:prstGeom prst="leftBrace">
            <a:avLst>
              <a:gd name="adj1" fmla="val 135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881217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e33dfb3467_0_63"/>
          <p:cNvSpPr txBox="1">
            <a:spLocks noGrp="1"/>
          </p:cNvSpPr>
          <p:nvPr>
            <p:ph type="title"/>
          </p:nvPr>
        </p:nvSpPr>
        <p:spPr>
          <a:xfrm>
            <a:off x="1374648" y="964692"/>
            <a:ext cx="10306500" cy="11886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>
              <a:buClr>
                <a:srgbClr val="464646"/>
              </a:buClr>
              <a:buSzPts val="2800"/>
            </a:pPr>
            <a:r>
              <a:rPr lang="en-IN">
                <a:solidFill>
                  <a:srgbClr val="464646"/>
                </a:solidFill>
                <a:sym typeface="Times New Roman"/>
              </a:rPr>
              <a:t>Typical tradition problem with greedy solutions</a:t>
            </a:r>
            <a:endParaRPr>
              <a:solidFill>
                <a:srgbClr val="464646"/>
              </a:solidFill>
            </a:endParaRPr>
          </a:p>
        </p:txBody>
      </p:sp>
      <p:sp>
        <p:nvSpPr>
          <p:cNvPr id="190" name="Google Shape;190;g2e33dfb3467_0_63"/>
          <p:cNvSpPr txBox="1">
            <a:spLocks noGrp="1"/>
          </p:cNvSpPr>
          <p:nvPr>
            <p:ph type="body" idx="1"/>
          </p:nvPr>
        </p:nvSpPr>
        <p:spPr>
          <a:xfrm>
            <a:off x="1374648" y="2638044"/>
            <a:ext cx="10306500" cy="31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Coin changes</a:t>
            </a:r>
            <a:endParaRPr dirty="0"/>
          </a:p>
          <a:p>
            <a:pPr marL="742950" lvl="1" indent="-28575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IN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25, 10, 5, 1</a:t>
            </a:r>
            <a:endParaRPr dirty="0"/>
          </a:p>
          <a:p>
            <a:pPr marL="742950" lvl="1" indent="-28575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IN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about 7, 5, 1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Spanning Tree</a:t>
            </a:r>
            <a:endParaRPr dirty="0"/>
          </a:p>
          <a:p>
            <a:pPr marL="742950" lvl="1" indent="-28575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IN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dirty="0"/>
          </a:p>
          <a:p>
            <a:pPr marL="1143000" lvl="2" indent="-228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IN" sz="1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 from any node, each time add a new node which is closest to the existing </a:t>
            </a:r>
            <a:r>
              <a:rPr lang="en-IN" sz="16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subtree</a:t>
            </a:r>
            <a:r>
              <a:rPr lang="en-IN" sz="1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/>
          </a:p>
          <a:p>
            <a:pPr marL="742950" lvl="1" indent="-28575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IN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</a:t>
            </a:r>
            <a:r>
              <a:rPr lang="en-IN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algorithm</a:t>
            </a:r>
            <a:endParaRPr dirty="0"/>
          </a:p>
          <a:p>
            <a:pPr marL="1143000" lvl="2" indent="-228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IN" sz="1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Sorting the edges by their weights</a:t>
            </a:r>
            <a:endParaRPr dirty="0"/>
          </a:p>
          <a:p>
            <a:pPr marL="1143000" lvl="2" indent="-22860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IN" sz="1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time, add the next edge which will not create cycle after added.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source shortest </a:t>
            </a:r>
            <a:r>
              <a:rPr lang="en-IN" sz="20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pathes</a:t>
            </a:r>
            <a:endParaRPr dirty="0"/>
          </a:p>
          <a:p>
            <a:pPr marL="742950" lvl="1" indent="-28575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IN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Dijkstra’s</a:t>
            </a:r>
            <a:r>
              <a:rPr lang="en-IN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algorithm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Huffman coding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 merge</a:t>
            </a:r>
            <a:endParaRPr dirty="0"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31600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62</a:t>
            </a:fld>
            <a:endParaRPr/>
          </a:p>
        </p:txBody>
      </p:sp>
      <p:sp>
        <p:nvSpPr>
          <p:cNvPr id="453" name="Google Shape;453;p51"/>
          <p:cNvSpPr/>
          <p:nvPr/>
        </p:nvSpPr>
        <p:spPr>
          <a:xfrm>
            <a:off x="3801143" y="2967335"/>
            <a:ext cx="458971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IN" sz="5400" b="1" i="0" u="none" strike="noStrike" cap="none" dirty="0">
                <a:solidFill>
                  <a:schemeClr val="tx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THANK YOU</a:t>
            </a:r>
            <a:endParaRPr sz="5400" b="1" i="0" u="none" strike="noStrike" cap="none" dirty="0">
              <a:solidFill>
                <a:schemeClr val="tx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1158</Words>
  <Application>Microsoft Office PowerPoint</Application>
  <PresentationFormat>Custom</PresentationFormat>
  <Paragraphs>198</Paragraphs>
  <Slides>62</Slides>
  <Notes>62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64" baseType="lpstr">
      <vt:lpstr>Parcel</vt:lpstr>
      <vt:lpstr>Parcel</vt:lpstr>
      <vt:lpstr>1010043316 Analysis and Design of Algorithms Unit 3: DYNAMIC PROGRAMMING</vt:lpstr>
      <vt:lpstr>PowerPoint Presentation</vt:lpstr>
      <vt:lpstr>BINOMIAL COEFICIENT</vt:lpstr>
      <vt:lpstr>CONT’D. </vt:lpstr>
      <vt:lpstr>CONT’D. </vt:lpstr>
      <vt:lpstr>CONT’D. </vt:lpstr>
      <vt:lpstr>GENERALIZED SOLUTION USING DYNAMIC PROGRAMMING</vt:lpstr>
      <vt:lpstr>MAKING CHANGE PROBLEM</vt:lpstr>
      <vt:lpstr>MAKING CHANGE PROBLEM</vt:lpstr>
      <vt:lpstr>MAKING CHANGE PROBLEM</vt:lpstr>
      <vt:lpstr>0/1 KNAPSACK PROBLEM</vt:lpstr>
      <vt:lpstr>0/1 KNAPSACK PROBLEM</vt:lpstr>
      <vt:lpstr>0/1 KNAPSACK PROBLEM</vt:lpstr>
      <vt:lpstr>0/1 KNAPSACK PROBLEM</vt:lpstr>
      <vt:lpstr>ASSEMBLY LINE SCHEDULING</vt:lpstr>
      <vt:lpstr>ASSEMBLY LINE SCHEDULING</vt:lpstr>
      <vt:lpstr>ASSEMBLY LINE SCHEDULING</vt:lpstr>
      <vt:lpstr>ASSEMBLY LINE SCHEDULING</vt:lpstr>
      <vt:lpstr>ASSEMBLY LINE SCHEDULING</vt:lpstr>
      <vt:lpstr>ASSEMBLY LINE SCHEDULING</vt:lpstr>
      <vt:lpstr>ASSEMBLY LINE SCHEDULING</vt:lpstr>
      <vt:lpstr>ALL PAIR SHORTEST PATH – FLOYD’S ALGORITHM</vt:lpstr>
      <vt:lpstr>ALL PAIR SHORTEST PATH – FLOYD’S ALGORITHM</vt:lpstr>
      <vt:lpstr>ALL PAIR SHORTEST PATH – FLOYD’S ALGORITHM</vt:lpstr>
      <vt:lpstr>ALL PAIR SHORTEST PATH – FLOYD’S ALGORITHM</vt:lpstr>
      <vt:lpstr>ALL PAIR SHORTEST PATH – FLOYD’S ALGORITHM</vt:lpstr>
      <vt:lpstr>ALL PAIR SHORTEST PATH – FLOYD’S ALGORITHM</vt:lpstr>
      <vt:lpstr>ALL PAIR SHORTEST PATH – FLOYD’S ALGORITHM</vt:lpstr>
      <vt:lpstr>ALL PAIR SHORTEST PATH – FLOYD’S ALGORITHM</vt:lpstr>
      <vt:lpstr>ALL PAIR SHORTEST PATH – FLOYD’S ALGORITHM</vt:lpstr>
      <vt:lpstr>ALL PAIR SHORTEST PATH – FLOYD’S ALGORITHM</vt:lpstr>
      <vt:lpstr>ALL PAIR SHORTEST PATH – FLOYD’S ALGORITHM</vt:lpstr>
      <vt:lpstr>ALL PAIR SHORTEST PATH – FLOYD’S ALGORITHM</vt:lpstr>
      <vt:lpstr>CHAIN MATRIX MULTIPLICATION</vt:lpstr>
      <vt:lpstr>CHAIN MATRIX MULTIPLICATION</vt:lpstr>
      <vt:lpstr>CHAIN MATRIX MULTIPLICATION</vt:lpstr>
      <vt:lpstr>CHAIN MATRIX MULTIPLICATION</vt:lpstr>
      <vt:lpstr>CHAIN MATRIX MULTIPLICATION</vt:lpstr>
      <vt:lpstr>CHAIN MATRIX MULTIPLICATION</vt:lpstr>
      <vt:lpstr>CHAIN MATRIX MULTIPLICATION</vt:lpstr>
      <vt:lpstr>CHAIN MATRIX MULTIPLICATION</vt:lpstr>
      <vt:lpstr>CHAIN MATRIX MULTIPLICATION</vt:lpstr>
      <vt:lpstr>CHAIN MATRIX MULTIPLICATION</vt:lpstr>
      <vt:lpstr>CHAIN MATRIX MULTIPLICATION</vt:lpstr>
      <vt:lpstr>LONGEST COMMON SUBSEQUENCE</vt:lpstr>
      <vt:lpstr>LONGEST COMMON SUBSEQUENCE</vt:lpstr>
      <vt:lpstr>LONGEST COMMON SUBSEQUENCE</vt:lpstr>
      <vt:lpstr>LONGEST COMMON SUBSEQUENCE</vt:lpstr>
      <vt:lpstr>Greedy Algorithms </vt:lpstr>
      <vt:lpstr>An Activity-Selection Problem</vt:lpstr>
      <vt:lpstr>DP solution –step 1</vt:lpstr>
      <vt:lpstr>DP solution –step 2</vt:lpstr>
      <vt:lpstr>Converting DP Solution to Greedy Solution</vt:lpstr>
      <vt:lpstr>Top-Down Rather Than Bottom-Up</vt:lpstr>
      <vt:lpstr>Optimal Solution Properties</vt:lpstr>
      <vt:lpstr>Elements of greedy strategy</vt:lpstr>
      <vt:lpstr>Greedy vs. DP</vt:lpstr>
      <vt:lpstr>PowerPoint Presentation</vt:lpstr>
      <vt:lpstr>Maximum attendance</vt:lpstr>
      <vt:lpstr>Maximum attendance (cont.)</vt:lpstr>
      <vt:lpstr>Typical tradition problem with greedy solutions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1010043316 Analysis and Design of Algorithms Unit 4: DYNAMIC PROGRAMMING</dc:title>
  <dc:creator>Utsav Yagnik</dc:creator>
  <cp:lastModifiedBy>Staff 2</cp:lastModifiedBy>
  <cp:revision>10</cp:revision>
  <dcterms:created xsi:type="dcterms:W3CDTF">2020-09-07T10:12:37Z</dcterms:created>
  <dcterms:modified xsi:type="dcterms:W3CDTF">2024-08-22T11:01:11Z</dcterms:modified>
</cp:coreProperties>
</file>